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260" r:id="rId3"/>
    <p:sldId id="290" r:id="rId4"/>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270" r:id="rId21"/>
    <p:sldId id="272" r:id="rId22"/>
    <p:sldId id="273" r:id="rId23"/>
    <p:sldId id="289" r:id="rId24"/>
    <p:sldId id="275" r:id="rId25"/>
    <p:sldId id="284" r:id="rId26"/>
    <p:sldId id="285" r:id="rId27"/>
    <p:sldId id="286" r:id="rId28"/>
    <p:sldId id="277" r:id="rId29"/>
    <p:sldId id="267" r:id="rId30"/>
    <p:sldId id="268"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75750" autoAdjust="0"/>
  </p:normalViewPr>
  <p:slideViewPr>
    <p:cSldViewPr snapToGrid="0">
      <p:cViewPr varScale="1">
        <p:scale>
          <a:sx n="54" d="100"/>
          <a:sy n="54" d="100"/>
        </p:scale>
        <p:origin x="42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4759DF-6974-4F7D-885A-7970CBB582CF}" type="datetimeFigureOut">
              <a:rPr lang="en-US" smtClean="0"/>
              <a:t>4/24/2024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83631C-9B29-4C7E-B9E8-78EB633DD8B6}" type="slidenum">
              <a:rPr lang="en-US" smtClean="0"/>
              <a:t>‹#›</a:t>
            </a:fld>
            <a:endParaRPr lang="en-US"/>
          </a:p>
        </p:txBody>
      </p:sp>
    </p:spTree>
    <p:extLst>
      <p:ext uri="{BB962C8B-B14F-4D97-AF65-F5344CB8AC3E}">
        <p14:creationId xmlns:p14="http://schemas.microsoft.com/office/powerpoint/2010/main" val="897523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SimSun" panose="02010600030101010101" pitchFamily="2" charset="-122"/>
              </a:rPr>
              <a:t>The deepening and expansion of internet structures exposes users to new threats, whose diversity is constantly increasing, necessitating development of models that can detect these threats in network traffic.</a:t>
            </a:r>
            <a:endParaRPr lang="en-US" dirty="0"/>
          </a:p>
        </p:txBody>
      </p:sp>
      <p:sp>
        <p:nvSpPr>
          <p:cNvPr id="4" name="Slide Number Placeholder 3"/>
          <p:cNvSpPr>
            <a:spLocks noGrp="1"/>
          </p:cNvSpPr>
          <p:nvPr>
            <p:ph type="sldNum" sz="quarter" idx="5"/>
          </p:nvPr>
        </p:nvSpPr>
        <p:spPr/>
        <p:txBody>
          <a:bodyPr/>
          <a:lstStyle/>
          <a:p>
            <a:fld id="{6983631C-9B29-4C7E-B9E8-78EB633DD8B6}" type="slidenum">
              <a:rPr lang="en-US" smtClean="0"/>
              <a:t>2</a:t>
            </a:fld>
            <a:endParaRPr lang="en-US"/>
          </a:p>
        </p:txBody>
      </p:sp>
    </p:spTree>
    <p:extLst>
      <p:ext uri="{BB962C8B-B14F-4D97-AF65-F5344CB8AC3E}">
        <p14:creationId xmlns:p14="http://schemas.microsoft.com/office/powerpoint/2010/main" val="735128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b="1" i="0" dirty="0">
                <a:solidFill>
                  <a:srgbClr val="0D0D0D"/>
                </a:solidFill>
                <a:effectLst/>
                <a:highlight>
                  <a:srgbClr val="FFFFFF"/>
                </a:highlight>
                <a:latin typeface="Söhne"/>
              </a:rPr>
              <a:t>from </a:t>
            </a:r>
            <a:r>
              <a:rPr lang="en-US" b="1" i="0" dirty="0" err="1">
                <a:solidFill>
                  <a:srgbClr val="0D0D0D"/>
                </a:solidFill>
                <a:effectLst/>
                <a:highlight>
                  <a:srgbClr val="FFFFFF"/>
                </a:highlight>
                <a:latin typeface="Söhne"/>
              </a:rPr>
              <a:t>urllib.parse</a:t>
            </a:r>
            <a:r>
              <a:rPr lang="en-US" b="1" i="0" dirty="0">
                <a:solidFill>
                  <a:srgbClr val="0D0D0D"/>
                </a:solidFill>
                <a:effectLst/>
                <a:highlight>
                  <a:srgbClr val="FFFFFF"/>
                </a:highlight>
                <a:latin typeface="Söhne"/>
              </a:rPr>
              <a:t> import </a:t>
            </a:r>
            <a:r>
              <a:rPr lang="en-US" b="1" i="0" dirty="0" err="1">
                <a:solidFill>
                  <a:srgbClr val="0D0D0D"/>
                </a:solidFill>
                <a:effectLst/>
                <a:highlight>
                  <a:srgbClr val="FFFFFF"/>
                </a:highlight>
                <a:latin typeface="Söhne"/>
              </a:rPr>
              <a:t>urlparse</a:t>
            </a:r>
            <a:r>
              <a:rPr lang="en-US" b="0" i="0" dirty="0">
                <a:solidFill>
                  <a:srgbClr val="0D0D0D"/>
                </a:solidFill>
                <a:effectLst/>
                <a:highlight>
                  <a:srgbClr val="FFFFFF"/>
                </a:highlight>
                <a:latin typeface="Söhne"/>
              </a:rPr>
              <a:t>: This imports a specific function </a:t>
            </a:r>
            <a:r>
              <a:rPr lang="en-US" b="0" i="0" dirty="0" err="1">
                <a:solidFill>
                  <a:srgbClr val="0D0D0D"/>
                </a:solidFill>
                <a:effectLst/>
                <a:highlight>
                  <a:srgbClr val="FFFFFF"/>
                </a:highlight>
                <a:latin typeface="Söhne"/>
              </a:rPr>
              <a:t>urlparse</a:t>
            </a:r>
            <a:r>
              <a:rPr lang="en-US" b="0" i="0" dirty="0">
                <a:solidFill>
                  <a:srgbClr val="0D0D0D"/>
                </a:solidFill>
                <a:effectLst/>
                <a:highlight>
                  <a:srgbClr val="FFFFFF"/>
                </a:highlight>
                <a:latin typeface="Söhne"/>
              </a:rPr>
              <a:t> from the </a:t>
            </a:r>
            <a:r>
              <a:rPr lang="en-US" b="0" i="0" dirty="0" err="1">
                <a:solidFill>
                  <a:srgbClr val="0D0D0D"/>
                </a:solidFill>
                <a:effectLst/>
                <a:highlight>
                  <a:srgbClr val="FFFFFF"/>
                </a:highlight>
                <a:latin typeface="Söhne"/>
              </a:rPr>
              <a:t>urllib.parse</a:t>
            </a:r>
            <a:r>
              <a:rPr lang="en-US" b="0" i="0" dirty="0">
                <a:solidFill>
                  <a:srgbClr val="0D0D0D"/>
                </a:solidFill>
                <a:effectLst/>
                <a:highlight>
                  <a:srgbClr val="FFFFFF"/>
                </a:highlight>
                <a:latin typeface="Söhne"/>
              </a:rPr>
              <a:t> module. It's used for parsing URLs to extract useful components like the domain name.</a:t>
            </a:r>
          </a:p>
          <a:p>
            <a:pPr algn="l">
              <a:buFont typeface="Arial" panose="020B0604020202020204" pitchFamily="34" charset="0"/>
              <a:buNone/>
            </a:pPr>
            <a:r>
              <a:rPr lang="en-US" b="0" i="0" dirty="0">
                <a:solidFill>
                  <a:srgbClr val="0D0D0D"/>
                </a:solidFill>
                <a:effectLst/>
                <a:highlight>
                  <a:srgbClr val="FFFFFF"/>
                </a:highlight>
                <a:latin typeface="Söhne"/>
              </a:rPr>
              <a:t>2. </a:t>
            </a:r>
            <a:r>
              <a:rPr lang="en-US" b="1" i="0" dirty="0" err="1">
                <a:solidFill>
                  <a:srgbClr val="0D0D0D"/>
                </a:solidFill>
                <a:effectLst/>
                <a:highlight>
                  <a:srgbClr val="FFFFFF"/>
                </a:highlight>
                <a:latin typeface="Söhne"/>
              </a:rPr>
              <a:t>numpy</a:t>
            </a:r>
            <a:r>
              <a:rPr lang="en-US" b="1" i="0" dirty="0">
                <a:solidFill>
                  <a:srgbClr val="0D0D0D"/>
                </a:solidFill>
                <a:effectLst/>
                <a:highlight>
                  <a:srgbClr val="FFFFFF"/>
                </a:highlight>
                <a:latin typeface="Söhne"/>
              </a:rPr>
              <a:t> and pandas</a:t>
            </a:r>
            <a:r>
              <a:rPr lang="en-US" b="0" i="0" dirty="0">
                <a:solidFill>
                  <a:srgbClr val="0D0D0D"/>
                </a:solidFill>
                <a:effectLst/>
                <a:highlight>
                  <a:srgbClr val="FFFFFF"/>
                </a:highlight>
                <a:latin typeface="Söhne"/>
              </a:rPr>
              <a:t>: These libraries are fundamental in data analysis. </a:t>
            </a:r>
            <a:r>
              <a:rPr lang="en-US" b="0" i="0" dirty="0" err="1">
                <a:solidFill>
                  <a:srgbClr val="0D0D0D"/>
                </a:solidFill>
                <a:effectLst/>
                <a:highlight>
                  <a:srgbClr val="FFFFFF"/>
                </a:highlight>
                <a:latin typeface="Söhne"/>
              </a:rPr>
              <a:t>numpy</a:t>
            </a:r>
            <a:r>
              <a:rPr lang="en-US" b="0" i="0" dirty="0">
                <a:solidFill>
                  <a:srgbClr val="0D0D0D"/>
                </a:solidFill>
                <a:effectLst/>
                <a:highlight>
                  <a:srgbClr val="FFFFFF"/>
                </a:highlight>
                <a:latin typeface="Söhne"/>
              </a:rPr>
              <a:t> provides support for arrays and mathematical operations, while pandas is used for data manipulation and analysis, particularly with structured data like tables.</a:t>
            </a:r>
          </a:p>
          <a:p>
            <a:pPr algn="l">
              <a:buFont typeface="Arial" panose="020B0604020202020204" pitchFamily="34" charset="0"/>
              <a:buChar char="•"/>
            </a:pPr>
            <a:r>
              <a:rPr lang="en-US" b="1" i="0" dirty="0">
                <a:solidFill>
                  <a:srgbClr val="0D0D0D"/>
                </a:solidFill>
                <a:effectLst/>
                <a:highlight>
                  <a:srgbClr val="FFFFFF"/>
                </a:highlight>
                <a:latin typeface="Söhne"/>
              </a:rPr>
              <a:t>matplotlib and seaborn</a:t>
            </a:r>
            <a:r>
              <a:rPr lang="en-US" b="0" i="0" dirty="0">
                <a:solidFill>
                  <a:srgbClr val="0D0D0D"/>
                </a:solidFill>
                <a:effectLst/>
                <a:highlight>
                  <a:srgbClr val="FFFFFF"/>
                </a:highlight>
                <a:latin typeface="Söhne"/>
              </a:rPr>
              <a:t>: These are libraries used for data visualization. matplotlib is a versatile plotting library, while seaborn is built on top of matplotlib and provides a high-level interface for creating attractive statistical graphics.</a:t>
            </a:r>
          </a:p>
          <a:p>
            <a:pPr algn="l">
              <a:buFont typeface="+mj-lt"/>
              <a:buAutoNum type="arabicPeriod"/>
            </a:pPr>
            <a:r>
              <a:rPr lang="en-US" b="1" i="0" dirty="0">
                <a:solidFill>
                  <a:srgbClr val="0D0D0D"/>
                </a:solidFill>
                <a:effectLst/>
                <a:highlight>
                  <a:srgbClr val="FFFFFF"/>
                </a:highlight>
                <a:latin typeface="Söhne"/>
              </a:rPr>
              <a:t>Setting Plot Style and Size:</a:t>
            </a:r>
            <a:endParaRPr lang="en-US" b="0" i="0" dirty="0">
              <a:solidFill>
                <a:srgbClr val="0D0D0D"/>
              </a:solidFill>
              <a:effectLst/>
              <a:highlight>
                <a:srgbClr val="FFFFFF"/>
              </a:highlight>
              <a:latin typeface="Söhne"/>
            </a:endParaRPr>
          </a:p>
          <a:p>
            <a:pPr marL="742950" lvl="1" indent="-285750" algn="l">
              <a:buFont typeface="+mj-lt"/>
              <a:buAutoNum type="arabicPeriod"/>
            </a:pPr>
            <a:r>
              <a:rPr lang="en-US" b="1" i="0" dirty="0" err="1">
                <a:solidFill>
                  <a:srgbClr val="0D0D0D"/>
                </a:solidFill>
                <a:effectLst/>
                <a:highlight>
                  <a:srgbClr val="FFFFFF"/>
                </a:highlight>
                <a:latin typeface="Söhne"/>
              </a:rPr>
              <a:t>sns.set_style</a:t>
            </a:r>
            <a:r>
              <a:rPr lang="en-US" b="1" i="0" dirty="0">
                <a:solidFill>
                  <a:srgbClr val="0D0D0D"/>
                </a:solidFill>
                <a:effectLst/>
                <a:highlight>
                  <a:srgbClr val="FFFFFF"/>
                </a:highlight>
                <a:latin typeface="Söhne"/>
              </a:rPr>
              <a:t>('</a:t>
            </a:r>
            <a:r>
              <a:rPr lang="en-US" b="1" i="0" dirty="0" err="1">
                <a:solidFill>
                  <a:srgbClr val="0D0D0D"/>
                </a:solidFill>
                <a:effectLst/>
                <a:highlight>
                  <a:srgbClr val="FFFFFF"/>
                </a:highlight>
                <a:latin typeface="Söhne"/>
              </a:rPr>
              <a:t>darkgrid</a:t>
            </a:r>
            <a:r>
              <a:rPr lang="en-US" b="1" i="0" dirty="0">
                <a:solidFill>
                  <a:srgbClr val="0D0D0D"/>
                </a:solidFill>
                <a:effectLst/>
                <a:highlight>
                  <a:srgbClr val="FFFFFF"/>
                </a:highlight>
                <a:latin typeface="Söhne"/>
              </a:rPr>
              <a:t>'): </a:t>
            </a:r>
            <a:r>
              <a:rPr lang="en-US" b="0" i="0" dirty="0">
                <a:solidFill>
                  <a:srgbClr val="0D0D0D"/>
                </a:solidFill>
                <a:effectLst/>
                <a:highlight>
                  <a:srgbClr val="FFFFFF"/>
                </a:highlight>
                <a:latin typeface="Söhne"/>
              </a:rPr>
              <a:t>This line sets the style of plots generated by seaborn. In this case, it sets the style to a dark grid background, which is often visually appealing for data visualizations.</a:t>
            </a:r>
          </a:p>
          <a:p>
            <a:pPr marL="742950" lvl="1" indent="-285750" algn="l">
              <a:buFont typeface="+mj-lt"/>
              <a:buAutoNum type="arabicPeriod"/>
            </a:pPr>
            <a:r>
              <a:rPr lang="en-US" b="1" i="0" dirty="0" err="1">
                <a:solidFill>
                  <a:srgbClr val="0D0D0D"/>
                </a:solidFill>
                <a:effectLst/>
                <a:highlight>
                  <a:srgbClr val="FFFFFF"/>
                </a:highlight>
                <a:latin typeface="Söhne"/>
              </a:rPr>
              <a:t>matplotlib.rcParams</a:t>
            </a:r>
            <a:r>
              <a:rPr lang="en-US" b="1" i="0" dirty="0">
                <a:solidFill>
                  <a:srgbClr val="0D0D0D"/>
                </a:solidFill>
                <a:effectLst/>
                <a:highlight>
                  <a:srgbClr val="FFFFFF"/>
                </a:highlight>
                <a:latin typeface="Söhne"/>
              </a:rPr>
              <a:t>['</a:t>
            </a:r>
            <a:r>
              <a:rPr lang="en-US" b="1" i="0" dirty="0" err="1">
                <a:solidFill>
                  <a:srgbClr val="0D0D0D"/>
                </a:solidFill>
                <a:effectLst/>
                <a:highlight>
                  <a:srgbClr val="FFFFFF"/>
                </a:highlight>
                <a:latin typeface="Söhne"/>
              </a:rPr>
              <a:t>figure.figsize</a:t>
            </a:r>
            <a:r>
              <a:rPr lang="en-US" b="1" i="0" dirty="0">
                <a:solidFill>
                  <a:srgbClr val="0D0D0D"/>
                </a:solidFill>
                <a:effectLst/>
                <a:highlight>
                  <a:srgbClr val="FFFFFF"/>
                </a:highlight>
                <a:latin typeface="Söhne"/>
              </a:rPr>
              <a:t>'] </a:t>
            </a:r>
            <a:r>
              <a:rPr lang="en-US" b="0" i="0" dirty="0">
                <a:solidFill>
                  <a:srgbClr val="0D0D0D"/>
                </a:solidFill>
                <a:effectLst/>
                <a:highlight>
                  <a:srgbClr val="FFFFFF"/>
                </a:highlight>
                <a:latin typeface="Söhne"/>
              </a:rPr>
              <a:t>= (10, 6): This line sets the default size of plots generated by matplotlib to be 10 inches in width and 6 inches in height. Adjusting plot size can help in creating visualizations that are appropriately sized and easy to interpret.</a:t>
            </a:r>
          </a:p>
          <a:p>
            <a:pPr algn="l">
              <a:buFont typeface="Arial" panose="020B0604020202020204" pitchFamily="34" charset="0"/>
              <a:buChar char="•"/>
            </a:pPr>
            <a:endParaRPr lang="en-US" b="0" i="0" dirty="0">
              <a:solidFill>
                <a:srgbClr val="0D0D0D"/>
              </a:solidFill>
              <a:effectLst/>
              <a:highlight>
                <a:srgbClr val="FFFFFF"/>
              </a:highlight>
              <a:latin typeface="Söhne"/>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b="0" i="0" dirty="0">
              <a:solidFill>
                <a:srgbClr val="0D0D0D"/>
              </a:solidFill>
              <a:effectLst/>
              <a:highlight>
                <a:srgbClr val="FFFFFF"/>
              </a:highlight>
              <a:latin typeface="Söhne"/>
            </a:endParaRPr>
          </a:p>
          <a:p>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4</a:t>
            </a:fld>
            <a:endParaRPr lang="en-US"/>
          </a:p>
        </p:txBody>
      </p:sp>
    </p:spTree>
    <p:extLst>
      <p:ext uri="{BB962C8B-B14F-4D97-AF65-F5344CB8AC3E}">
        <p14:creationId xmlns:p14="http://schemas.microsoft.com/office/powerpoint/2010/main" val="2353363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This code segment loads a dataset from a CSV file into a Pandas </a:t>
            </a:r>
            <a:r>
              <a:rPr lang="en-US" b="0" i="0" dirty="0" err="1">
                <a:solidFill>
                  <a:srgbClr val="0D0D0D"/>
                </a:solidFill>
                <a:effectLst/>
                <a:highlight>
                  <a:srgbClr val="FFFFFF"/>
                </a:highlight>
                <a:latin typeface="Söhne"/>
              </a:rPr>
              <a:t>DataFrame</a:t>
            </a:r>
            <a:r>
              <a:rPr lang="en-US" b="0" i="0" dirty="0">
                <a:solidFill>
                  <a:srgbClr val="0D0D0D"/>
                </a:solidFill>
                <a:effectLst/>
                <a:highlight>
                  <a:srgbClr val="FFFFFF"/>
                </a:highlight>
                <a:latin typeface="Söhne"/>
              </a:rPr>
              <a:t> and then displays the first few rows of the </a:t>
            </a:r>
            <a:r>
              <a:rPr lang="en-US" b="0" i="0" dirty="0" err="1">
                <a:solidFill>
                  <a:srgbClr val="0D0D0D"/>
                </a:solidFill>
                <a:effectLst/>
                <a:highlight>
                  <a:srgbClr val="FFFFFF"/>
                </a:highlight>
                <a:latin typeface="Söhne"/>
              </a:rPr>
              <a:t>DataFrame</a:t>
            </a:r>
            <a:r>
              <a:rPr lang="en-US" b="0" i="0" dirty="0">
                <a:solidFill>
                  <a:srgbClr val="0D0D0D"/>
                </a:solidFill>
                <a:effectLst/>
                <a:highlight>
                  <a:srgbClr val="FFFFFF"/>
                </a:highlight>
                <a:latin typeface="Söhne"/>
              </a:rPr>
              <a:t> to provide a quick glimpse of the data</a:t>
            </a:r>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5</a:t>
            </a:fld>
            <a:endParaRPr lang="en-US"/>
          </a:p>
        </p:txBody>
      </p:sp>
    </p:spTree>
    <p:extLst>
      <p:ext uri="{BB962C8B-B14F-4D97-AF65-F5344CB8AC3E}">
        <p14:creationId xmlns:p14="http://schemas.microsoft.com/office/powerpoint/2010/main" val="3271549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i="0" dirty="0">
                <a:solidFill>
                  <a:srgbClr val="0D0D0D"/>
                </a:solidFill>
                <a:effectLst/>
                <a:highlight>
                  <a:srgbClr val="FFFFFF"/>
                </a:highlight>
                <a:latin typeface="Söhne"/>
              </a:rPr>
              <a:t>Checking for Missing Values and Data Types - </a:t>
            </a:r>
            <a:r>
              <a:rPr lang="en-US" b="0" i="0" dirty="0">
                <a:solidFill>
                  <a:srgbClr val="0D0D0D"/>
                </a:solidFill>
                <a:effectLst/>
                <a:highlight>
                  <a:srgbClr val="FFFFFF"/>
                </a:highlight>
                <a:latin typeface="Söhne"/>
              </a:rPr>
              <a:t>The </a:t>
            </a:r>
            <a:r>
              <a:rPr lang="en-US" dirty="0"/>
              <a:t>info()</a:t>
            </a:r>
            <a:r>
              <a:rPr lang="en-US" b="0" i="0" dirty="0">
                <a:solidFill>
                  <a:srgbClr val="0D0D0D"/>
                </a:solidFill>
                <a:effectLst/>
                <a:highlight>
                  <a:srgbClr val="FFFFFF"/>
                </a:highlight>
                <a:latin typeface="Söhne"/>
              </a:rPr>
              <a:t> method provides valuable information about the dataset, including the data types of each column and the presence of missing values</a:t>
            </a:r>
          </a:p>
          <a:p>
            <a:pPr marL="228600" indent="-228600">
              <a:buAutoNum type="arabicPeriod"/>
            </a:pPr>
            <a:r>
              <a:rPr lang="en-US" b="1" i="0" dirty="0">
                <a:solidFill>
                  <a:srgbClr val="0D0D0D"/>
                </a:solidFill>
                <a:effectLst/>
                <a:highlight>
                  <a:srgbClr val="FFFFFF"/>
                </a:highlight>
                <a:latin typeface="Söhne"/>
              </a:rPr>
              <a:t>Checking the Distribution of Classes</a:t>
            </a:r>
            <a:r>
              <a:rPr lang="en-US" b="0" i="0" dirty="0">
                <a:solidFill>
                  <a:srgbClr val="0D0D0D"/>
                </a:solidFill>
                <a:effectLst/>
                <a:highlight>
                  <a:srgbClr val="FFFFFF"/>
                </a:highlight>
                <a:latin typeface="Söhne"/>
              </a:rPr>
              <a:t> - The </a:t>
            </a:r>
            <a:r>
              <a:rPr lang="en-US" dirty="0" err="1"/>
              <a:t>value_counts</a:t>
            </a:r>
            <a:r>
              <a:rPr lang="en-US" dirty="0"/>
              <a:t>()</a:t>
            </a:r>
            <a:r>
              <a:rPr lang="en-US" b="0" i="0" dirty="0">
                <a:solidFill>
                  <a:srgbClr val="0D0D0D"/>
                </a:solidFill>
                <a:effectLst/>
                <a:highlight>
                  <a:srgbClr val="FFFFFF"/>
                </a:highlight>
                <a:latin typeface="Söhne"/>
              </a:rPr>
              <a:t> method helps us understand the distribution of classes within a specific column, which is crucial for tasks like classification.</a:t>
            </a:r>
          </a:p>
          <a:p>
            <a:pPr marL="228600" indent="-228600">
              <a:buAutoNum type="arabicPeriod"/>
            </a:pPr>
            <a:r>
              <a:rPr lang="en-US" b="1" i="0" dirty="0">
                <a:solidFill>
                  <a:srgbClr val="0D0D0D"/>
                </a:solidFill>
                <a:effectLst/>
                <a:highlight>
                  <a:srgbClr val="FFFFFF"/>
                </a:highlight>
                <a:latin typeface="Söhne"/>
              </a:rPr>
              <a:t>Importance - </a:t>
            </a:r>
            <a:r>
              <a:rPr lang="en-US" b="0" i="0" dirty="0">
                <a:solidFill>
                  <a:srgbClr val="0D0D0D"/>
                </a:solidFill>
                <a:effectLst/>
                <a:highlight>
                  <a:srgbClr val="FFFFFF"/>
                </a:highlight>
                <a:latin typeface="Söhne"/>
              </a:rPr>
              <a:t>Initial data exploration is essential for understanding the structure and contents of the dataset. It helps identify potential issues such as missing values and class imbalances.</a:t>
            </a:r>
            <a:endParaRPr lang="en-US" b="1" i="0" dirty="0">
              <a:solidFill>
                <a:srgbClr val="0D0D0D"/>
              </a:solidFill>
              <a:effectLst/>
              <a:highlight>
                <a:srgbClr val="FFFFFF"/>
              </a:highlight>
              <a:latin typeface="Söhne"/>
            </a:endParaRPr>
          </a:p>
          <a:p>
            <a:pPr marL="228600" indent="-228600">
              <a:buAutoNum type="arabicPeriod"/>
            </a:pPr>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6</a:t>
            </a:fld>
            <a:endParaRPr lang="en-US"/>
          </a:p>
        </p:txBody>
      </p:sp>
    </p:spTree>
    <p:extLst>
      <p:ext uri="{BB962C8B-B14F-4D97-AF65-F5344CB8AC3E}">
        <p14:creationId xmlns:p14="http://schemas.microsoft.com/office/powerpoint/2010/main" val="904049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i="0" dirty="0">
                <a:solidFill>
                  <a:srgbClr val="0D0D0D"/>
                </a:solidFill>
                <a:effectLst/>
                <a:highlight>
                  <a:srgbClr val="FFFFFF"/>
                </a:highlight>
                <a:latin typeface="Söhne"/>
              </a:rPr>
              <a:t>Installing the </a:t>
            </a:r>
            <a:r>
              <a:rPr lang="en-US" b="1" i="0" dirty="0" err="1">
                <a:solidFill>
                  <a:srgbClr val="0D0D0D"/>
                </a:solidFill>
                <a:effectLst/>
                <a:highlight>
                  <a:srgbClr val="FFFFFF"/>
                </a:highlight>
                <a:latin typeface="Söhne"/>
              </a:rPr>
              <a:t>url_parser</a:t>
            </a:r>
            <a:r>
              <a:rPr lang="en-US" b="1" i="0" dirty="0">
                <a:solidFill>
                  <a:srgbClr val="0D0D0D"/>
                </a:solidFill>
                <a:effectLst/>
                <a:highlight>
                  <a:srgbClr val="FFFFFF"/>
                </a:highlight>
                <a:latin typeface="Söhne"/>
              </a:rPr>
              <a:t> Library - </a:t>
            </a:r>
            <a:r>
              <a:rPr lang="en-US" b="0" i="0" dirty="0">
                <a:solidFill>
                  <a:srgbClr val="0D0D0D"/>
                </a:solidFill>
                <a:effectLst/>
                <a:highlight>
                  <a:srgbClr val="FFFFFF"/>
                </a:highlight>
                <a:latin typeface="Söhne"/>
              </a:rPr>
              <a:t>The </a:t>
            </a:r>
            <a:r>
              <a:rPr lang="en-US" dirty="0" err="1"/>
              <a:t>url_parser</a:t>
            </a:r>
            <a:r>
              <a:rPr lang="en-US" b="0" i="0" dirty="0">
                <a:solidFill>
                  <a:srgbClr val="0D0D0D"/>
                </a:solidFill>
                <a:effectLst/>
                <a:highlight>
                  <a:srgbClr val="FFFFFF"/>
                </a:highlight>
                <a:latin typeface="Söhne"/>
              </a:rPr>
              <a:t> library is being installed using the </a:t>
            </a:r>
            <a:r>
              <a:rPr lang="en-US" dirty="0"/>
              <a:t>pip</a:t>
            </a:r>
            <a:r>
              <a:rPr lang="en-US" b="0" i="0" dirty="0">
                <a:solidFill>
                  <a:srgbClr val="0D0D0D"/>
                </a:solidFill>
                <a:effectLst/>
                <a:highlight>
                  <a:srgbClr val="FFFFFF"/>
                </a:highlight>
                <a:latin typeface="Söhne"/>
              </a:rPr>
              <a:t> package manager. It provides functionality for parsing and tokenizing URLs, which can be useful for various data processing tasks.</a:t>
            </a:r>
          </a:p>
          <a:p>
            <a:pPr marL="228600" indent="-228600">
              <a:buAutoNum type="arabicPeriod"/>
            </a:pPr>
            <a:r>
              <a:rPr lang="en-GB" b="1" i="0" dirty="0">
                <a:solidFill>
                  <a:srgbClr val="0D0D0D"/>
                </a:solidFill>
                <a:effectLst/>
                <a:highlight>
                  <a:srgbClr val="FFFFFF"/>
                </a:highlight>
                <a:latin typeface="Söhne"/>
              </a:rPr>
              <a:t>Installing the </a:t>
            </a:r>
            <a:r>
              <a:rPr lang="en-GB" b="1" i="0" dirty="0" err="1">
                <a:solidFill>
                  <a:srgbClr val="0D0D0D"/>
                </a:solidFill>
                <a:effectLst/>
                <a:highlight>
                  <a:srgbClr val="FFFFFF"/>
                </a:highlight>
                <a:latin typeface="Söhne"/>
              </a:rPr>
              <a:t>chardet</a:t>
            </a:r>
            <a:r>
              <a:rPr lang="en-GB" b="1" i="0" dirty="0">
                <a:solidFill>
                  <a:srgbClr val="0D0D0D"/>
                </a:solidFill>
                <a:effectLst/>
                <a:highlight>
                  <a:srgbClr val="FFFFFF"/>
                </a:highlight>
                <a:latin typeface="Söhne"/>
              </a:rPr>
              <a:t> Library</a:t>
            </a:r>
            <a:r>
              <a:rPr lang="en-US" b="0" i="0" dirty="0">
                <a:solidFill>
                  <a:srgbClr val="0D0D0D"/>
                </a:solidFill>
                <a:effectLst/>
                <a:highlight>
                  <a:srgbClr val="FFFFFF"/>
                </a:highlight>
                <a:latin typeface="Söhne"/>
              </a:rPr>
              <a:t> - The </a:t>
            </a:r>
            <a:r>
              <a:rPr lang="en-US" dirty="0" err="1"/>
              <a:t>chardet</a:t>
            </a:r>
            <a:r>
              <a:rPr lang="en-US" b="0" i="0" dirty="0">
                <a:solidFill>
                  <a:srgbClr val="0D0D0D"/>
                </a:solidFill>
                <a:effectLst/>
                <a:highlight>
                  <a:srgbClr val="FFFFFF"/>
                </a:highlight>
                <a:latin typeface="Söhne"/>
              </a:rPr>
              <a:t> library is being installed to assist with character encoding detection, which is important when working with text data of unknown encoding.</a:t>
            </a:r>
          </a:p>
          <a:p>
            <a:pPr marL="228600" indent="-228600">
              <a:buAutoNum type="arabicPeriod"/>
            </a:pPr>
            <a:r>
              <a:rPr lang="en-GB" b="1" i="0" dirty="0">
                <a:solidFill>
                  <a:srgbClr val="0D0D0D"/>
                </a:solidFill>
                <a:effectLst/>
                <a:highlight>
                  <a:srgbClr val="FFFFFF"/>
                </a:highlight>
                <a:latin typeface="Söhne"/>
              </a:rPr>
              <a:t>Installing the </a:t>
            </a:r>
            <a:r>
              <a:rPr lang="en-GB" b="1" i="0" dirty="0" err="1">
                <a:solidFill>
                  <a:srgbClr val="0D0D0D"/>
                </a:solidFill>
                <a:effectLst/>
                <a:highlight>
                  <a:srgbClr val="FFFFFF"/>
                </a:highlight>
                <a:latin typeface="Söhne"/>
              </a:rPr>
              <a:t>tldextract</a:t>
            </a:r>
            <a:r>
              <a:rPr lang="en-GB" b="1" i="0" dirty="0">
                <a:solidFill>
                  <a:srgbClr val="0D0D0D"/>
                </a:solidFill>
                <a:effectLst/>
                <a:highlight>
                  <a:srgbClr val="FFFFFF"/>
                </a:highlight>
                <a:latin typeface="Söhne"/>
              </a:rPr>
              <a:t> Library</a:t>
            </a:r>
            <a:r>
              <a:rPr lang="en-US" b="0" i="0" dirty="0">
                <a:solidFill>
                  <a:srgbClr val="0D0D0D"/>
                </a:solidFill>
                <a:effectLst/>
                <a:highlight>
                  <a:srgbClr val="FFFFFF"/>
                </a:highlight>
                <a:latin typeface="Söhne"/>
              </a:rPr>
              <a:t> - The </a:t>
            </a:r>
            <a:r>
              <a:rPr lang="en-US" dirty="0" err="1"/>
              <a:t>tldextract</a:t>
            </a:r>
            <a:r>
              <a:rPr lang="en-US" b="0" i="0" dirty="0">
                <a:solidFill>
                  <a:srgbClr val="0D0D0D"/>
                </a:solidFill>
                <a:effectLst/>
                <a:highlight>
                  <a:srgbClr val="FFFFFF"/>
                </a:highlight>
                <a:latin typeface="Söhne"/>
              </a:rPr>
              <a:t> library is being installed for extracting domain-related information from URLs, such as the top-level domain and domain name.</a:t>
            </a:r>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7</a:t>
            </a:fld>
            <a:endParaRPr lang="en-US"/>
          </a:p>
        </p:txBody>
      </p:sp>
    </p:spTree>
    <p:extLst>
      <p:ext uri="{BB962C8B-B14F-4D97-AF65-F5344CB8AC3E}">
        <p14:creationId xmlns:p14="http://schemas.microsoft.com/office/powerpoint/2010/main" val="2574746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0D0D0D"/>
                </a:solidFill>
                <a:effectLst/>
                <a:highlight>
                  <a:srgbClr val="FFFFFF"/>
                </a:highlight>
                <a:latin typeface="Söhne"/>
              </a:rPr>
              <a:t>Calculating URL Length - </a:t>
            </a:r>
            <a:r>
              <a:rPr lang="en-US" b="0" i="0" dirty="0">
                <a:solidFill>
                  <a:srgbClr val="0D0D0D"/>
                </a:solidFill>
                <a:effectLst/>
                <a:highlight>
                  <a:srgbClr val="FFFFFF"/>
                </a:highlight>
                <a:latin typeface="Söhne"/>
              </a:rPr>
              <a:t>The code calculates the length of each URL and adds a new column called '</a:t>
            </a:r>
            <a:r>
              <a:rPr lang="en-US" b="0" i="0" dirty="0" err="1">
                <a:solidFill>
                  <a:srgbClr val="0D0D0D"/>
                </a:solidFill>
                <a:effectLst/>
                <a:highlight>
                  <a:srgbClr val="FFFFFF"/>
                </a:highlight>
                <a:latin typeface="Söhne"/>
              </a:rPr>
              <a:t>url_length</a:t>
            </a:r>
            <a:r>
              <a:rPr lang="en-US" b="0" i="0" dirty="0">
                <a:solidFill>
                  <a:srgbClr val="0D0D0D"/>
                </a:solidFill>
                <a:effectLst/>
                <a:highlight>
                  <a:srgbClr val="FFFFFF"/>
                </a:highlight>
                <a:latin typeface="Söhne"/>
              </a:rPr>
              <a:t>' to the </a:t>
            </a:r>
            <a:r>
              <a:rPr lang="en-US" b="0" i="0" dirty="0" err="1">
                <a:solidFill>
                  <a:srgbClr val="0D0D0D"/>
                </a:solidFill>
                <a:effectLst/>
                <a:highlight>
                  <a:srgbClr val="FFFFFF"/>
                </a:highlight>
                <a:latin typeface="Söhne"/>
              </a:rPr>
              <a:t>DataFrame</a:t>
            </a:r>
            <a:r>
              <a:rPr lang="en-US" b="0" i="0" dirty="0">
                <a:solidFill>
                  <a:srgbClr val="0D0D0D"/>
                </a:solidFill>
                <a:effectLst/>
                <a:highlight>
                  <a:srgbClr val="FFFFFF"/>
                </a:highlight>
                <a:latin typeface="Söhne"/>
              </a:rPr>
              <a:t>.</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Clean and standardized URLs are essential for accurate analysis and modeling in tasks such as </a:t>
            </a:r>
            <a:r>
              <a:rPr lang="en-US" b="0" i="0" dirty="0" err="1">
                <a:solidFill>
                  <a:srgbClr val="0D0D0D"/>
                </a:solidFill>
                <a:effectLst/>
                <a:highlight>
                  <a:srgbClr val="FFFFFF"/>
                </a:highlight>
                <a:latin typeface="Söhne"/>
              </a:rPr>
              <a:t>url</a:t>
            </a:r>
            <a:r>
              <a:rPr lang="en-US" b="0" i="0" dirty="0">
                <a:solidFill>
                  <a:srgbClr val="0D0D0D"/>
                </a:solidFill>
                <a:effectLst/>
                <a:highlight>
                  <a:srgbClr val="FFFFFF"/>
                </a:highlight>
                <a:latin typeface="Söhne"/>
              </a:rPr>
              <a:t> classification</a:t>
            </a:r>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8</a:t>
            </a:fld>
            <a:endParaRPr lang="en-US"/>
          </a:p>
        </p:txBody>
      </p:sp>
    </p:spTree>
    <p:extLst>
      <p:ext uri="{BB962C8B-B14F-4D97-AF65-F5344CB8AC3E}">
        <p14:creationId xmlns:p14="http://schemas.microsoft.com/office/powerpoint/2010/main" val="1641379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0D0D0D"/>
                </a:solidFill>
                <a:effectLst/>
                <a:highlight>
                  <a:srgbClr val="FFFFFF"/>
                </a:highlight>
                <a:latin typeface="Söhne"/>
              </a:rPr>
              <a:t>Defining Functions - </a:t>
            </a:r>
            <a:r>
              <a:rPr lang="en-US" b="0" i="0" dirty="0">
                <a:solidFill>
                  <a:srgbClr val="0D0D0D"/>
                </a:solidFill>
                <a:effectLst/>
                <a:highlight>
                  <a:srgbClr val="FFFFFF"/>
                </a:highlight>
                <a:latin typeface="Söhne"/>
              </a:rPr>
              <a:t>Two functions, </a:t>
            </a:r>
            <a:r>
              <a:rPr lang="en-US" dirty="0" err="1"/>
              <a:t>extract_protocol</a:t>
            </a:r>
            <a:r>
              <a:rPr lang="en-US" dirty="0"/>
              <a:t>()</a:t>
            </a:r>
            <a:r>
              <a:rPr lang="en-US" b="0" i="0" dirty="0">
                <a:solidFill>
                  <a:srgbClr val="0D0D0D"/>
                </a:solidFill>
                <a:effectLst/>
                <a:highlight>
                  <a:srgbClr val="FFFFFF"/>
                </a:highlight>
                <a:latin typeface="Söhne"/>
              </a:rPr>
              <a:t> and </a:t>
            </a:r>
            <a:r>
              <a:rPr lang="en-US" dirty="0" err="1"/>
              <a:t>extract_domain</a:t>
            </a:r>
            <a:r>
              <a:rPr lang="en-US" dirty="0"/>
              <a:t>()</a:t>
            </a:r>
            <a:r>
              <a:rPr lang="en-US" b="0" i="0" dirty="0">
                <a:solidFill>
                  <a:srgbClr val="0D0D0D"/>
                </a:solidFill>
                <a:effectLst/>
                <a:highlight>
                  <a:srgbClr val="FFFFFF"/>
                </a:highlight>
                <a:latin typeface="Söhne"/>
              </a:rPr>
              <a:t>, are defined to extract the protocol and domain from URLs, respectively.</a:t>
            </a:r>
          </a:p>
          <a:p>
            <a:r>
              <a:rPr lang="en-US" b="1" i="0" dirty="0">
                <a:solidFill>
                  <a:srgbClr val="0D0D0D"/>
                </a:solidFill>
                <a:effectLst/>
                <a:highlight>
                  <a:srgbClr val="FFFFFF"/>
                </a:highlight>
                <a:latin typeface="Söhne"/>
              </a:rPr>
              <a:t>Applying Functions to Create New Columns</a:t>
            </a:r>
            <a:r>
              <a:rPr lang="en-US" b="0" i="0" dirty="0">
                <a:solidFill>
                  <a:srgbClr val="0D0D0D"/>
                </a:solidFill>
                <a:effectLst/>
                <a:highlight>
                  <a:srgbClr val="FFFFFF"/>
                </a:highlight>
                <a:latin typeface="Söhne"/>
              </a:rPr>
              <a:t> - The functions are applied to each URL in the </a:t>
            </a:r>
            <a:r>
              <a:rPr lang="en-US" b="0" i="0" dirty="0" err="1">
                <a:solidFill>
                  <a:srgbClr val="0D0D0D"/>
                </a:solidFill>
                <a:effectLst/>
                <a:highlight>
                  <a:srgbClr val="FFFFFF"/>
                </a:highlight>
                <a:latin typeface="Söhne"/>
              </a:rPr>
              <a:t>DataFrame</a:t>
            </a:r>
            <a:r>
              <a:rPr lang="en-US" b="0" i="0" dirty="0">
                <a:solidFill>
                  <a:srgbClr val="0D0D0D"/>
                </a:solidFill>
                <a:effectLst/>
                <a:highlight>
                  <a:srgbClr val="FFFFFF"/>
                </a:highlight>
                <a:latin typeface="Söhne"/>
              </a:rPr>
              <a:t> to create new columns 'protocol' and 'domain’.</a:t>
            </a:r>
          </a:p>
          <a:p>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1" i="0" dirty="0">
                <a:solidFill>
                  <a:srgbClr val="0D0D0D"/>
                </a:solidFill>
                <a:effectLst/>
                <a:highlight>
                  <a:srgbClr val="FFFFFF"/>
                </a:highlight>
                <a:latin typeface="Söhne"/>
              </a:rPr>
              <a:t>NB</a:t>
            </a:r>
            <a:r>
              <a:rPr lang="en-US" b="0" i="0" dirty="0">
                <a:solidFill>
                  <a:srgbClr val="0D0D0D"/>
                </a:solidFill>
                <a:effectLst/>
                <a:highlight>
                  <a:srgbClr val="FFFFFF"/>
                </a:highlight>
                <a:latin typeface="Söhne"/>
              </a:rPr>
              <a:t>: Parsing URLs to extract useful components like protocol and domain is essential for various data analysis tasks.</a:t>
            </a:r>
          </a:p>
          <a:p>
            <a:pPr algn="l">
              <a:buFont typeface="Arial" panose="020B0604020202020204" pitchFamily="34" charset="0"/>
              <a:buNone/>
            </a:pPr>
            <a:r>
              <a:rPr lang="en-US" b="0" i="0" dirty="0">
                <a:solidFill>
                  <a:srgbClr val="0D0D0D"/>
                </a:solidFill>
                <a:effectLst/>
                <a:highlight>
                  <a:srgbClr val="FFFFFF"/>
                </a:highlight>
                <a:latin typeface="Söhne"/>
              </a:rPr>
              <a:t>Extracted components can be used for tasks such as categorization, filtering, and feature engineering in data analysis and machine learning.</a:t>
            </a:r>
          </a:p>
          <a:p>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9</a:t>
            </a:fld>
            <a:endParaRPr lang="en-US"/>
          </a:p>
        </p:txBody>
      </p:sp>
    </p:spTree>
    <p:extLst>
      <p:ext uri="{BB962C8B-B14F-4D97-AF65-F5344CB8AC3E}">
        <p14:creationId xmlns:p14="http://schemas.microsoft.com/office/powerpoint/2010/main" val="684002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0D0D0D"/>
                </a:solidFill>
                <a:effectLst/>
                <a:highlight>
                  <a:srgbClr val="FFFFFF"/>
                </a:highlight>
                <a:latin typeface="Söhne"/>
              </a:rPr>
              <a:t>Checking for Missing Values - </a:t>
            </a:r>
            <a:r>
              <a:rPr lang="en-US" b="0" i="0" dirty="0">
                <a:solidFill>
                  <a:srgbClr val="0D0D0D"/>
                </a:solidFill>
                <a:effectLst/>
                <a:highlight>
                  <a:srgbClr val="FFFFFF"/>
                </a:highlight>
                <a:latin typeface="Söhne"/>
              </a:rPr>
              <a:t>The code checks for missing values in the 'type' column of the </a:t>
            </a:r>
            <a:r>
              <a:rPr lang="en-US" b="0" i="0" dirty="0" err="1">
                <a:solidFill>
                  <a:srgbClr val="0D0D0D"/>
                </a:solidFill>
                <a:effectLst/>
                <a:highlight>
                  <a:srgbClr val="FFFFFF"/>
                </a:highlight>
                <a:latin typeface="Söhne"/>
              </a:rPr>
              <a:t>DataFrame</a:t>
            </a:r>
            <a:endParaRPr lang="en-US" b="0" i="0" dirty="0">
              <a:solidFill>
                <a:srgbClr val="0D0D0D"/>
              </a:solidFill>
              <a:effectLst/>
              <a:highlight>
                <a:srgbClr val="FFFFFF"/>
              </a:highlight>
              <a:latin typeface="Söhne"/>
            </a:endParaRPr>
          </a:p>
          <a:p>
            <a:r>
              <a:rPr lang="en-GB" b="1" i="0" dirty="0">
                <a:solidFill>
                  <a:srgbClr val="0D0D0D"/>
                </a:solidFill>
                <a:effectLst/>
                <a:highlight>
                  <a:srgbClr val="FFFFFF"/>
                </a:highlight>
                <a:latin typeface="Söhne"/>
              </a:rPr>
              <a:t>Handling Missing Values</a:t>
            </a:r>
            <a:r>
              <a:rPr lang="en-US" b="0" i="0" dirty="0">
                <a:solidFill>
                  <a:srgbClr val="0D0D0D"/>
                </a:solidFill>
                <a:effectLst/>
                <a:highlight>
                  <a:srgbClr val="FFFFFF"/>
                </a:highlight>
                <a:latin typeface="Söhne"/>
              </a:rPr>
              <a:t> - Missing values in the 'type' column are dropped from the </a:t>
            </a:r>
            <a:r>
              <a:rPr lang="en-US" b="0" i="0" dirty="0" err="1">
                <a:solidFill>
                  <a:srgbClr val="0D0D0D"/>
                </a:solidFill>
                <a:effectLst/>
                <a:highlight>
                  <a:srgbClr val="FFFFFF"/>
                </a:highlight>
                <a:latin typeface="Söhne"/>
              </a:rPr>
              <a:t>DataFrame</a:t>
            </a:r>
            <a:r>
              <a:rPr lang="en-US" b="0" i="0" dirty="0">
                <a:solidFill>
                  <a:srgbClr val="0D0D0D"/>
                </a:solidFill>
                <a:effectLst/>
                <a:highlight>
                  <a:srgbClr val="FFFFFF"/>
                </a:highlight>
                <a:latin typeface="Söhne"/>
              </a:rPr>
              <a:t> to ensure data integrity.</a:t>
            </a:r>
          </a:p>
          <a:p>
            <a:r>
              <a:rPr lang="en-GB" b="1" i="0" dirty="0">
                <a:solidFill>
                  <a:srgbClr val="0D0D0D"/>
                </a:solidFill>
                <a:effectLst/>
                <a:highlight>
                  <a:srgbClr val="FFFFFF"/>
                </a:highlight>
                <a:latin typeface="Söhne"/>
              </a:rPr>
              <a:t>Mapping Dictionary:</a:t>
            </a:r>
            <a:r>
              <a:rPr lang="en-US" b="0" i="0" dirty="0">
                <a:solidFill>
                  <a:srgbClr val="0D0D0D"/>
                </a:solidFill>
                <a:effectLst/>
                <a:highlight>
                  <a:srgbClr val="FFFFFF"/>
                </a:highlight>
                <a:latin typeface="Söhne"/>
              </a:rPr>
              <a:t> - This line creates a new column '</a:t>
            </a:r>
            <a:r>
              <a:rPr lang="en-US" b="0" i="0" dirty="0" err="1">
                <a:solidFill>
                  <a:srgbClr val="0D0D0D"/>
                </a:solidFill>
                <a:effectLst/>
                <a:highlight>
                  <a:srgbClr val="FFFFFF"/>
                </a:highlight>
                <a:latin typeface="Söhne"/>
              </a:rPr>
              <a:t>url_type</a:t>
            </a:r>
            <a:r>
              <a:rPr lang="en-US" b="0" i="0" dirty="0">
                <a:solidFill>
                  <a:srgbClr val="0D0D0D"/>
                </a:solidFill>
                <a:effectLst/>
                <a:highlight>
                  <a:srgbClr val="FFFFFF"/>
                </a:highlight>
                <a:latin typeface="Söhne"/>
              </a:rPr>
              <a:t>' in the </a:t>
            </a:r>
            <a:r>
              <a:rPr lang="en-US" b="0" i="0" dirty="0" err="1">
                <a:solidFill>
                  <a:srgbClr val="0D0D0D"/>
                </a:solidFill>
                <a:effectLst/>
                <a:highlight>
                  <a:srgbClr val="FFFFFF"/>
                </a:highlight>
                <a:latin typeface="Söhne"/>
              </a:rPr>
              <a:t>DataFrame</a:t>
            </a:r>
            <a:r>
              <a:rPr lang="en-US" b="0" i="0" dirty="0">
                <a:solidFill>
                  <a:srgbClr val="0D0D0D"/>
                </a:solidFill>
                <a:effectLst/>
                <a:highlight>
                  <a:srgbClr val="FFFFFF"/>
                </a:highlight>
                <a:latin typeface="Söhne"/>
              </a:rPr>
              <a:t> </a:t>
            </a:r>
            <a:r>
              <a:rPr lang="en-US" dirty="0" err="1"/>
              <a:t>url_df</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i.e</a:t>
            </a:r>
            <a:r>
              <a:rPr lang="en-US" b="0" i="0" dirty="0">
                <a:solidFill>
                  <a:srgbClr val="0D0D0D"/>
                </a:solidFill>
                <a:effectLst/>
                <a:highlight>
                  <a:srgbClr val="FFFFFF"/>
                </a:highlight>
                <a:latin typeface="Söhne"/>
              </a:rPr>
              <a:t> benign is assigned 0, defacement, 1.. </a:t>
            </a:r>
            <a:r>
              <a:rPr lang="en-GB" b="1" i="0" dirty="0">
                <a:solidFill>
                  <a:srgbClr val="0D0D0D"/>
                </a:solidFill>
                <a:effectLst/>
                <a:highlight>
                  <a:srgbClr val="FFFFFF"/>
                </a:highlight>
                <a:latin typeface="Söhne Mono"/>
              </a:rPr>
              <a:t>{'benign': 0, 'defacement': 1, 'malware': 2, 'phishing': 3}. </a:t>
            </a:r>
          </a:p>
          <a:p>
            <a:r>
              <a:rPr lang="en-GB" b="1" i="0" dirty="0">
                <a:solidFill>
                  <a:srgbClr val="0D0D0D"/>
                </a:solidFill>
                <a:effectLst/>
                <a:highlight>
                  <a:srgbClr val="FFFFFF"/>
                </a:highlight>
                <a:latin typeface="Söhne"/>
              </a:rPr>
              <a:t>Creating '</a:t>
            </a:r>
            <a:r>
              <a:rPr lang="en-GB" b="1" i="0" dirty="0" err="1">
                <a:solidFill>
                  <a:srgbClr val="0D0D0D"/>
                </a:solidFill>
                <a:effectLst/>
                <a:highlight>
                  <a:srgbClr val="FFFFFF"/>
                </a:highlight>
                <a:latin typeface="Söhne"/>
              </a:rPr>
              <a:t>url_type</a:t>
            </a:r>
            <a:r>
              <a:rPr lang="en-GB" b="1" i="0" dirty="0">
                <a:solidFill>
                  <a:srgbClr val="0D0D0D"/>
                </a:solidFill>
                <a:effectLst/>
                <a:highlight>
                  <a:srgbClr val="FFFFFF"/>
                </a:highlight>
                <a:latin typeface="Söhne"/>
              </a:rPr>
              <a:t>' Column</a:t>
            </a:r>
            <a:r>
              <a:rPr lang="en-GB" b="1" i="0" dirty="0">
                <a:solidFill>
                  <a:srgbClr val="0D0D0D"/>
                </a:solidFill>
                <a:effectLst/>
                <a:highlight>
                  <a:srgbClr val="FFFFFF"/>
                </a:highlight>
                <a:latin typeface="Söhne Mono"/>
              </a:rPr>
              <a:t> - </a:t>
            </a:r>
            <a:r>
              <a:rPr lang="en-US" b="0" i="0" dirty="0">
                <a:solidFill>
                  <a:srgbClr val="0D0D0D"/>
                </a:solidFill>
                <a:effectLst/>
                <a:highlight>
                  <a:srgbClr val="FFFFFF"/>
                </a:highlight>
                <a:latin typeface="Söhne"/>
              </a:rPr>
              <a:t>A new column '</a:t>
            </a:r>
            <a:r>
              <a:rPr lang="en-US" b="0" i="0" dirty="0" err="1">
                <a:solidFill>
                  <a:srgbClr val="0D0D0D"/>
                </a:solidFill>
                <a:effectLst/>
                <a:highlight>
                  <a:srgbClr val="FFFFFF"/>
                </a:highlight>
                <a:latin typeface="Söhne"/>
              </a:rPr>
              <a:t>url_type</a:t>
            </a:r>
            <a:r>
              <a:rPr lang="en-US" b="0" i="0" dirty="0">
                <a:solidFill>
                  <a:srgbClr val="0D0D0D"/>
                </a:solidFill>
                <a:effectLst/>
                <a:highlight>
                  <a:srgbClr val="FFFFFF"/>
                </a:highlight>
                <a:latin typeface="Söhne"/>
              </a:rPr>
              <a:t>' is created in the </a:t>
            </a:r>
            <a:r>
              <a:rPr lang="en-US" b="0" i="0" dirty="0" err="1">
                <a:solidFill>
                  <a:srgbClr val="0D0D0D"/>
                </a:solidFill>
                <a:effectLst/>
                <a:highlight>
                  <a:srgbClr val="FFFFFF"/>
                </a:highlight>
                <a:latin typeface="Söhne"/>
              </a:rPr>
              <a:t>DataFrame</a:t>
            </a:r>
            <a:r>
              <a:rPr lang="en-US" b="0" i="0" dirty="0">
                <a:solidFill>
                  <a:srgbClr val="0D0D0D"/>
                </a:solidFill>
                <a:effectLst/>
                <a:highlight>
                  <a:srgbClr val="FFFFFF"/>
                </a:highlight>
                <a:latin typeface="Söhne"/>
              </a:rPr>
              <a:t>, representing numerical codes for the 'type' column.</a:t>
            </a:r>
            <a:endParaRPr lang="en-GB" b="1" i="0" dirty="0">
              <a:solidFill>
                <a:srgbClr val="0D0D0D"/>
              </a:solidFill>
              <a:effectLst/>
              <a:highlight>
                <a:srgbClr val="FFFFFF"/>
              </a:highlight>
              <a:latin typeface="Söhne Mono"/>
            </a:endParaRPr>
          </a:p>
          <a:p>
            <a:r>
              <a:rPr lang="en-GB" b="1" i="0" dirty="0">
                <a:solidFill>
                  <a:srgbClr val="0D0D0D"/>
                </a:solidFill>
                <a:effectLst/>
                <a:highlight>
                  <a:srgbClr val="FFFFFF"/>
                </a:highlight>
                <a:latin typeface="Söhne"/>
              </a:rPr>
              <a:t>Displaying the </a:t>
            </a:r>
            <a:r>
              <a:rPr lang="en-GB" b="1" i="0" dirty="0" err="1">
                <a:solidFill>
                  <a:srgbClr val="0D0D0D"/>
                </a:solidFill>
                <a:effectLst/>
                <a:highlight>
                  <a:srgbClr val="FFFFFF"/>
                </a:highlight>
                <a:latin typeface="Söhne"/>
              </a:rPr>
              <a:t>DataFrame</a:t>
            </a:r>
            <a:r>
              <a:rPr lang="en-GB" b="1" i="0" dirty="0">
                <a:solidFill>
                  <a:srgbClr val="0D0D0D"/>
                </a:solidFill>
                <a:effectLst/>
                <a:highlight>
                  <a:srgbClr val="FFFFFF"/>
                </a:highlight>
                <a:latin typeface="Söhne Mono"/>
              </a:rPr>
              <a:t> - </a:t>
            </a:r>
            <a:r>
              <a:rPr lang="en-US" b="0" i="0" dirty="0">
                <a:solidFill>
                  <a:srgbClr val="0D0D0D"/>
                </a:solidFill>
                <a:effectLst/>
                <a:highlight>
                  <a:srgbClr val="FFFFFF"/>
                </a:highlight>
                <a:latin typeface="Söhne"/>
              </a:rPr>
              <a:t>A sample of the </a:t>
            </a:r>
            <a:r>
              <a:rPr lang="en-US" b="0" i="0" dirty="0" err="1">
                <a:solidFill>
                  <a:srgbClr val="0D0D0D"/>
                </a:solidFill>
                <a:effectLst/>
                <a:highlight>
                  <a:srgbClr val="FFFFFF"/>
                </a:highlight>
                <a:latin typeface="Söhne"/>
              </a:rPr>
              <a:t>DataFrame</a:t>
            </a:r>
            <a:r>
              <a:rPr lang="en-US" b="0" i="0" dirty="0">
                <a:solidFill>
                  <a:srgbClr val="0D0D0D"/>
                </a:solidFill>
                <a:effectLst/>
                <a:highlight>
                  <a:srgbClr val="FFFFFF"/>
                </a:highlight>
                <a:latin typeface="Söhne"/>
              </a:rPr>
              <a:t> is displayed to show the newly created '</a:t>
            </a:r>
            <a:r>
              <a:rPr lang="en-US" b="0" i="0" dirty="0" err="1">
                <a:solidFill>
                  <a:srgbClr val="0D0D0D"/>
                </a:solidFill>
                <a:effectLst/>
                <a:highlight>
                  <a:srgbClr val="FFFFFF"/>
                </a:highlight>
                <a:latin typeface="Söhne"/>
              </a:rPr>
              <a:t>url_type</a:t>
            </a:r>
            <a:r>
              <a:rPr lang="en-US" b="0" i="0" dirty="0">
                <a:solidFill>
                  <a:srgbClr val="0D0D0D"/>
                </a:solidFill>
                <a:effectLst/>
                <a:highlight>
                  <a:srgbClr val="FFFFFF"/>
                </a:highlight>
                <a:latin typeface="Söhne"/>
              </a:rPr>
              <a:t>' column.</a:t>
            </a:r>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10</a:t>
            </a:fld>
            <a:endParaRPr lang="en-US"/>
          </a:p>
        </p:txBody>
      </p:sp>
    </p:spTree>
    <p:extLst>
      <p:ext uri="{BB962C8B-B14F-4D97-AF65-F5344CB8AC3E}">
        <p14:creationId xmlns:p14="http://schemas.microsoft.com/office/powerpoint/2010/main" val="617721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0D0D0D"/>
                </a:solidFill>
                <a:effectLst/>
                <a:highlight>
                  <a:srgbClr val="FFFFFF"/>
                </a:highlight>
                <a:latin typeface="Söhne"/>
              </a:rPr>
              <a:t>Creating the </a:t>
            </a:r>
            <a:r>
              <a:rPr lang="en-GB" b="1" i="0" dirty="0" err="1">
                <a:solidFill>
                  <a:srgbClr val="0D0D0D"/>
                </a:solidFill>
                <a:effectLst/>
                <a:highlight>
                  <a:srgbClr val="FFFFFF"/>
                </a:highlight>
                <a:latin typeface="Söhne"/>
              </a:rPr>
              <a:t>Countplot</a:t>
            </a:r>
            <a:r>
              <a:rPr lang="en-GB" b="1" i="0" dirty="0">
                <a:solidFill>
                  <a:srgbClr val="0D0D0D"/>
                </a:solidFill>
                <a:effectLst/>
                <a:highlight>
                  <a:srgbClr val="FFFFFF"/>
                </a:highlight>
                <a:latin typeface="Söhne"/>
              </a:rPr>
              <a:t> - </a:t>
            </a:r>
            <a:r>
              <a:rPr lang="en-US" b="0" i="0" dirty="0">
                <a:solidFill>
                  <a:srgbClr val="0D0D0D"/>
                </a:solidFill>
                <a:effectLst/>
                <a:highlight>
                  <a:srgbClr val="FFFFFF"/>
                </a:highlight>
                <a:latin typeface="Söhne"/>
              </a:rPr>
              <a:t>The code segment creates a </a:t>
            </a:r>
            <a:r>
              <a:rPr lang="en-US" b="0" i="0" dirty="0" err="1">
                <a:solidFill>
                  <a:srgbClr val="0D0D0D"/>
                </a:solidFill>
                <a:effectLst/>
                <a:highlight>
                  <a:srgbClr val="FFFFFF"/>
                </a:highlight>
                <a:latin typeface="Söhne"/>
              </a:rPr>
              <a:t>countplot</a:t>
            </a:r>
            <a:r>
              <a:rPr lang="en-US" b="0" i="0" dirty="0">
                <a:solidFill>
                  <a:srgbClr val="0D0D0D"/>
                </a:solidFill>
                <a:effectLst/>
                <a:highlight>
                  <a:srgbClr val="FFFFFF"/>
                </a:highlight>
                <a:latin typeface="Söhne"/>
              </a:rPr>
              <a:t> to visualize the distribution of the 'type' column in the dataset. </a:t>
            </a:r>
          </a:p>
          <a:p>
            <a:r>
              <a:rPr lang="en-GB" b="1" i="0" dirty="0" err="1">
                <a:solidFill>
                  <a:srgbClr val="0D0D0D"/>
                </a:solidFill>
                <a:effectLst/>
                <a:highlight>
                  <a:srgbClr val="FFFFFF"/>
                </a:highlight>
                <a:latin typeface="Söhne"/>
              </a:rPr>
              <a:t>Lable</a:t>
            </a:r>
            <a:r>
              <a:rPr lang="en-GB" b="1" i="0" dirty="0">
                <a:solidFill>
                  <a:srgbClr val="0D0D0D"/>
                </a:solidFill>
                <a:effectLst/>
                <a:highlight>
                  <a:srgbClr val="FFFFFF"/>
                </a:highlight>
                <a:latin typeface="Söhne"/>
              </a:rPr>
              <a:t> Bars with counts(amount) - </a:t>
            </a:r>
            <a:r>
              <a:rPr lang="en-US" b="0" i="0" dirty="0">
                <a:solidFill>
                  <a:srgbClr val="0D0D0D"/>
                </a:solidFill>
                <a:effectLst/>
                <a:highlight>
                  <a:srgbClr val="FFFFFF"/>
                </a:highlight>
                <a:latin typeface="Söhne"/>
              </a:rPr>
              <a:t>Each bar in the </a:t>
            </a:r>
            <a:r>
              <a:rPr lang="en-US" b="0" i="0" dirty="0" err="1">
                <a:solidFill>
                  <a:srgbClr val="0D0D0D"/>
                </a:solidFill>
                <a:effectLst/>
                <a:highlight>
                  <a:srgbClr val="FFFFFF"/>
                </a:highlight>
                <a:latin typeface="Söhne"/>
              </a:rPr>
              <a:t>countplot</a:t>
            </a:r>
            <a:r>
              <a:rPr lang="en-US" b="0" i="0" dirty="0">
                <a:solidFill>
                  <a:srgbClr val="0D0D0D"/>
                </a:solidFill>
                <a:effectLst/>
                <a:highlight>
                  <a:srgbClr val="FFFFFF"/>
                </a:highlight>
                <a:latin typeface="Söhne"/>
              </a:rPr>
              <a:t> is </a:t>
            </a:r>
            <a:r>
              <a:rPr lang="en-US" b="0" i="0" dirty="0" err="1">
                <a:solidFill>
                  <a:srgbClr val="0D0D0D"/>
                </a:solidFill>
                <a:effectLst/>
                <a:highlight>
                  <a:srgbClr val="FFFFFF"/>
                </a:highlight>
                <a:latin typeface="Söhne"/>
              </a:rPr>
              <a:t>labed</a:t>
            </a:r>
            <a:r>
              <a:rPr lang="en-US" b="0" i="0" dirty="0">
                <a:solidFill>
                  <a:srgbClr val="0D0D0D"/>
                </a:solidFill>
                <a:effectLst/>
                <a:highlight>
                  <a:srgbClr val="FFFFFF"/>
                </a:highlight>
                <a:latin typeface="Söhne"/>
              </a:rPr>
              <a:t> with the amount of </a:t>
            </a:r>
            <a:r>
              <a:rPr lang="en-US" b="0" i="0" dirty="0" err="1">
                <a:solidFill>
                  <a:srgbClr val="0D0D0D"/>
                </a:solidFill>
                <a:effectLst/>
                <a:highlight>
                  <a:srgbClr val="FFFFFF"/>
                </a:highlight>
                <a:latin typeface="Söhne"/>
              </a:rPr>
              <a:t>eg</a:t>
            </a:r>
            <a:r>
              <a:rPr lang="en-US" b="0" i="0" dirty="0">
                <a:solidFill>
                  <a:srgbClr val="0D0D0D"/>
                </a:solidFill>
                <a:effectLst/>
                <a:highlight>
                  <a:srgbClr val="FFFFFF"/>
                </a:highlight>
                <a:latin typeface="Söhne"/>
              </a:rPr>
              <a:t> benign, phishing, malware.</a:t>
            </a:r>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11</a:t>
            </a:fld>
            <a:endParaRPr lang="en-US"/>
          </a:p>
        </p:txBody>
      </p:sp>
    </p:spTree>
    <p:extLst>
      <p:ext uri="{BB962C8B-B14F-4D97-AF65-F5344CB8AC3E}">
        <p14:creationId xmlns:p14="http://schemas.microsoft.com/office/powerpoint/2010/main" val="6545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0D0D0D"/>
                </a:solidFill>
                <a:effectLst/>
                <a:highlight>
                  <a:srgbClr val="FFFFFF"/>
                </a:highlight>
                <a:latin typeface="Söhne"/>
              </a:rPr>
              <a:t>Defining Feature Characters - </a:t>
            </a:r>
            <a:r>
              <a:rPr lang="en-US" b="0" i="0" dirty="0">
                <a:solidFill>
                  <a:srgbClr val="0D0D0D"/>
                </a:solidFill>
                <a:effectLst/>
                <a:highlight>
                  <a:srgbClr val="FFFFFF"/>
                </a:highlight>
                <a:latin typeface="Söhne"/>
              </a:rPr>
              <a:t>A list of special characters is defined to be used as features for identifying their presence in URLs </a:t>
            </a:r>
            <a:r>
              <a:rPr lang="en-US" b="0" i="0" dirty="0" err="1">
                <a:solidFill>
                  <a:srgbClr val="0D0D0D"/>
                </a:solidFill>
                <a:effectLst/>
                <a:highlight>
                  <a:srgbClr val="FFFFFF"/>
                </a:highlight>
                <a:latin typeface="Söhne"/>
              </a:rPr>
              <a:t>eg</a:t>
            </a:r>
            <a:r>
              <a:rPr lang="en-US" b="0" i="0" dirty="0">
                <a:solidFill>
                  <a:srgbClr val="0D0D0D"/>
                </a:solidFill>
                <a:effectLst/>
                <a:highlight>
                  <a:srgbClr val="FFFFFF"/>
                </a:highlight>
                <a:latin typeface="Söhne"/>
              </a:rPr>
              <a:t> @, ?, +</a:t>
            </a:r>
          </a:p>
          <a:p>
            <a:r>
              <a:rPr lang="en-GB" b="1" i="0" dirty="0">
                <a:solidFill>
                  <a:srgbClr val="0D0D0D"/>
                </a:solidFill>
                <a:effectLst/>
                <a:highlight>
                  <a:srgbClr val="FFFFFF"/>
                </a:highlight>
                <a:latin typeface="Söhne"/>
              </a:rPr>
              <a:t>Creating New Features</a:t>
            </a:r>
            <a:r>
              <a:rPr lang="en-US" b="0" i="0" dirty="0">
                <a:solidFill>
                  <a:srgbClr val="0D0D0D"/>
                </a:solidFill>
                <a:effectLst/>
                <a:highlight>
                  <a:srgbClr val="FFFFFF"/>
                </a:highlight>
                <a:latin typeface="Söhne"/>
              </a:rPr>
              <a:t> - New columns are created in the dataset to represent the presence of each feature character in URLs </a:t>
            </a:r>
          </a:p>
          <a:p>
            <a:r>
              <a:rPr lang="en-US" b="1" i="0" dirty="0">
                <a:solidFill>
                  <a:srgbClr val="0D0D0D"/>
                </a:solidFill>
                <a:effectLst/>
                <a:highlight>
                  <a:srgbClr val="FFFFFF"/>
                </a:highlight>
                <a:latin typeface="Söhne"/>
              </a:rPr>
              <a:t>Displaying a Sample of the </a:t>
            </a:r>
            <a:r>
              <a:rPr lang="en-US" b="1" i="0" dirty="0" err="1">
                <a:solidFill>
                  <a:srgbClr val="0D0D0D"/>
                </a:solidFill>
                <a:effectLst/>
                <a:highlight>
                  <a:srgbClr val="FFFFFF"/>
                </a:highlight>
                <a:latin typeface="Söhne"/>
              </a:rPr>
              <a:t>DataFrame</a:t>
            </a:r>
            <a:r>
              <a:rPr lang="en-US" b="0" i="0" dirty="0">
                <a:solidFill>
                  <a:srgbClr val="0D0D0D"/>
                </a:solidFill>
                <a:effectLst/>
                <a:highlight>
                  <a:srgbClr val="FFFFFF"/>
                </a:highlight>
                <a:latin typeface="Söhne"/>
              </a:rPr>
              <a:t> - A sample of the dataset is displayed to show the newly created feature columns alongside the original '</a:t>
            </a:r>
            <a:r>
              <a:rPr lang="en-US" b="0" i="0" dirty="0" err="1">
                <a:solidFill>
                  <a:srgbClr val="0D0D0D"/>
                </a:solidFill>
                <a:effectLst/>
                <a:highlight>
                  <a:srgbClr val="FFFFFF"/>
                </a:highlight>
                <a:latin typeface="Söhne"/>
              </a:rPr>
              <a:t>url</a:t>
            </a:r>
            <a:r>
              <a:rPr lang="en-US" b="0" i="0" dirty="0">
                <a:solidFill>
                  <a:srgbClr val="0D0D0D"/>
                </a:solidFill>
                <a:effectLst/>
                <a:highlight>
                  <a:srgbClr val="FFFFFF"/>
                </a:highlight>
                <a:latin typeface="Söhne"/>
              </a:rPr>
              <a:t>' column.</a:t>
            </a:r>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12</a:t>
            </a:fld>
            <a:endParaRPr lang="en-US"/>
          </a:p>
        </p:txBody>
      </p:sp>
    </p:spTree>
    <p:extLst>
      <p:ext uri="{BB962C8B-B14F-4D97-AF65-F5344CB8AC3E}">
        <p14:creationId xmlns:p14="http://schemas.microsoft.com/office/powerpoint/2010/main" val="3722839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0D0D0D"/>
                </a:solidFill>
                <a:effectLst/>
                <a:highlight>
                  <a:srgbClr val="FFFFFF"/>
                </a:highlight>
                <a:latin typeface="Söhne"/>
              </a:rPr>
              <a:t>Extracting Hostname: - </a:t>
            </a:r>
            <a:r>
              <a:rPr lang="en-US" b="0" i="0" dirty="0">
                <a:solidFill>
                  <a:srgbClr val="0D0D0D"/>
                </a:solidFill>
                <a:effectLst/>
                <a:highlight>
                  <a:srgbClr val="FFFFFF"/>
                </a:highlight>
                <a:latin typeface="Söhne"/>
              </a:rPr>
              <a:t>This line extracts the hostname from the URL using the </a:t>
            </a:r>
            <a:r>
              <a:rPr lang="en-US" dirty="0" err="1"/>
              <a:t>urlparse</a:t>
            </a:r>
            <a:r>
              <a:rPr lang="en-US" dirty="0"/>
              <a:t>()</a:t>
            </a:r>
            <a:r>
              <a:rPr lang="en-US" b="0" i="0" dirty="0">
                <a:solidFill>
                  <a:srgbClr val="0D0D0D"/>
                </a:solidFill>
                <a:effectLst/>
                <a:highlight>
                  <a:srgbClr val="FFFFFF"/>
                </a:highlight>
                <a:latin typeface="Söhne"/>
              </a:rPr>
              <a:t> function</a:t>
            </a:r>
          </a:p>
          <a:p>
            <a:r>
              <a:rPr lang="en-GB" b="1" i="0" dirty="0">
                <a:solidFill>
                  <a:srgbClr val="0D0D0D"/>
                </a:solidFill>
                <a:effectLst/>
                <a:highlight>
                  <a:srgbClr val="FFFFFF"/>
                </a:highlight>
                <a:latin typeface="Söhne"/>
              </a:rPr>
              <a:t>Converting Hostname to String</a:t>
            </a:r>
            <a:r>
              <a:rPr lang="en-US" b="0" i="0" dirty="0">
                <a:solidFill>
                  <a:srgbClr val="0D0D0D"/>
                </a:solidFill>
                <a:effectLst/>
                <a:highlight>
                  <a:srgbClr val="FFFFFF"/>
                </a:highlight>
                <a:latin typeface="Söhne"/>
              </a:rPr>
              <a:t> - This conversion ensures that the hostname is in a format suitable for further processing.</a:t>
            </a:r>
          </a:p>
          <a:p>
            <a:r>
              <a:rPr lang="en-US" b="1" i="0" dirty="0">
                <a:solidFill>
                  <a:srgbClr val="0D0D0D"/>
                </a:solidFill>
                <a:effectLst/>
                <a:highlight>
                  <a:srgbClr val="FFFFFF"/>
                </a:highlight>
                <a:latin typeface="Söhne"/>
              </a:rPr>
              <a:t>Searching for Hostname in URL:</a:t>
            </a:r>
            <a:r>
              <a:rPr lang="en-US" b="0" i="0" dirty="0">
                <a:solidFill>
                  <a:srgbClr val="0D0D0D"/>
                </a:solidFill>
                <a:effectLst/>
                <a:highlight>
                  <a:srgbClr val="FFFFFF"/>
                </a:highlight>
                <a:latin typeface="Söhne"/>
              </a:rPr>
              <a:t> - It looks for an occurrence of the hostname within the URL string.</a:t>
            </a:r>
          </a:p>
          <a:p>
            <a:r>
              <a:rPr lang="en-GB" b="1" i="0" dirty="0">
                <a:solidFill>
                  <a:srgbClr val="0D0D0D"/>
                </a:solidFill>
                <a:effectLst/>
                <a:highlight>
                  <a:srgbClr val="FFFFFF"/>
                </a:highlight>
                <a:latin typeface="Söhne"/>
              </a:rPr>
              <a:t>Returning Result:</a:t>
            </a:r>
            <a:r>
              <a:rPr lang="en-US" b="0" i="0" dirty="0">
                <a:solidFill>
                  <a:srgbClr val="0D0D0D"/>
                </a:solidFill>
                <a:effectLst/>
                <a:highlight>
                  <a:srgbClr val="FFFFFF"/>
                </a:highlight>
                <a:latin typeface="Söhne"/>
              </a:rPr>
              <a:t> - This line returns 1 if a match is found (indicating that the hostname is present in the URL) and 0 otherwise</a:t>
            </a:r>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13</a:t>
            </a:fld>
            <a:endParaRPr lang="en-US"/>
          </a:p>
        </p:txBody>
      </p:sp>
    </p:spTree>
    <p:extLst>
      <p:ext uri="{BB962C8B-B14F-4D97-AF65-F5344CB8AC3E}">
        <p14:creationId xmlns:p14="http://schemas.microsoft.com/office/powerpoint/2010/main" val="2468785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0D0D0D"/>
                </a:solidFill>
                <a:effectLst/>
                <a:highlight>
                  <a:srgbClr val="FFFFFF"/>
                </a:highlight>
                <a:latin typeface="Söhne"/>
              </a:rPr>
              <a:t>Creating the </a:t>
            </a:r>
            <a:r>
              <a:rPr lang="en-GB" b="1" i="0" dirty="0" err="1">
                <a:solidFill>
                  <a:srgbClr val="0D0D0D"/>
                </a:solidFill>
                <a:effectLst/>
                <a:highlight>
                  <a:srgbClr val="FFFFFF"/>
                </a:highlight>
                <a:latin typeface="Söhne"/>
              </a:rPr>
              <a:t>Countplot</a:t>
            </a:r>
            <a:r>
              <a:rPr lang="en-GB" b="1" i="0" dirty="0">
                <a:solidFill>
                  <a:srgbClr val="0D0D0D"/>
                </a:solidFill>
                <a:effectLst/>
                <a:highlight>
                  <a:srgbClr val="FFFFFF"/>
                </a:highlight>
                <a:latin typeface="Söhne"/>
              </a:rPr>
              <a:t> - </a:t>
            </a:r>
            <a:r>
              <a:rPr lang="en-US" b="0" i="0" dirty="0">
                <a:solidFill>
                  <a:srgbClr val="0D0D0D"/>
                </a:solidFill>
                <a:effectLst/>
                <a:highlight>
                  <a:srgbClr val="FFFFFF"/>
                </a:highlight>
                <a:latin typeface="Söhne"/>
              </a:rPr>
              <a:t>The code segment creates a </a:t>
            </a:r>
            <a:r>
              <a:rPr lang="en-US" b="0" i="0" dirty="0" err="1">
                <a:solidFill>
                  <a:srgbClr val="0D0D0D"/>
                </a:solidFill>
                <a:effectLst/>
                <a:highlight>
                  <a:srgbClr val="FFFFFF"/>
                </a:highlight>
                <a:latin typeface="Söhne"/>
              </a:rPr>
              <a:t>countplot</a:t>
            </a:r>
            <a:r>
              <a:rPr lang="en-US" b="0" i="0" dirty="0">
                <a:solidFill>
                  <a:srgbClr val="0D0D0D"/>
                </a:solidFill>
                <a:effectLst/>
                <a:highlight>
                  <a:srgbClr val="FFFFFF"/>
                </a:highlight>
                <a:latin typeface="Söhne"/>
              </a:rPr>
              <a:t> to visualize the distribution of abnormal and normal websites based on the '</a:t>
            </a:r>
            <a:r>
              <a:rPr lang="en-US" b="0" i="0" dirty="0" err="1">
                <a:solidFill>
                  <a:srgbClr val="0D0D0D"/>
                </a:solidFill>
                <a:effectLst/>
                <a:highlight>
                  <a:srgbClr val="FFFFFF"/>
                </a:highlight>
                <a:latin typeface="Söhne"/>
              </a:rPr>
              <a:t>abnormal_url</a:t>
            </a:r>
            <a:r>
              <a:rPr lang="en-US" b="0" i="0" dirty="0">
                <a:solidFill>
                  <a:srgbClr val="0D0D0D"/>
                </a:solidFill>
                <a:effectLst/>
                <a:highlight>
                  <a:srgbClr val="FFFFFF"/>
                </a:highlight>
                <a:latin typeface="Söhne"/>
              </a:rPr>
              <a:t>' column</a:t>
            </a:r>
          </a:p>
          <a:p>
            <a:r>
              <a:rPr lang="en-GB" b="1" i="0" dirty="0" err="1">
                <a:solidFill>
                  <a:srgbClr val="0D0D0D"/>
                </a:solidFill>
                <a:effectLst/>
                <a:highlight>
                  <a:srgbClr val="FFFFFF"/>
                </a:highlight>
                <a:latin typeface="Söhne"/>
              </a:rPr>
              <a:t>Lable</a:t>
            </a:r>
            <a:r>
              <a:rPr lang="en-GB" b="1" i="0" dirty="0">
                <a:solidFill>
                  <a:srgbClr val="0D0D0D"/>
                </a:solidFill>
                <a:effectLst/>
                <a:highlight>
                  <a:srgbClr val="FFFFFF"/>
                </a:highlight>
                <a:latin typeface="Söhne"/>
              </a:rPr>
              <a:t> Bars with Counts(Amount) – </a:t>
            </a:r>
            <a:r>
              <a:rPr lang="en-GB" b="0" i="0" dirty="0">
                <a:solidFill>
                  <a:srgbClr val="0D0D0D"/>
                </a:solidFill>
                <a:effectLst/>
                <a:highlight>
                  <a:srgbClr val="FFFFFF"/>
                </a:highlight>
                <a:latin typeface="Söhne"/>
              </a:rPr>
              <a:t>Each bar is labelled with the amount of normal or abnormal counts</a:t>
            </a:r>
          </a:p>
          <a:p>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14</a:t>
            </a:fld>
            <a:endParaRPr lang="en-US"/>
          </a:p>
        </p:txBody>
      </p:sp>
    </p:spTree>
    <p:extLst>
      <p:ext uri="{BB962C8B-B14F-4D97-AF65-F5344CB8AC3E}">
        <p14:creationId xmlns:p14="http://schemas.microsoft.com/office/powerpoint/2010/main" val="1592401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0D0D0D"/>
                </a:solidFill>
                <a:effectLst/>
                <a:highlight>
                  <a:srgbClr val="FFFFFF"/>
                </a:highlight>
                <a:latin typeface="Söhne"/>
              </a:rPr>
              <a:t>Defining Functions - </a:t>
            </a:r>
            <a:r>
              <a:rPr lang="en-US" b="0" i="0" dirty="0">
                <a:solidFill>
                  <a:srgbClr val="0D0D0D"/>
                </a:solidFill>
                <a:effectLst/>
                <a:highlight>
                  <a:srgbClr val="FFFFFF"/>
                </a:highlight>
                <a:latin typeface="Söhne"/>
              </a:rPr>
              <a:t>Two functions, </a:t>
            </a:r>
            <a:r>
              <a:rPr lang="en-US" dirty="0" err="1"/>
              <a:t>digit_count</a:t>
            </a:r>
            <a:r>
              <a:rPr lang="en-US" b="0" i="0" dirty="0">
                <a:solidFill>
                  <a:srgbClr val="0D0D0D"/>
                </a:solidFill>
                <a:effectLst/>
                <a:highlight>
                  <a:srgbClr val="FFFFFF"/>
                </a:highlight>
                <a:latin typeface="Söhne"/>
              </a:rPr>
              <a:t> and </a:t>
            </a:r>
            <a:r>
              <a:rPr lang="en-US" dirty="0" err="1"/>
              <a:t>letter_count</a:t>
            </a:r>
            <a:r>
              <a:rPr lang="en-US" b="0" i="0" dirty="0">
                <a:solidFill>
                  <a:srgbClr val="0D0D0D"/>
                </a:solidFill>
                <a:effectLst/>
                <a:highlight>
                  <a:srgbClr val="FFFFFF"/>
                </a:highlight>
                <a:latin typeface="Söhne"/>
              </a:rPr>
              <a:t>, are defined to count the number of digits and letters in URLs, respectively.</a:t>
            </a:r>
          </a:p>
          <a:p>
            <a:r>
              <a:rPr lang="en-US" b="1" i="0" dirty="0">
                <a:solidFill>
                  <a:srgbClr val="0D0D0D"/>
                </a:solidFill>
                <a:effectLst/>
                <a:highlight>
                  <a:srgbClr val="FFFFFF"/>
                </a:highlight>
                <a:latin typeface="Söhne"/>
              </a:rPr>
              <a:t>Applying Functions to Create New Columns</a:t>
            </a:r>
            <a:r>
              <a:rPr lang="en-US" b="0" i="0" dirty="0">
                <a:solidFill>
                  <a:srgbClr val="0D0D0D"/>
                </a:solidFill>
                <a:effectLst/>
                <a:highlight>
                  <a:srgbClr val="FFFFFF"/>
                </a:highlight>
                <a:latin typeface="Söhne"/>
              </a:rPr>
              <a:t> - The functions are applied to each URL in the dataset to create new columns 'digits' and 'letters' representing the counts of digits and letters</a:t>
            </a:r>
          </a:p>
          <a:p>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15</a:t>
            </a:fld>
            <a:endParaRPr lang="en-US"/>
          </a:p>
        </p:txBody>
      </p:sp>
    </p:spTree>
    <p:extLst>
      <p:ext uri="{BB962C8B-B14F-4D97-AF65-F5344CB8AC3E}">
        <p14:creationId xmlns:p14="http://schemas.microsoft.com/office/powerpoint/2010/main" val="253593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0D0D0D"/>
                </a:solidFill>
                <a:effectLst/>
                <a:highlight>
                  <a:srgbClr val="FFFFFF"/>
                </a:highlight>
                <a:latin typeface="Söhne"/>
              </a:rPr>
              <a:t>Regular Expression Pattern - </a:t>
            </a:r>
            <a:r>
              <a:rPr lang="en-US" b="0" i="0" dirty="0">
                <a:solidFill>
                  <a:srgbClr val="0D0D0D"/>
                </a:solidFill>
                <a:effectLst/>
                <a:highlight>
                  <a:srgbClr val="FFFFFF"/>
                </a:highlight>
                <a:latin typeface="Söhne"/>
              </a:rPr>
              <a:t>The function uses a regular expression pattern to match common URL shortening service domains</a:t>
            </a:r>
          </a:p>
          <a:p>
            <a:r>
              <a:rPr lang="en-GB" b="1" i="0" dirty="0">
                <a:solidFill>
                  <a:srgbClr val="0D0D0D"/>
                </a:solidFill>
                <a:effectLst/>
                <a:highlight>
                  <a:srgbClr val="FFFFFF"/>
                </a:highlight>
                <a:latin typeface="Söhne"/>
              </a:rPr>
              <a:t>Function Definition</a:t>
            </a:r>
            <a:r>
              <a:rPr lang="en-US" b="0" i="0" dirty="0">
                <a:solidFill>
                  <a:srgbClr val="0D0D0D"/>
                </a:solidFill>
                <a:effectLst/>
                <a:highlight>
                  <a:srgbClr val="FFFFFF"/>
                </a:highlight>
                <a:latin typeface="Söhne"/>
              </a:rPr>
              <a:t> - The </a:t>
            </a:r>
            <a:r>
              <a:rPr lang="en-US" dirty="0" err="1"/>
              <a:t>shortening_service</a:t>
            </a:r>
            <a:r>
              <a:rPr lang="en-US" b="0" i="0" dirty="0">
                <a:solidFill>
                  <a:srgbClr val="0D0D0D"/>
                </a:solidFill>
                <a:effectLst/>
                <a:highlight>
                  <a:srgbClr val="FFFFFF"/>
                </a:highlight>
                <a:latin typeface="Söhne"/>
              </a:rPr>
              <a:t> function is defined to determine whether a given URL belongs to a URL shortening service</a:t>
            </a:r>
          </a:p>
          <a:p>
            <a:r>
              <a:rPr lang="en-US" b="1" i="0" dirty="0">
                <a:solidFill>
                  <a:srgbClr val="0D0D0D"/>
                </a:solidFill>
                <a:effectLst/>
                <a:highlight>
                  <a:srgbClr val="FFFFFF"/>
                </a:highlight>
                <a:latin typeface="Söhne"/>
              </a:rPr>
              <a:t>Applying Function to Create New Column</a:t>
            </a:r>
            <a:r>
              <a:rPr lang="en-US" b="0" i="0" dirty="0">
                <a:solidFill>
                  <a:srgbClr val="0D0D0D"/>
                </a:solidFill>
                <a:effectLst/>
                <a:highlight>
                  <a:srgbClr val="FFFFFF"/>
                </a:highlight>
                <a:latin typeface="Söhne"/>
              </a:rPr>
              <a:t> - The function is applied to each URL in the dataset to create a new column indicating whether the URL belongs to a shortening service.</a:t>
            </a:r>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16</a:t>
            </a:fld>
            <a:endParaRPr lang="en-US"/>
          </a:p>
        </p:txBody>
      </p:sp>
    </p:spTree>
    <p:extLst>
      <p:ext uri="{BB962C8B-B14F-4D97-AF65-F5344CB8AC3E}">
        <p14:creationId xmlns:p14="http://schemas.microsoft.com/office/powerpoint/2010/main" val="485176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solidFill>
                  <a:srgbClr val="0D0D0D"/>
                </a:solidFill>
                <a:effectLst/>
                <a:highlight>
                  <a:srgbClr val="FFFFFF"/>
                </a:highlight>
                <a:latin typeface="Söhne"/>
              </a:rPr>
              <a:t>Creating the </a:t>
            </a:r>
            <a:r>
              <a:rPr lang="en-GB" b="1" i="0" dirty="0" err="1">
                <a:solidFill>
                  <a:srgbClr val="0D0D0D"/>
                </a:solidFill>
                <a:effectLst/>
                <a:highlight>
                  <a:srgbClr val="FFFFFF"/>
                </a:highlight>
                <a:latin typeface="Söhne"/>
              </a:rPr>
              <a:t>Countplot</a:t>
            </a:r>
            <a:r>
              <a:rPr lang="en-GB" b="1" i="0" dirty="0">
                <a:solidFill>
                  <a:srgbClr val="0D0D0D"/>
                </a:solidFill>
                <a:effectLst/>
                <a:highlight>
                  <a:srgbClr val="FFFFFF"/>
                </a:highlight>
                <a:latin typeface="Söhne"/>
              </a:rPr>
              <a:t> - </a:t>
            </a:r>
            <a:r>
              <a:rPr lang="en-US" b="0" i="0" dirty="0">
                <a:solidFill>
                  <a:srgbClr val="0D0D0D"/>
                </a:solidFill>
                <a:effectLst/>
                <a:highlight>
                  <a:srgbClr val="FFFFFF"/>
                </a:highlight>
                <a:latin typeface="Söhne"/>
              </a:rPr>
              <a:t>The code segment creates a </a:t>
            </a:r>
            <a:r>
              <a:rPr lang="en-US" b="0" i="0" dirty="0" err="1">
                <a:solidFill>
                  <a:srgbClr val="0D0D0D"/>
                </a:solidFill>
                <a:effectLst/>
                <a:highlight>
                  <a:srgbClr val="FFFFFF"/>
                </a:highlight>
                <a:latin typeface="Söhne"/>
              </a:rPr>
              <a:t>countplot</a:t>
            </a:r>
            <a:r>
              <a:rPr lang="en-US" b="0" i="0" dirty="0">
                <a:solidFill>
                  <a:srgbClr val="0D0D0D"/>
                </a:solidFill>
                <a:effectLst/>
                <a:highlight>
                  <a:srgbClr val="FFFFFF"/>
                </a:highlight>
                <a:latin typeface="Söhne"/>
              </a:rPr>
              <a:t> to visualize the distribution of URLs with and without URL shortening services</a:t>
            </a:r>
            <a:endParaRPr lang="en-GB" b="0" i="0" dirty="0">
              <a:solidFill>
                <a:srgbClr val="0D0D0D"/>
              </a:solidFill>
              <a:effectLst/>
              <a:highlight>
                <a:srgbClr val="FFFFFF"/>
              </a:highlight>
              <a:latin typeface="Söhne"/>
            </a:endParaRPr>
          </a:p>
          <a:p>
            <a:pPr algn="l"/>
            <a:endParaRPr lang="en-GB"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Visualizing the distribution of URLs with and without URL shortening services helps understand the existence of shortening services in the dataset.</a:t>
            </a:r>
            <a:endParaRPr lang="en-GB" b="0" i="0" dirty="0">
              <a:solidFill>
                <a:srgbClr val="0D0D0D"/>
              </a:solidFill>
              <a:effectLst/>
              <a:highlight>
                <a:srgbClr val="FFFFFF"/>
              </a:highlight>
              <a:latin typeface="Söhne"/>
            </a:endParaRPr>
          </a:p>
        </p:txBody>
      </p:sp>
      <p:sp>
        <p:nvSpPr>
          <p:cNvPr id="4" name="Slide Number Placeholder 3"/>
          <p:cNvSpPr>
            <a:spLocks noGrp="1"/>
          </p:cNvSpPr>
          <p:nvPr>
            <p:ph type="sldNum" sz="quarter" idx="5"/>
          </p:nvPr>
        </p:nvSpPr>
        <p:spPr/>
        <p:txBody>
          <a:bodyPr/>
          <a:lstStyle/>
          <a:p>
            <a:fld id="{6983631C-9B29-4C7E-B9E8-78EB633DD8B6}" type="slidenum">
              <a:rPr lang="en-US" smtClean="0"/>
              <a:t>17</a:t>
            </a:fld>
            <a:endParaRPr lang="en-US"/>
          </a:p>
        </p:txBody>
      </p:sp>
    </p:spTree>
    <p:extLst>
      <p:ext uri="{BB962C8B-B14F-4D97-AF65-F5344CB8AC3E}">
        <p14:creationId xmlns:p14="http://schemas.microsoft.com/office/powerpoint/2010/main" val="37781586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0D0D0D"/>
                </a:solidFill>
                <a:effectLst/>
                <a:highlight>
                  <a:srgbClr val="FFFFFF"/>
                </a:highlight>
                <a:latin typeface="Söhne"/>
              </a:rPr>
              <a:t>Regular Expression Pattern - </a:t>
            </a:r>
            <a:r>
              <a:rPr lang="en-US" b="0" i="0" dirty="0">
                <a:solidFill>
                  <a:srgbClr val="0D0D0D"/>
                </a:solidFill>
                <a:effectLst/>
                <a:highlight>
                  <a:srgbClr val="FFFFFF"/>
                </a:highlight>
                <a:latin typeface="Söhne"/>
              </a:rPr>
              <a:t>The function uses a regular expression pattern to find potential IP addresses within URLs.</a:t>
            </a:r>
          </a:p>
          <a:p>
            <a:r>
              <a:rPr lang="en-US" b="1" i="0" dirty="0">
                <a:solidFill>
                  <a:srgbClr val="0D0D0D"/>
                </a:solidFill>
                <a:effectLst/>
                <a:highlight>
                  <a:srgbClr val="FFFFFF"/>
                </a:highlight>
                <a:latin typeface="Söhne"/>
              </a:rPr>
              <a:t>The </a:t>
            </a:r>
            <a:r>
              <a:rPr lang="en-US" b="1" dirty="0" err="1"/>
              <a:t>having_ip_address</a:t>
            </a:r>
            <a:r>
              <a:rPr lang="en-US" b="1" i="0" dirty="0">
                <a:solidFill>
                  <a:srgbClr val="0D0D0D"/>
                </a:solidFill>
                <a:effectLst/>
                <a:highlight>
                  <a:srgbClr val="FFFFFF"/>
                </a:highlight>
                <a:latin typeface="Söhne"/>
              </a:rPr>
              <a:t> function </a:t>
            </a:r>
            <a:r>
              <a:rPr lang="en-US" b="0" i="0" dirty="0">
                <a:solidFill>
                  <a:srgbClr val="0D0D0D"/>
                </a:solidFill>
                <a:effectLst/>
                <a:highlight>
                  <a:srgbClr val="FFFFFF"/>
                </a:highlight>
                <a:latin typeface="Söhne"/>
              </a:rPr>
              <a:t>is defined to determine whether a given URL contains an IP address.</a:t>
            </a:r>
          </a:p>
          <a:p>
            <a:r>
              <a:rPr lang="en-US" b="1" i="0" dirty="0">
                <a:solidFill>
                  <a:srgbClr val="0D0D0D"/>
                </a:solidFill>
                <a:effectLst/>
                <a:highlight>
                  <a:srgbClr val="FFFFFF"/>
                </a:highlight>
                <a:latin typeface="Söhne"/>
              </a:rPr>
              <a:t>Applying Function to Create New Column</a:t>
            </a:r>
            <a:r>
              <a:rPr lang="en-US" b="0" i="0" dirty="0">
                <a:solidFill>
                  <a:srgbClr val="0D0D0D"/>
                </a:solidFill>
                <a:effectLst/>
                <a:highlight>
                  <a:srgbClr val="FFFFFF"/>
                </a:highlight>
                <a:latin typeface="Söhne"/>
              </a:rPr>
              <a:t> - The function is applied to each URL in the dataset to create a new column indicating whether the URL contains an IP address.</a:t>
            </a:r>
            <a:endParaRPr lang="en-GB" dirty="0"/>
          </a:p>
        </p:txBody>
      </p:sp>
      <p:sp>
        <p:nvSpPr>
          <p:cNvPr id="4" name="Slide Number Placeholder 3"/>
          <p:cNvSpPr>
            <a:spLocks noGrp="1"/>
          </p:cNvSpPr>
          <p:nvPr>
            <p:ph type="sldNum" sz="quarter" idx="5"/>
          </p:nvPr>
        </p:nvSpPr>
        <p:spPr/>
        <p:txBody>
          <a:bodyPr/>
          <a:lstStyle/>
          <a:p>
            <a:fld id="{6983631C-9B29-4C7E-B9E8-78EB633DD8B6}" type="slidenum">
              <a:rPr lang="en-US" smtClean="0"/>
              <a:t>18</a:t>
            </a:fld>
            <a:endParaRPr lang="en-US"/>
          </a:p>
        </p:txBody>
      </p:sp>
    </p:spTree>
    <p:extLst>
      <p:ext uri="{BB962C8B-B14F-4D97-AF65-F5344CB8AC3E}">
        <p14:creationId xmlns:p14="http://schemas.microsoft.com/office/powerpoint/2010/main" val="3306818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SimSun" panose="02010600030101010101" pitchFamily="2" charset="-122"/>
              </a:rPr>
              <a:t>The aim of the study is to extract features from URL that could enable the researcher to classify a given </a:t>
            </a:r>
            <a:r>
              <a:rPr lang="en-US" sz="1800" dirty="0" err="1">
                <a:effectLst/>
                <a:latin typeface="Times New Roman" panose="02020603050405020304" pitchFamily="18" charset="0"/>
                <a:ea typeface="SimSun" panose="02010600030101010101" pitchFamily="2" charset="-122"/>
              </a:rPr>
              <a:t>url</a:t>
            </a:r>
            <a:r>
              <a:rPr lang="en-US" sz="1800" dirty="0">
                <a:effectLst/>
                <a:latin typeface="Times New Roman" panose="02020603050405020304" pitchFamily="18" charset="0"/>
                <a:ea typeface="SimSun" panose="02010600030101010101" pitchFamily="2" charset="-122"/>
              </a:rPr>
              <a:t> as either benign, or not benign. </a:t>
            </a:r>
            <a:endParaRPr lang="en-US" dirty="0"/>
          </a:p>
        </p:txBody>
      </p:sp>
      <p:sp>
        <p:nvSpPr>
          <p:cNvPr id="4" name="Slide Number Placeholder 3"/>
          <p:cNvSpPr>
            <a:spLocks noGrp="1"/>
          </p:cNvSpPr>
          <p:nvPr>
            <p:ph type="sldNum" sz="quarter" idx="5"/>
          </p:nvPr>
        </p:nvSpPr>
        <p:spPr/>
        <p:txBody>
          <a:bodyPr/>
          <a:lstStyle/>
          <a:p>
            <a:fld id="{6983631C-9B29-4C7E-B9E8-78EB633DD8B6}" type="slidenum">
              <a:rPr lang="en-US" smtClean="0"/>
              <a:t>20</a:t>
            </a:fld>
            <a:endParaRPr lang="en-US"/>
          </a:p>
        </p:txBody>
      </p:sp>
    </p:spTree>
    <p:extLst>
      <p:ext uri="{BB962C8B-B14F-4D97-AF65-F5344CB8AC3E}">
        <p14:creationId xmlns:p14="http://schemas.microsoft.com/office/powerpoint/2010/main" val="755359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gain compares the entropy of the dataset before and after a transformation. Mutual information calculates dependence between two variables and is the name given to information gain when applied to variable selection. </a:t>
            </a:r>
          </a:p>
        </p:txBody>
      </p:sp>
      <p:sp>
        <p:nvSpPr>
          <p:cNvPr id="4" name="Slide Number Placeholder 3"/>
          <p:cNvSpPr>
            <a:spLocks noGrp="1"/>
          </p:cNvSpPr>
          <p:nvPr>
            <p:ph type="sldNum" sz="quarter" idx="5"/>
          </p:nvPr>
        </p:nvSpPr>
        <p:spPr/>
        <p:txBody>
          <a:bodyPr/>
          <a:lstStyle/>
          <a:p>
            <a:fld id="{6983631C-9B29-4C7E-B9E8-78EB633DD8B6}" type="slidenum">
              <a:rPr lang="en-US" smtClean="0"/>
              <a:t>22</a:t>
            </a:fld>
            <a:endParaRPr lang="en-US"/>
          </a:p>
        </p:txBody>
      </p:sp>
    </p:spTree>
    <p:extLst>
      <p:ext uri="{BB962C8B-B14F-4D97-AF65-F5344CB8AC3E}">
        <p14:creationId xmlns:p14="http://schemas.microsoft.com/office/powerpoint/2010/main" val="32852558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SimSun" panose="02010600030101010101" pitchFamily="2" charset="-122"/>
              </a:rPr>
              <a:t>The study showed that the URLs varied greatly across the identified features. </a:t>
            </a:r>
            <a:endParaRPr lang="en-US" dirty="0"/>
          </a:p>
        </p:txBody>
      </p:sp>
      <p:sp>
        <p:nvSpPr>
          <p:cNvPr id="4" name="Slide Number Placeholder 3"/>
          <p:cNvSpPr>
            <a:spLocks noGrp="1"/>
          </p:cNvSpPr>
          <p:nvPr>
            <p:ph type="sldNum" sz="quarter" idx="5"/>
          </p:nvPr>
        </p:nvSpPr>
        <p:spPr/>
        <p:txBody>
          <a:bodyPr/>
          <a:lstStyle/>
          <a:p>
            <a:fld id="{6983631C-9B29-4C7E-B9E8-78EB633DD8B6}" type="slidenum">
              <a:rPr lang="en-US" smtClean="0"/>
              <a:t>23</a:t>
            </a:fld>
            <a:endParaRPr lang="en-US"/>
          </a:p>
        </p:txBody>
      </p:sp>
    </p:spTree>
    <p:extLst>
      <p:ext uri="{BB962C8B-B14F-4D97-AF65-F5344CB8AC3E}">
        <p14:creationId xmlns:p14="http://schemas.microsoft.com/office/powerpoint/2010/main" val="3395774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Calibri" panose="020F0502020204030204" pitchFamily="34" charset="0"/>
              </a:rPr>
              <a:t>The correlation assessed how the pairs of features correlated. Green color indicated strong correlation while pink color indicated no or weak correlation.</a:t>
            </a:r>
            <a:endParaRPr lang="en-US" dirty="0"/>
          </a:p>
        </p:txBody>
      </p:sp>
      <p:sp>
        <p:nvSpPr>
          <p:cNvPr id="4" name="Slide Number Placeholder 3"/>
          <p:cNvSpPr>
            <a:spLocks noGrp="1"/>
          </p:cNvSpPr>
          <p:nvPr>
            <p:ph type="sldNum" sz="quarter" idx="5"/>
          </p:nvPr>
        </p:nvSpPr>
        <p:spPr/>
        <p:txBody>
          <a:bodyPr/>
          <a:lstStyle/>
          <a:p>
            <a:fld id="{6983631C-9B29-4C7E-B9E8-78EB633DD8B6}" type="slidenum">
              <a:rPr lang="en-US" smtClean="0"/>
              <a:t>24</a:t>
            </a:fld>
            <a:endParaRPr lang="en-US"/>
          </a:p>
        </p:txBody>
      </p:sp>
    </p:spTree>
    <p:extLst>
      <p:ext uri="{BB962C8B-B14F-4D97-AF65-F5344CB8AC3E}">
        <p14:creationId xmlns:p14="http://schemas.microsoft.com/office/powerpoint/2010/main" val="19349709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Calibri" panose="020F0502020204030204" pitchFamily="34" charset="0"/>
              </a:rPr>
              <a:t>The values indicated the relative importance of each feature in making predictions. Hence, the most important features were those with the highest mutual information scores. </a:t>
            </a:r>
            <a:endParaRPr lang="en-US" dirty="0"/>
          </a:p>
        </p:txBody>
      </p:sp>
      <p:sp>
        <p:nvSpPr>
          <p:cNvPr id="4" name="Slide Number Placeholder 3"/>
          <p:cNvSpPr>
            <a:spLocks noGrp="1"/>
          </p:cNvSpPr>
          <p:nvPr>
            <p:ph type="sldNum" sz="quarter" idx="5"/>
          </p:nvPr>
        </p:nvSpPr>
        <p:spPr/>
        <p:txBody>
          <a:bodyPr/>
          <a:lstStyle/>
          <a:p>
            <a:fld id="{6983631C-9B29-4C7E-B9E8-78EB633DD8B6}" type="slidenum">
              <a:rPr lang="en-US" smtClean="0"/>
              <a:t>25</a:t>
            </a:fld>
            <a:endParaRPr lang="en-US"/>
          </a:p>
        </p:txBody>
      </p:sp>
    </p:spTree>
    <p:extLst>
      <p:ext uri="{BB962C8B-B14F-4D97-AF65-F5344CB8AC3E}">
        <p14:creationId xmlns:p14="http://schemas.microsoft.com/office/powerpoint/2010/main" val="78839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t>
            </a:r>
            <a:r>
              <a:rPr lang="en-US" dirty="0" err="1"/>
              <a:t>XGBoost</a:t>
            </a:r>
            <a:r>
              <a:rPr lang="en-US" dirty="0"/>
              <a:t> model; </a:t>
            </a:r>
            <a:r>
              <a:rPr lang="en-US" sz="1800" dirty="0">
                <a:effectLst/>
                <a:latin typeface="Times New Roman" panose="02020603050405020304" pitchFamily="18" charset="0"/>
                <a:ea typeface="SimSun" panose="02010600030101010101" pitchFamily="2" charset="-122"/>
              </a:rPr>
              <a:t>the model correctly predicted 89.75% of the cases. The study used the AUC-ROC to measure the model’s ability to distinguish between positive and negative cases. Values close to 0.5 represents random guess, while those close to 1.0 represents good discrimination. The analysis of the fitted </a:t>
            </a:r>
            <a:r>
              <a:rPr lang="en-US" sz="1800" dirty="0" err="1">
                <a:effectLst/>
                <a:latin typeface="Times New Roman" panose="02020603050405020304" pitchFamily="18" charset="0"/>
                <a:ea typeface="SimSun" panose="02010600030101010101" pitchFamily="2" charset="-122"/>
              </a:rPr>
              <a:t>XGBoost</a:t>
            </a:r>
            <a:r>
              <a:rPr lang="en-US" sz="1800" dirty="0">
                <a:effectLst/>
                <a:latin typeface="Times New Roman" panose="02020603050405020304" pitchFamily="18" charset="0"/>
                <a:ea typeface="SimSun" panose="02010600030101010101" pitchFamily="2" charset="-122"/>
              </a:rPr>
              <a:t> model produced an AUC-ROC score of 0.9711, suggesting a good discriminatory power. Also, the study used precision to indicate the proportion of true positive predictions among all positive predictions. The value was important as it measured the number of positive instances were predicted as positive [2]. The analysis of the </a:t>
            </a:r>
            <a:r>
              <a:rPr lang="en-US" sz="1800" dirty="0" err="1">
                <a:effectLst/>
                <a:latin typeface="Times New Roman" panose="02020603050405020304" pitchFamily="18" charset="0"/>
                <a:ea typeface="SimSun" panose="02010600030101010101" pitchFamily="2" charset="-122"/>
              </a:rPr>
              <a:t>XGBoost</a:t>
            </a:r>
            <a:r>
              <a:rPr lang="en-US" sz="1800" dirty="0">
                <a:effectLst/>
                <a:latin typeface="Times New Roman" panose="02020603050405020304" pitchFamily="18" charset="0"/>
                <a:ea typeface="SimSun" panose="02010600030101010101" pitchFamily="2" charset="-122"/>
              </a:rPr>
              <a:t> model produced a precision of 0.8913 indicating that about 89.13% of the predicted positives were actually positive. Further, the analysis produced a recall (sensitivity) score of 0.8975. The recall value indicated that the proportion of true positive predictions among all actual positives was 89.75%. The harmonic mean of precision and recall was measured using the F1 score. The analysis produced an F1 score of 89.11%. The value was high indicating a high performance of the </a:t>
            </a:r>
            <a:r>
              <a:rPr lang="en-US" sz="1800" dirty="0" err="1">
                <a:effectLst/>
                <a:latin typeface="Times New Roman" panose="02020603050405020304" pitchFamily="18" charset="0"/>
                <a:ea typeface="SimSun" panose="02010600030101010101" pitchFamily="2" charset="-122"/>
              </a:rPr>
              <a:t>XGBoost</a:t>
            </a:r>
            <a:r>
              <a:rPr lang="en-US" sz="1800" dirty="0">
                <a:effectLst/>
                <a:latin typeface="Times New Roman" panose="02020603050405020304" pitchFamily="18" charset="0"/>
                <a:ea typeface="SimSun" panose="02010600030101010101" pitchFamily="2" charset="-122"/>
              </a:rPr>
              <a:t> model.</a:t>
            </a:r>
          </a:p>
          <a:p>
            <a:r>
              <a:rPr lang="en-US" sz="1800" dirty="0">
                <a:effectLst/>
                <a:latin typeface="Times New Roman" panose="02020603050405020304" pitchFamily="18" charset="0"/>
                <a:ea typeface="SimSun" panose="02010600030101010101" pitchFamily="2" charset="-122"/>
              </a:rPr>
              <a:t>Conversely, for the Random Forest Model, the study produced an accuracy score of 0.9189, implying that the Random Forest model correctly predicted 91.89% of the cases. The study used the AUC-ROC to measure the model’s ability to distinguish between positive and negative cases. Values close to 0.5 represents random guess, while those close to 1.0 represents good discrimination. The analysis of the fitted Random Forest model produced an AUC-ROC score of 0.9758, suggesting a good discriminatory power. Also, the study used precision to indicate the proportion of true positive predictions among all positive predictions. The value was important as it measured the number of positive instances were predicted as positive. The analysis of the Random Forest model produced a precision of 0.9156 indicating that about 91.56% of the predicted positives were actually positive. Further, the analysis produced a recall (sensitivity) score of 0.9189. The recall value indicated that the proportion of true positive predictions among all actual positives was 91.89%. The harmonic mean of precision and recall was measured using the F1 score. The analysis produced an F1 score of 91.63%. The value was high indicating a high performance of the Random Forest model.</a:t>
            </a:r>
            <a:endParaRPr lang="en-US" dirty="0"/>
          </a:p>
        </p:txBody>
      </p:sp>
      <p:sp>
        <p:nvSpPr>
          <p:cNvPr id="4" name="Slide Number Placeholder 3"/>
          <p:cNvSpPr>
            <a:spLocks noGrp="1"/>
          </p:cNvSpPr>
          <p:nvPr>
            <p:ph type="sldNum" sz="quarter" idx="5"/>
          </p:nvPr>
        </p:nvSpPr>
        <p:spPr/>
        <p:txBody>
          <a:bodyPr/>
          <a:lstStyle/>
          <a:p>
            <a:fld id="{6983631C-9B29-4C7E-B9E8-78EB633DD8B6}" type="slidenum">
              <a:rPr lang="en-US" smtClean="0"/>
              <a:t>26</a:t>
            </a:fld>
            <a:endParaRPr lang="en-US"/>
          </a:p>
        </p:txBody>
      </p:sp>
    </p:spTree>
    <p:extLst>
      <p:ext uri="{BB962C8B-B14F-4D97-AF65-F5344CB8AC3E}">
        <p14:creationId xmlns:p14="http://schemas.microsoft.com/office/powerpoint/2010/main" val="3683941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analysis showed that Random Forest Model was a better prediction model than </a:t>
            </a:r>
            <a:r>
              <a:rPr lang="en-US" dirty="0" err="1"/>
              <a:t>XGBoost</a:t>
            </a:r>
            <a:r>
              <a:rPr lang="en-US" dirty="0"/>
              <a:t> model. </a:t>
            </a:r>
          </a:p>
        </p:txBody>
      </p:sp>
      <p:sp>
        <p:nvSpPr>
          <p:cNvPr id="4" name="Slide Number Placeholder 3"/>
          <p:cNvSpPr>
            <a:spLocks noGrp="1"/>
          </p:cNvSpPr>
          <p:nvPr>
            <p:ph type="sldNum" sz="quarter" idx="5"/>
          </p:nvPr>
        </p:nvSpPr>
        <p:spPr/>
        <p:txBody>
          <a:bodyPr/>
          <a:lstStyle/>
          <a:p>
            <a:fld id="{6983631C-9B29-4C7E-B9E8-78EB633DD8B6}" type="slidenum">
              <a:rPr lang="en-US" smtClean="0"/>
              <a:t>27</a:t>
            </a:fld>
            <a:endParaRPr lang="en-US"/>
          </a:p>
        </p:txBody>
      </p:sp>
    </p:spTree>
    <p:extLst>
      <p:ext uri="{BB962C8B-B14F-4D97-AF65-F5344CB8AC3E}">
        <p14:creationId xmlns:p14="http://schemas.microsoft.com/office/powerpoint/2010/main" val="4215349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FF962593-082C-46F1-AA8D-2A57FDE8142E}" type="datetimeFigureOut">
              <a:rPr lang="en-GB" smtClean="0"/>
              <a:t>24/04/2024</a:t>
            </a:fld>
            <a:endParaRPr lang="en-GB"/>
          </a:p>
        </p:txBody>
      </p:sp>
      <p:sp>
        <p:nvSpPr>
          <p:cNvPr id="5" name="Footer Placeholder 4"/>
          <p:cNvSpPr>
            <a:spLocks noGrp="1"/>
          </p:cNvSpPr>
          <p:nvPr>
            <p:ph type="ftr" sz="quarter" idx="11"/>
          </p:nvPr>
        </p:nvSpPr>
        <p:spPr>
          <a:xfrm>
            <a:off x="2416500" y="329307"/>
            <a:ext cx="4973915" cy="309201"/>
          </a:xfrm>
        </p:spPr>
        <p:txBody>
          <a:bodyPr/>
          <a:lstStyle/>
          <a:p>
            <a:endParaRPr lang="en-GB"/>
          </a:p>
        </p:txBody>
      </p:sp>
      <p:sp>
        <p:nvSpPr>
          <p:cNvPr id="6" name="Slide Number Placeholder 5"/>
          <p:cNvSpPr>
            <a:spLocks noGrp="1"/>
          </p:cNvSpPr>
          <p:nvPr>
            <p:ph type="sldNum" sz="quarter" idx="12"/>
          </p:nvPr>
        </p:nvSpPr>
        <p:spPr>
          <a:xfrm>
            <a:off x="1437664" y="798973"/>
            <a:ext cx="811019" cy="503578"/>
          </a:xfrm>
        </p:spPr>
        <p:txBody>
          <a:bodyPr/>
          <a:lstStyle/>
          <a:p>
            <a:fld id="{7D6514CE-C3DF-409D-AC31-4168611B998F}" type="slidenum">
              <a:rPr lang="en-GB" smtClean="0"/>
              <a:t>‹#›</a:t>
            </a:fld>
            <a:endParaRPr lang="en-GB"/>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1997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F962593-082C-46F1-AA8D-2A57FDE8142E}" type="datetimeFigureOut">
              <a:rPr lang="en-GB" smtClean="0"/>
              <a:t>24/04/2024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6514CE-C3DF-409D-AC31-4168611B998F}" type="slidenum">
              <a:rPr lang="en-GB" smtClean="0"/>
              <a:t>‹#›</a:t>
            </a:fld>
            <a:endParaRPr lang="en-GB"/>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7124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F962593-082C-46F1-AA8D-2A57FDE8142E}" type="datetimeFigureOut">
              <a:rPr lang="en-GB" smtClean="0"/>
              <a:t>24/04/2024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6514CE-C3DF-409D-AC31-4168611B998F}" type="slidenum">
              <a:rPr lang="en-GB" smtClean="0"/>
              <a:t>‹#›</a:t>
            </a:fld>
            <a:endParaRPr lang="en-GB"/>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47661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F962593-082C-46F1-AA8D-2A57FDE8142E}" type="datetimeFigureOut">
              <a:rPr lang="en-GB" smtClean="0"/>
              <a:t>24/04/2024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D6514CE-C3DF-409D-AC31-4168611B998F}" type="slidenum">
              <a:rPr lang="en-GB" smtClean="0"/>
              <a:t>‹#›</a:t>
            </a:fld>
            <a:endParaRPr lang="en-GB"/>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903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F962593-082C-46F1-AA8D-2A57FDE8142E}" type="datetimeFigureOut">
              <a:rPr lang="en-GB" smtClean="0"/>
              <a:t>24/04/2024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D6514CE-C3DF-409D-AC31-4168611B998F}" type="slidenum">
              <a:rPr lang="en-GB" smtClean="0"/>
              <a:t>‹#›</a:t>
            </a:fld>
            <a:endParaRPr lang="en-GB"/>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77245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F962593-082C-46F1-AA8D-2A57FDE8142E}" type="datetimeFigureOut">
              <a:rPr lang="en-GB" smtClean="0"/>
              <a:t>24/04/2024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D6514CE-C3DF-409D-AC31-4168611B998F}" type="slidenum">
              <a:rPr lang="en-GB" smtClean="0"/>
              <a:t>‹#›</a:t>
            </a:fld>
            <a:endParaRPr lang="en-GB"/>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49304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962593-082C-46F1-AA8D-2A57FDE8142E}" type="datetimeFigureOut">
              <a:rPr lang="en-GB" smtClean="0"/>
              <a:t>24/04/2024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D6514CE-C3DF-409D-AC31-4168611B998F}" type="slidenum">
              <a:rPr lang="en-GB" smtClean="0"/>
              <a:t>‹#›</a:t>
            </a:fld>
            <a:endParaRPr lang="en-GB"/>
          </a:p>
        </p:txBody>
      </p:sp>
    </p:spTree>
    <p:extLst>
      <p:ext uri="{BB962C8B-B14F-4D97-AF65-F5344CB8AC3E}">
        <p14:creationId xmlns:p14="http://schemas.microsoft.com/office/powerpoint/2010/main" val="1014901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F962593-082C-46F1-AA8D-2A57FDE8142E}" type="datetimeFigureOut">
              <a:rPr lang="en-GB" smtClean="0"/>
              <a:t>24/04/2024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D6514CE-C3DF-409D-AC31-4168611B998F}" type="slidenum">
              <a:rPr lang="en-GB" smtClean="0"/>
              <a:t>‹#›</a:t>
            </a:fld>
            <a:endParaRPr lang="en-GB"/>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21613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F962593-082C-46F1-AA8D-2A57FDE8142E}" type="datetimeFigureOut">
              <a:rPr lang="en-GB" smtClean="0"/>
              <a:t>24/04/2024</a:t>
            </a:fld>
            <a:endParaRPr lang="en-GB"/>
          </a:p>
        </p:txBody>
      </p:sp>
      <p:sp>
        <p:nvSpPr>
          <p:cNvPr id="6" name="Footer Placeholder 5"/>
          <p:cNvSpPr>
            <a:spLocks noGrp="1"/>
          </p:cNvSpPr>
          <p:nvPr>
            <p:ph type="ftr" sz="quarter" idx="11"/>
          </p:nvPr>
        </p:nvSpPr>
        <p:spPr>
          <a:xfrm>
            <a:off x="1447382" y="318640"/>
            <a:ext cx="5541004" cy="320931"/>
          </a:xfrm>
        </p:spPr>
        <p:txBody>
          <a:bodyPr/>
          <a:lstStyle/>
          <a:p>
            <a:endParaRPr lang="en-GB"/>
          </a:p>
        </p:txBody>
      </p:sp>
      <p:sp>
        <p:nvSpPr>
          <p:cNvPr id="7" name="Slide Number Placeholder 6"/>
          <p:cNvSpPr>
            <a:spLocks noGrp="1"/>
          </p:cNvSpPr>
          <p:nvPr>
            <p:ph type="sldNum" sz="quarter" idx="12"/>
          </p:nvPr>
        </p:nvSpPr>
        <p:spPr/>
        <p:txBody>
          <a:bodyPr/>
          <a:lstStyle/>
          <a:p>
            <a:fld id="{7D6514CE-C3DF-409D-AC31-4168611B998F}" type="slidenum">
              <a:rPr lang="en-GB" smtClean="0"/>
              <a:t>‹#›</a:t>
            </a:fld>
            <a:endParaRPr lang="en-GB"/>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43300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F962593-082C-46F1-AA8D-2A57FDE8142E}" type="datetimeFigureOut">
              <a:rPr lang="en-GB" smtClean="0"/>
              <a:t>24/04/2024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6514CE-C3DF-409D-AC31-4168611B998F}" type="slidenum">
              <a:rPr lang="en-GB" smtClean="0"/>
              <a:t>‹#›</a:t>
            </a:fld>
            <a:endParaRPr lang="en-GB"/>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3476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F962593-082C-46F1-AA8D-2A57FDE8142E}" type="datetimeFigureOut">
              <a:rPr lang="en-GB" smtClean="0"/>
              <a:t>24/04/2024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6514CE-C3DF-409D-AC31-4168611B998F}" type="slidenum">
              <a:rPr lang="en-GB" smtClean="0"/>
              <a:t>‹#›</a:t>
            </a:fld>
            <a:endParaRPr lang="en-GB"/>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72101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F962593-082C-46F1-AA8D-2A57FDE8142E}" type="datetimeFigureOut">
              <a:rPr lang="en-GB" smtClean="0"/>
              <a:t>24/04/2024</a:t>
            </a:fld>
            <a:endParaRPr lang="en-GB"/>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D6514CE-C3DF-409D-AC31-4168611B998F}" type="slidenum">
              <a:rPr lang="en-GB" smtClean="0"/>
              <a:t>‹#›</a:t>
            </a:fld>
            <a:endParaRPr lang="en-GB"/>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5389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301A8-1BE1-AD6B-A86E-97BFAE1914CA}"/>
              </a:ext>
            </a:extLst>
          </p:cNvPr>
          <p:cNvSpPr>
            <a:spLocks noGrp="1"/>
          </p:cNvSpPr>
          <p:nvPr>
            <p:ph type="ctrTitle"/>
          </p:nvPr>
        </p:nvSpPr>
        <p:spPr>
          <a:xfrm>
            <a:off x="337351" y="838200"/>
            <a:ext cx="11585360" cy="1866900"/>
          </a:xfrm>
        </p:spPr>
        <p:txBody>
          <a:bodyPr>
            <a:normAutofit/>
          </a:bodyPr>
          <a:lstStyle/>
          <a:p>
            <a:pPr marL="0" marR="0" algn="ctr">
              <a:lnSpc>
                <a:spcPct val="115000"/>
              </a:lnSpc>
              <a:spcBef>
                <a:spcPts val="0"/>
              </a:spcBef>
              <a:spcAft>
                <a:spcPts val="0"/>
              </a:spcAft>
            </a:pPr>
            <a:r>
              <a:rPr lang="en-US" sz="1800" b="1" dirty="0">
                <a:effectLst/>
                <a:latin typeface="Times New Roman" panose="02020603050405020304" pitchFamily="18" charset="0"/>
                <a:ea typeface="SimSun" panose="02010600030101010101" pitchFamily="2" charset="-122"/>
              </a:rPr>
              <a:t>Detecting Cyber-Attacks through URL Analysis: A Machine Learning Approach</a:t>
            </a:r>
            <a:endParaRPr lang="en-US" sz="1800" dirty="0">
              <a:effectLst/>
              <a:latin typeface="Times New Roman" panose="02020603050405020304" pitchFamily="18" charset="0"/>
              <a:ea typeface="SimSun" panose="02010600030101010101" pitchFamily="2" charset="-122"/>
            </a:endParaRPr>
          </a:p>
        </p:txBody>
      </p:sp>
      <p:sp>
        <p:nvSpPr>
          <p:cNvPr id="3" name="Subtitle 2">
            <a:extLst>
              <a:ext uri="{FF2B5EF4-FFF2-40B4-BE49-F238E27FC236}">
                <a16:creationId xmlns:a16="http://schemas.microsoft.com/office/drawing/2014/main" id="{2B1135D3-A031-CE2E-6F50-9146C172298E}"/>
              </a:ext>
            </a:extLst>
          </p:cNvPr>
          <p:cNvSpPr>
            <a:spLocks noGrp="1"/>
          </p:cNvSpPr>
          <p:nvPr>
            <p:ph type="subTitle" idx="1"/>
          </p:nvPr>
        </p:nvSpPr>
        <p:spPr>
          <a:xfrm>
            <a:off x="2417780" y="3514272"/>
            <a:ext cx="8637072" cy="1998761"/>
          </a:xfrm>
        </p:spPr>
        <p:txBody>
          <a:bodyPr>
            <a:normAutofit/>
          </a:bodyPr>
          <a:lstStyle/>
          <a:p>
            <a:pPr marL="0" marR="0" algn="ctr">
              <a:lnSpc>
                <a:spcPct val="200000"/>
              </a:lnSpc>
              <a:spcBef>
                <a:spcPts val="0"/>
              </a:spcBef>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Name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lvl="1"/>
            <a:endParaRPr lang="en-US" sz="2400" dirty="0">
              <a:latin typeface="Gill Sans MT (Body)"/>
            </a:endParaRPr>
          </a:p>
          <a:p>
            <a:pPr algn="ctr"/>
            <a:r>
              <a:rPr lang="en-US" sz="2400" b="1" dirty="0">
                <a:latin typeface="Gill Sans MT (Body)"/>
              </a:rPr>
              <a:t>2024 </a:t>
            </a:r>
            <a:endParaRPr lang="en-GB" sz="2400" b="1" dirty="0">
              <a:latin typeface="Gill Sans MT (Body)"/>
            </a:endParaRPr>
          </a:p>
        </p:txBody>
      </p:sp>
    </p:spTree>
    <p:extLst>
      <p:ext uri="{BB962C8B-B14F-4D97-AF65-F5344CB8AC3E}">
        <p14:creationId xmlns:p14="http://schemas.microsoft.com/office/powerpoint/2010/main" val="4249720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8494" y="534356"/>
            <a:ext cx="9603275" cy="1049235"/>
          </a:xfrm>
        </p:spPr>
        <p:txBody>
          <a:bodyPr/>
          <a:lstStyle/>
          <a:p>
            <a:pPr algn="ctr"/>
            <a:r>
              <a:rPr lang="en-US" b="1" dirty="0"/>
              <a:t>Introduction</a:t>
            </a:r>
          </a:p>
        </p:txBody>
      </p:sp>
      <p:sp>
        <p:nvSpPr>
          <p:cNvPr id="3" name="Content Placeholder 2"/>
          <p:cNvSpPr>
            <a:spLocks noGrp="1"/>
          </p:cNvSpPr>
          <p:nvPr>
            <p:ph idx="1"/>
          </p:nvPr>
        </p:nvSpPr>
        <p:spPr>
          <a:xfrm>
            <a:off x="512957" y="1853754"/>
            <a:ext cx="11028556" cy="3967183"/>
          </a:xfrm>
        </p:spPr>
        <p:txBody>
          <a:bodyPr>
            <a:noAutofit/>
          </a:bodyPr>
          <a:lstStyle/>
          <a:p>
            <a:r>
              <a:rPr lang="en-US" sz="1800" dirty="0">
                <a:effectLst/>
                <a:latin typeface="Times New Roman" panose="02020603050405020304" pitchFamily="18" charset="0"/>
                <a:ea typeface="SimSun" panose="02010600030101010101" pitchFamily="2" charset="-122"/>
              </a:rPr>
              <a:t>The internet has become a growing part of people’s social lives and has shaped people’s lifestyles, significantly [1]. </a:t>
            </a:r>
          </a:p>
          <a:p>
            <a:r>
              <a:rPr lang="en-US" sz="1800" dirty="0">
                <a:effectLst/>
                <a:latin typeface="Times New Roman" panose="02020603050405020304" pitchFamily="18" charset="0"/>
                <a:ea typeface="SimSun" panose="02010600030101010101" pitchFamily="2" charset="-122"/>
              </a:rPr>
              <a:t>The vital infrastructures of governments are integrated with the internet, and the internet has become a critical source of socioeconomic growth. </a:t>
            </a:r>
          </a:p>
          <a:p>
            <a:r>
              <a:rPr lang="en-US" sz="1800" dirty="0">
                <a:effectLst/>
                <a:latin typeface="Times New Roman" panose="02020603050405020304" pitchFamily="18" charset="0"/>
                <a:ea typeface="SimSun" panose="02010600030101010101" pitchFamily="2" charset="-122"/>
              </a:rPr>
              <a:t>However, the deepening and expansion of internet structures exposes users to new threats, whose diversity is constantly increasing. </a:t>
            </a:r>
          </a:p>
          <a:p>
            <a:r>
              <a:rPr lang="en-US" sz="1800" dirty="0">
                <a:effectLst/>
                <a:latin typeface="Times New Roman" panose="02020603050405020304" pitchFamily="18" charset="0"/>
                <a:ea typeface="SimSun" panose="02010600030101010101" pitchFamily="2" charset="-122"/>
              </a:rPr>
              <a:t>Hence, there is a growing need of developing models that can detect these threats in network traffic. One approach of detecting and preventing threats is through Machine Learning. </a:t>
            </a:r>
          </a:p>
          <a:p>
            <a:r>
              <a:rPr lang="en-US" sz="1800" dirty="0">
                <a:effectLst/>
                <a:latin typeface="Times New Roman" panose="02020603050405020304" pitchFamily="18" charset="0"/>
                <a:ea typeface="SimSun" panose="02010600030101010101" pitchFamily="2" charset="-122"/>
              </a:rPr>
              <a:t>Machine Learning algorithms are mathematical models that are used for classification, clustering, and regression problems.</a:t>
            </a:r>
            <a:endParaRPr lang="en-US" sz="1800" dirty="0">
              <a:effectLst/>
              <a:latin typeface="Gill Sans MT (Body)"/>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06478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3C1D9-63F3-A294-F84A-B0DE716E9C79}"/>
              </a:ext>
            </a:extLst>
          </p:cNvPr>
          <p:cNvSpPr>
            <a:spLocks noGrp="1"/>
          </p:cNvSpPr>
          <p:nvPr>
            <p:ph type="title"/>
          </p:nvPr>
        </p:nvSpPr>
        <p:spPr/>
        <p:txBody>
          <a:bodyPr/>
          <a:lstStyle/>
          <a:p>
            <a:endParaRPr lang="en-GB"/>
          </a:p>
        </p:txBody>
      </p:sp>
      <p:sp>
        <p:nvSpPr>
          <p:cNvPr id="3" name="Picture Placeholder 2">
            <a:extLst>
              <a:ext uri="{FF2B5EF4-FFF2-40B4-BE49-F238E27FC236}">
                <a16:creationId xmlns:a16="http://schemas.microsoft.com/office/drawing/2014/main" id="{BAB12FD5-A87C-113E-16CD-3AF972246B81}"/>
              </a:ext>
            </a:extLst>
          </p:cNvPr>
          <p:cNvSpPr>
            <a:spLocks noGrp="1"/>
          </p:cNvSpPr>
          <p:nvPr>
            <p:ph type="pic" idx="1"/>
          </p:nvPr>
        </p:nvSpPr>
        <p:spPr/>
        <p:txBody>
          <a:bodyPr/>
          <a:lstStyle/>
          <a:p>
            <a:endParaRPr lang="en-GB"/>
          </a:p>
        </p:txBody>
      </p:sp>
      <p:sp>
        <p:nvSpPr>
          <p:cNvPr id="4" name="Text Placeholder 3">
            <a:extLst>
              <a:ext uri="{FF2B5EF4-FFF2-40B4-BE49-F238E27FC236}">
                <a16:creationId xmlns:a16="http://schemas.microsoft.com/office/drawing/2014/main" id="{7A0AE0EA-8EF9-B603-3A06-2AAE4480B08F}"/>
              </a:ext>
            </a:extLst>
          </p:cNvPr>
          <p:cNvSpPr>
            <a:spLocks noGrp="1"/>
          </p:cNvSpPr>
          <p:nvPr>
            <p:ph type="body" sz="half" idx="2"/>
          </p:nvPr>
        </p:nvSpPr>
        <p:spPr/>
        <p:txBody>
          <a:bodyPr/>
          <a:lstStyle/>
          <a:p>
            <a:endParaRPr lang="en-GB"/>
          </a:p>
        </p:txBody>
      </p:sp>
    </p:spTree>
    <p:extLst>
      <p:ext uri="{BB962C8B-B14F-4D97-AF65-F5344CB8AC3E}">
        <p14:creationId xmlns:p14="http://schemas.microsoft.com/office/powerpoint/2010/main" val="3886516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2ACE-ECF6-8BD2-5E22-A8F6B91DA9D0}"/>
              </a:ext>
            </a:extLst>
          </p:cNvPr>
          <p:cNvSpPr>
            <a:spLocks noGrp="1"/>
          </p:cNvSpPr>
          <p:nvPr>
            <p:ph type="title"/>
          </p:nvPr>
        </p:nvSpPr>
        <p:spPr/>
        <p:txBody>
          <a:bodyPr/>
          <a:lstStyle/>
          <a:p>
            <a:r>
              <a:rPr lang="en-GB" dirty="0"/>
              <a:t>Importing Libraries</a:t>
            </a:r>
          </a:p>
        </p:txBody>
      </p:sp>
      <p:sp>
        <p:nvSpPr>
          <p:cNvPr id="3" name="Content Placeholder 2">
            <a:extLst>
              <a:ext uri="{FF2B5EF4-FFF2-40B4-BE49-F238E27FC236}">
                <a16:creationId xmlns:a16="http://schemas.microsoft.com/office/drawing/2014/main" id="{3956A092-04A0-2EF1-BF53-D595814190C9}"/>
              </a:ext>
            </a:extLst>
          </p:cNvPr>
          <p:cNvSpPr>
            <a:spLocks noGrp="1"/>
          </p:cNvSpPr>
          <p:nvPr>
            <p:ph sz="half" idx="1"/>
          </p:nvPr>
        </p:nvSpPr>
        <p:spPr/>
        <p:txBody>
          <a:bodyPr>
            <a:normAutofit fontScale="55000" lnSpcReduction="20000"/>
          </a:bodyPr>
          <a:lstStyle/>
          <a:p>
            <a:r>
              <a:rPr lang="en-GB" b="0" dirty="0">
                <a:solidFill>
                  <a:srgbClr val="AF00DB"/>
                </a:solidFill>
                <a:effectLst/>
                <a:highlight>
                  <a:srgbClr val="F7F7F7"/>
                </a:highlight>
                <a:latin typeface="Courier New" panose="02070309020205020404" pitchFamily="49" charset="0"/>
              </a:rPr>
              <a:t>import</a:t>
            </a:r>
            <a:r>
              <a:rPr lang="en-GB" b="0" dirty="0">
                <a:solidFill>
                  <a:srgbClr val="000000"/>
                </a:solidFill>
                <a:effectLst/>
                <a:highlight>
                  <a:srgbClr val="F7F7F7"/>
                </a:highlight>
                <a:latin typeface="Courier New" panose="02070309020205020404" pitchFamily="49" charset="0"/>
              </a:rPr>
              <a:t> re </a:t>
            </a:r>
            <a:r>
              <a:rPr lang="en-GB" b="0" dirty="0">
                <a:solidFill>
                  <a:srgbClr val="008000"/>
                </a:solidFill>
                <a:effectLst/>
                <a:highlight>
                  <a:srgbClr val="F7F7F7"/>
                </a:highlight>
                <a:latin typeface="Courier New" panose="02070309020205020404" pitchFamily="49" charset="0"/>
              </a:rPr>
              <a:t># regex</a:t>
            </a:r>
            <a:endParaRPr lang="en-GB" b="0" dirty="0">
              <a:solidFill>
                <a:srgbClr val="000000"/>
              </a:solidFill>
              <a:effectLst/>
              <a:highlight>
                <a:srgbClr val="F7F7F7"/>
              </a:highlight>
              <a:latin typeface="Courier New" panose="02070309020205020404" pitchFamily="49" charset="0"/>
            </a:endParaRPr>
          </a:p>
          <a:p>
            <a:r>
              <a:rPr lang="en-GB" b="0" dirty="0">
                <a:solidFill>
                  <a:srgbClr val="AF00DB"/>
                </a:solidFill>
                <a:effectLst/>
                <a:highlight>
                  <a:srgbClr val="F7F7F7"/>
                </a:highlight>
                <a:latin typeface="Courier New" panose="02070309020205020404" pitchFamily="49" charset="0"/>
              </a:rPr>
              <a:t>from</a:t>
            </a:r>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urllib.parse</a:t>
            </a:r>
            <a:r>
              <a:rPr lang="en-GB" b="0" dirty="0">
                <a:solidFill>
                  <a:srgbClr val="000000"/>
                </a:solidFill>
                <a:effectLst/>
                <a:highlight>
                  <a:srgbClr val="F7F7F7"/>
                </a:highlight>
                <a:latin typeface="Courier New" panose="02070309020205020404" pitchFamily="49" charset="0"/>
              </a:rPr>
              <a:t> </a:t>
            </a:r>
            <a:r>
              <a:rPr lang="en-GB" b="0" dirty="0">
                <a:solidFill>
                  <a:srgbClr val="AF00DB"/>
                </a:solidFill>
                <a:effectLst/>
                <a:highlight>
                  <a:srgbClr val="F7F7F7"/>
                </a:highlight>
                <a:latin typeface="Courier New" panose="02070309020205020404" pitchFamily="49" charset="0"/>
              </a:rPr>
              <a:t>import</a:t>
            </a:r>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urlparse</a:t>
            </a:r>
            <a:endParaRPr lang="en-GB" b="0" dirty="0">
              <a:solidFill>
                <a:srgbClr val="000000"/>
              </a:solidFill>
              <a:effectLst/>
              <a:highlight>
                <a:srgbClr val="F7F7F7"/>
              </a:highlight>
              <a:latin typeface="Courier New" panose="02070309020205020404" pitchFamily="49" charset="0"/>
            </a:endParaRPr>
          </a:p>
          <a:p>
            <a:r>
              <a:rPr lang="en-GB" b="0" dirty="0">
                <a:solidFill>
                  <a:srgbClr val="AF00DB"/>
                </a:solidFill>
                <a:effectLst/>
                <a:highlight>
                  <a:srgbClr val="F7F7F7"/>
                </a:highlight>
                <a:latin typeface="Courier New" panose="02070309020205020404" pitchFamily="49" charset="0"/>
              </a:rPr>
              <a:t>import</a:t>
            </a:r>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numpy</a:t>
            </a:r>
            <a:r>
              <a:rPr lang="en-GB" b="0" dirty="0">
                <a:solidFill>
                  <a:srgbClr val="000000"/>
                </a:solidFill>
                <a:effectLst/>
                <a:highlight>
                  <a:srgbClr val="F7F7F7"/>
                </a:highlight>
                <a:latin typeface="Courier New" panose="02070309020205020404" pitchFamily="49" charset="0"/>
              </a:rPr>
              <a:t> </a:t>
            </a:r>
            <a:r>
              <a:rPr lang="en-GB" b="0" dirty="0">
                <a:solidFill>
                  <a:srgbClr val="AF00DB"/>
                </a:solidFill>
                <a:effectLst/>
                <a:highlight>
                  <a:srgbClr val="F7F7F7"/>
                </a:highlight>
                <a:latin typeface="Courier New" panose="02070309020205020404" pitchFamily="49" charset="0"/>
              </a:rPr>
              <a:t>as</a:t>
            </a:r>
            <a:r>
              <a:rPr lang="en-GB" b="0" dirty="0">
                <a:solidFill>
                  <a:srgbClr val="000000"/>
                </a:solidFill>
                <a:effectLst/>
                <a:highlight>
                  <a:srgbClr val="F7F7F7"/>
                </a:highlight>
                <a:latin typeface="Courier New" panose="02070309020205020404" pitchFamily="49" charset="0"/>
              </a:rPr>
              <a:t> np </a:t>
            </a:r>
            <a:r>
              <a:rPr lang="en-GB" b="0" dirty="0">
                <a:solidFill>
                  <a:srgbClr val="008000"/>
                </a:solidFill>
                <a:effectLst/>
                <a:highlight>
                  <a:srgbClr val="F7F7F7"/>
                </a:highlight>
                <a:latin typeface="Courier New" panose="02070309020205020404" pitchFamily="49" charset="0"/>
              </a:rPr>
              <a:t># linear algebra</a:t>
            </a:r>
            <a:endParaRPr lang="en-GB" b="0" dirty="0">
              <a:solidFill>
                <a:srgbClr val="000000"/>
              </a:solidFill>
              <a:effectLst/>
              <a:highlight>
                <a:srgbClr val="F7F7F7"/>
              </a:highlight>
              <a:latin typeface="Courier New" panose="02070309020205020404" pitchFamily="49" charset="0"/>
            </a:endParaRPr>
          </a:p>
          <a:p>
            <a:r>
              <a:rPr lang="en-GB" b="0" dirty="0">
                <a:solidFill>
                  <a:srgbClr val="AF00DB"/>
                </a:solidFill>
                <a:effectLst/>
                <a:highlight>
                  <a:srgbClr val="F7F7F7"/>
                </a:highlight>
                <a:latin typeface="Courier New" panose="02070309020205020404" pitchFamily="49" charset="0"/>
              </a:rPr>
              <a:t>import</a:t>
            </a:r>
            <a:r>
              <a:rPr lang="en-GB" b="0" dirty="0">
                <a:solidFill>
                  <a:srgbClr val="000000"/>
                </a:solidFill>
                <a:effectLst/>
                <a:highlight>
                  <a:srgbClr val="F7F7F7"/>
                </a:highlight>
                <a:latin typeface="Courier New" panose="02070309020205020404" pitchFamily="49" charset="0"/>
              </a:rPr>
              <a:t> pandas </a:t>
            </a:r>
            <a:r>
              <a:rPr lang="en-GB" b="0" dirty="0">
                <a:solidFill>
                  <a:srgbClr val="AF00DB"/>
                </a:solidFill>
                <a:effectLst/>
                <a:highlight>
                  <a:srgbClr val="F7F7F7"/>
                </a:highlight>
                <a:latin typeface="Courier New" panose="02070309020205020404" pitchFamily="49" charset="0"/>
              </a:rPr>
              <a:t>as</a:t>
            </a:r>
            <a:r>
              <a:rPr lang="en-GB" b="0" dirty="0">
                <a:solidFill>
                  <a:srgbClr val="000000"/>
                </a:solidFill>
                <a:effectLst/>
                <a:highlight>
                  <a:srgbClr val="F7F7F7"/>
                </a:highlight>
                <a:latin typeface="Courier New" panose="02070309020205020404" pitchFamily="49" charset="0"/>
              </a:rPr>
              <a:t> pd </a:t>
            </a:r>
            <a:r>
              <a:rPr lang="en-GB" b="0" dirty="0">
                <a:solidFill>
                  <a:srgbClr val="008000"/>
                </a:solidFill>
                <a:effectLst/>
                <a:highlight>
                  <a:srgbClr val="F7F7F7"/>
                </a:highlight>
                <a:latin typeface="Courier New" panose="02070309020205020404" pitchFamily="49" charset="0"/>
              </a:rPr>
              <a:t># data processing</a:t>
            </a:r>
            <a:endParaRPr lang="en-GB" b="0" dirty="0">
              <a:solidFill>
                <a:srgbClr val="000000"/>
              </a:solidFill>
              <a:effectLst/>
              <a:highlight>
                <a:srgbClr val="F7F7F7"/>
              </a:highlight>
              <a:latin typeface="Courier New" panose="02070309020205020404" pitchFamily="49" charset="0"/>
            </a:endParaRPr>
          </a:p>
          <a:p>
            <a:br>
              <a:rPr lang="en-GB" b="0" dirty="0">
                <a:solidFill>
                  <a:srgbClr val="000000"/>
                </a:solidFill>
                <a:effectLst/>
                <a:highlight>
                  <a:srgbClr val="F7F7F7"/>
                </a:highlight>
                <a:latin typeface="Courier New" panose="02070309020205020404" pitchFamily="49" charset="0"/>
              </a:rPr>
            </a:br>
            <a:r>
              <a:rPr lang="en-GB" b="0" dirty="0">
                <a:solidFill>
                  <a:srgbClr val="AF00DB"/>
                </a:solidFill>
                <a:effectLst/>
                <a:highlight>
                  <a:srgbClr val="F7F7F7"/>
                </a:highlight>
                <a:latin typeface="Courier New" panose="02070309020205020404" pitchFamily="49" charset="0"/>
              </a:rPr>
              <a:t>import</a:t>
            </a:r>
            <a:r>
              <a:rPr lang="en-GB" b="0" dirty="0">
                <a:solidFill>
                  <a:srgbClr val="000000"/>
                </a:solidFill>
                <a:effectLst/>
                <a:highlight>
                  <a:srgbClr val="F7F7F7"/>
                </a:highlight>
                <a:latin typeface="Courier New" panose="02070309020205020404" pitchFamily="49" charset="0"/>
              </a:rPr>
              <a:t> matplotlib</a:t>
            </a:r>
          </a:p>
          <a:p>
            <a:r>
              <a:rPr lang="en-GB" b="0" dirty="0">
                <a:solidFill>
                  <a:srgbClr val="AF00DB"/>
                </a:solidFill>
                <a:effectLst/>
                <a:highlight>
                  <a:srgbClr val="F7F7F7"/>
                </a:highlight>
                <a:latin typeface="Courier New" panose="02070309020205020404" pitchFamily="49" charset="0"/>
              </a:rPr>
              <a:t>import</a:t>
            </a:r>
            <a:r>
              <a:rPr lang="en-GB" b="0" dirty="0">
                <a:solidFill>
                  <a:srgbClr val="000000"/>
                </a:solidFill>
                <a:effectLst/>
                <a:highlight>
                  <a:srgbClr val="F7F7F7"/>
                </a:highlight>
                <a:latin typeface="Courier New" panose="02070309020205020404" pitchFamily="49" charset="0"/>
              </a:rPr>
              <a:t> seaborn </a:t>
            </a:r>
            <a:r>
              <a:rPr lang="en-GB" b="0" dirty="0">
                <a:solidFill>
                  <a:srgbClr val="AF00DB"/>
                </a:solidFill>
                <a:effectLst/>
                <a:highlight>
                  <a:srgbClr val="F7F7F7"/>
                </a:highlight>
                <a:latin typeface="Courier New" panose="02070309020205020404" pitchFamily="49" charset="0"/>
              </a:rPr>
              <a:t>as</a:t>
            </a:r>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sns</a:t>
            </a:r>
            <a:endParaRPr lang="en-GB" b="0" dirty="0">
              <a:solidFill>
                <a:srgbClr val="000000"/>
              </a:solidFill>
              <a:effectLst/>
              <a:highlight>
                <a:srgbClr val="F7F7F7"/>
              </a:highlight>
              <a:latin typeface="Courier New" panose="02070309020205020404" pitchFamily="49" charset="0"/>
            </a:endParaRPr>
          </a:p>
          <a:p>
            <a:r>
              <a:rPr lang="en-GB" b="0" dirty="0">
                <a:solidFill>
                  <a:srgbClr val="AF00DB"/>
                </a:solidFill>
                <a:effectLst/>
                <a:highlight>
                  <a:srgbClr val="F7F7F7"/>
                </a:highlight>
                <a:latin typeface="Courier New" panose="02070309020205020404" pitchFamily="49" charset="0"/>
              </a:rPr>
              <a:t>import</a:t>
            </a:r>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matplotlib.pyplot</a:t>
            </a:r>
            <a:r>
              <a:rPr lang="en-GB" b="0" dirty="0">
                <a:solidFill>
                  <a:srgbClr val="000000"/>
                </a:solidFill>
                <a:effectLst/>
                <a:highlight>
                  <a:srgbClr val="F7F7F7"/>
                </a:highlight>
                <a:latin typeface="Courier New" panose="02070309020205020404" pitchFamily="49" charset="0"/>
              </a:rPr>
              <a:t> </a:t>
            </a:r>
            <a:r>
              <a:rPr lang="en-GB" b="0" dirty="0">
                <a:solidFill>
                  <a:srgbClr val="AF00DB"/>
                </a:solidFill>
                <a:effectLst/>
                <a:highlight>
                  <a:srgbClr val="F7F7F7"/>
                </a:highlight>
                <a:latin typeface="Courier New" panose="02070309020205020404" pitchFamily="49" charset="0"/>
              </a:rPr>
              <a:t>as</a:t>
            </a:r>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plt</a:t>
            </a:r>
            <a:endParaRPr lang="en-GB" b="0" dirty="0">
              <a:solidFill>
                <a:srgbClr val="000000"/>
              </a:solidFill>
              <a:effectLst/>
              <a:highlight>
                <a:srgbClr val="F7F7F7"/>
              </a:highlight>
              <a:latin typeface="Courier New" panose="02070309020205020404" pitchFamily="49" charset="0"/>
            </a:endParaRPr>
          </a:p>
          <a:p>
            <a:r>
              <a:rPr lang="en-GB" b="0" dirty="0" err="1">
                <a:solidFill>
                  <a:srgbClr val="000000"/>
                </a:solidFill>
                <a:effectLst/>
                <a:highlight>
                  <a:srgbClr val="F7F7F7"/>
                </a:highlight>
                <a:latin typeface="Courier New" panose="02070309020205020404" pitchFamily="49" charset="0"/>
              </a:rPr>
              <a:t>sns.set_style</a:t>
            </a:r>
            <a:r>
              <a:rPr lang="en-GB" b="0" dirty="0">
                <a:solidFill>
                  <a:srgbClr val="000000"/>
                </a:solidFill>
                <a:effectLst/>
                <a:highlight>
                  <a:srgbClr val="F7F7F7"/>
                </a:highlight>
                <a:latin typeface="Courier New" panose="02070309020205020404" pitchFamily="49" charset="0"/>
              </a:rPr>
              <a:t>(</a:t>
            </a:r>
            <a:r>
              <a:rPr lang="en-GB" b="0" dirty="0">
                <a:solidFill>
                  <a:srgbClr val="A31515"/>
                </a:solidFill>
                <a:effectLst/>
                <a:highlight>
                  <a:srgbClr val="F7F7F7"/>
                </a:highlight>
                <a:latin typeface="Courier New" panose="02070309020205020404" pitchFamily="49" charset="0"/>
              </a:rPr>
              <a:t>'</a:t>
            </a:r>
            <a:r>
              <a:rPr lang="en-GB" b="0" dirty="0" err="1">
                <a:solidFill>
                  <a:srgbClr val="A31515"/>
                </a:solidFill>
                <a:effectLst/>
                <a:highlight>
                  <a:srgbClr val="F7F7F7"/>
                </a:highlight>
                <a:latin typeface="Courier New" panose="02070309020205020404" pitchFamily="49" charset="0"/>
              </a:rPr>
              <a:t>darkgrid</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a:t>
            </a:r>
          </a:p>
          <a:p>
            <a:r>
              <a:rPr lang="en-GB" b="0" dirty="0" err="1">
                <a:solidFill>
                  <a:srgbClr val="000000"/>
                </a:solidFill>
                <a:effectLst/>
                <a:highlight>
                  <a:srgbClr val="F7F7F7"/>
                </a:highlight>
                <a:latin typeface="Courier New" panose="02070309020205020404" pitchFamily="49" charset="0"/>
              </a:rPr>
              <a:t>matplotlib.rcParams</a:t>
            </a:r>
            <a:r>
              <a:rPr lang="en-GB" b="0" dirty="0">
                <a:solidFill>
                  <a:srgbClr val="000000"/>
                </a:solidFill>
                <a:effectLst/>
                <a:highlight>
                  <a:srgbClr val="F7F7F7"/>
                </a:highlight>
                <a:latin typeface="Courier New" panose="02070309020205020404" pitchFamily="49" charset="0"/>
              </a:rPr>
              <a:t>[</a:t>
            </a:r>
            <a:r>
              <a:rPr lang="en-GB" b="0" dirty="0">
                <a:solidFill>
                  <a:srgbClr val="A31515"/>
                </a:solidFill>
                <a:effectLst/>
                <a:highlight>
                  <a:srgbClr val="F7F7F7"/>
                </a:highlight>
                <a:latin typeface="Courier New" panose="02070309020205020404" pitchFamily="49" charset="0"/>
              </a:rPr>
              <a:t>'</a:t>
            </a:r>
            <a:r>
              <a:rPr lang="en-GB" b="0" dirty="0" err="1">
                <a:solidFill>
                  <a:srgbClr val="A31515"/>
                </a:solidFill>
                <a:effectLst/>
                <a:highlight>
                  <a:srgbClr val="F7F7F7"/>
                </a:highlight>
                <a:latin typeface="Courier New" panose="02070309020205020404" pitchFamily="49" charset="0"/>
              </a:rPr>
              <a:t>figure.figsize</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 (</a:t>
            </a:r>
            <a:r>
              <a:rPr lang="en-GB" b="0" dirty="0">
                <a:solidFill>
                  <a:srgbClr val="116644"/>
                </a:solidFill>
                <a:effectLst/>
                <a:highlight>
                  <a:srgbClr val="F7F7F7"/>
                </a:highlight>
                <a:latin typeface="Courier New" panose="02070309020205020404" pitchFamily="49" charset="0"/>
              </a:rPr>
              <a:t>10</a:t>
            </a:r>
            <a:r>
              <a:rPr lang="en-GB" b="0" dirty="0">
                <a:solidFill>
                  <a:srgbClr val="000000"/>
                </a:solidFill>
                <a:effectLst/>
                <a:highlight>
                  <a:srgbClr val="F7F7F7"/>
                </a:highlight>
                <a:latin typeface="Courier New" panose="02070309020205020404" pitchFamily="49" charset="0"/>
              </a:rPr>
              <a:t>, </a:t>
            </a:r>
            <a:r>
              <a:rPr lang="en-GB" b="0" dirty="0">
                <a:solidFill>
                  <a:srgbClr val="116644"/>
                </a:solidFill>
                <a:effectLst/>
                <a:highlight>
                  <a:srgbClr val="F7F7F7"/>
                </a:highlight>
                <a:latin typeface="Courier New" panose="02070309020205020404" pitchFamily="49" charset="0"/>
              </a:rPr>
              <a:t>6</a:t>
            </a:r>
            <a:r>
              <a:rPr lang="en-GB" b="0" dirty="0">
                <a:solidFill>
                  <a:srgbClr val="000000"/>
                </a:solidFill>
                <a:effectLst/>
                <a:highlight>
                  <a:srgbClr val="F7F7F7"/>
                </a:highlight>
                <a:latin typeface="Courier New" panose="02070309020205020404" pitchFamily="49" charset="0"/>
              </a:rPr>
              <a:t>)</a:t>
            </a:r>
          </a:p>
          <a:p>
            <a:br>
              <a:rPr lang="en-GB" b="0" dirty="0">
                <a:solidFill>
                  <a:srgbClr val="000000"/>
                </a:solidFill>
                <a:effectLst/>
                <a:highlight>
                  <a:srgbClr val="F7F7F7"/>
                </a:highlight>
                <a:latin typeface="Courier New" panose="02070309020205020404" pitchFamily="49" charset="0"/>
              </a:rPr>
            </a:br>
            <a:endParaRPr lang="en-GB" b="0" dirty="0">
              <a:solidFill>
                <a:srgbClr val="000000"/>
              </a:solidFill>
              <a:effectLst/>
              <a:highlight>
                <a:srgbClr val="F7F7F7"/>
              </a:highlight>
              <a:latin typeface="Courier New" panose="02070309020205020404" pitchFamily="49" charset="0"/>
            </a:endParaRPr>
          </a:p>
          <a:p>
            <a:endParaRPr lang="en-GB" dirty="0"/>
          </a:p>
        </p:txBody>
      </p:sp>
      <p:sp>
        <p:nvSpPr>
          <p:cNvPr id="4" name="Content Placeholder 3">
            <a:extLst>
              <a:ext uri="{FF2B5EF4-FFF2-40B4-BE49-F238E27FC236}">
                <a16:creationId xmlns:a16="http://schemas.microsoft.com/office/drawing/2014/main" id="{8A8CA165-E919-C139-3123-FAE49B817D95}"/>
              </a:ext>
            </a:extLst>
          </p:cNvPr>
          <p:cNvSpPr>
            <a:spLocks noGrp="1"/>
          </p:cNvSpPr>
          <p:nvPr>
            <p:ph sz="half" idx="2"/>
          </p:nvPr>
        </p:nvSpPr>
        <p:spPr/>
        <p:txBody>
          <a:bodyPr>
            <a:normAutofit fontScale="55000" lnSpcReduction="20000"/>
          </a:bodyPr>
          <a:lstStyle/>
          <a:p>
            <a:r>
              <a:rPr lang="en-US" dirty="0"/>
              <a:t>This section imports several Python libraries that are commonly used in data analysis and visualization tasks.</a:t>
            </a:r>
          </a:p>
          <a:p>
            <a:r>
              <a:rPr lang="en-US" dirty="0" err="1"/>
              <a:t>Urllib.parse</a:t>
            </a:r>
            <a:endParaRPr lang="en-US" dirty="0"/>
          </a:p>
          <a:p>
            <a:r>
              <a:rPr lang="en-US" dirty="0" err="1"/>
              <a:t>Numpy</a:t>
            </a:r>
            <a:endParaRPr lang="en-US" dirty="0"/>
          </a:p>
          <a:p>
            <a:r>
              <a:rPr lang="en-US" dirty="0"/>
              <a:t>Pandas</a:t>
            </a:r>
          </a:p>
          <a:p>
            <a:r>
              <a:rPr lang="en-US" dirty="0"/>
              <a:t>Matplotlib</a:t>
            </a:r>
          </a:p>
          <a:p>
            <a:r>
              <a:rPr lang="en-US" dirty="0"/>
              <a:t>Seaborn</a:t>
            </a:r>
          </a:p>
          <a:p>
            <a:endParaRPr lang="en-GB" dirty="0"/>
          </a:p>
        </p:txBody>
      </p:sp>
    </p:spTree>
    <p:extLst>
      <p:ext uri="{BB962C8B-B14F-4D97-AF65-F5344CB8AC3E}">
        <p14:creationId xmlns:p14="http://schemas.microsoft.com/office/powerpoint/2010/main" val="962454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C6CD0-8D77-339E-4D9A-62F2C8EA06FD}"/>
              </a:ext>
            </a:extLst>
          </p:cNvPr>
          <p:cNvSpPr>
            <a:spLocks noGrp="1"/>
          </p:cNvSpPr>
          <p:nvPr>
            <p:ph type="title"/>
          </p:nvPr>
        </p:nvSpPr>
        <p:spPr/>
        <p:txBody>
          <a:bodyPr/>
          <a:lstStyle/>
          <a:p>
            <a:r>
              <a:rPr lang="en-US" dirty="0"/>
              <a:t>loading a dataset from a CSV</a:t>
            </a:r>
            <a:endParaRPr lang="en-GB" dirty="0"/>
          </a:p>
        </p:txBody>
      </p:sp>
      <p:sp>
        <p:nvSpPr>
          <p:cNvPr id="3" name="Content Placeholder 2">
            <a:extLst>
              <a:ext uri="{FF2B5EF4-FFF2-40B4-BE49-F238E27FC236}">
                <a16:creationId xmlns:a16="http://schemas.microsoft.com/office/drawing/2014/main" id="{E8BE1EDE-B840-0D3C-8B30-B805C05E70A0}"/>
              </a:ext>
            </a:extLst>
          </p:cNvPr>
          <p:cNvSpPr>
            <a:spLocks noGrp="1"/>
          </p:cNvSpPr>
          <p:nvPr>
            <p:ph sz="half" idx="1"/>
          </p:nvPr>
        </p:nvSpPr>
        <p:spPr/>
        <p:txBody>
          <a:bodyPr/>
          <a:lstStyle/>
          <a:p>
            <a:r>
              <a:rPr lang="en-GB" dirty="0" err="1"/>
              <a:t>url_df</a:t>
            </a:r>
            <a:r>
              <a:rPr lang="en-GB" dirty="0"/>
              <a:t> = </a:t>
            </a:r>
            <a:r>
              <a:rPr lang="en-GB" dirty="0" err="1"/>
              <a:t>pd.read_csv</a:t>
            </a:r>
            <a:r>
              <a:rPr lang="en-GB" dirty="0"/>
              <a:t>("malicious_phish.csv")</a:t>
            </a:r>
          </a:p>
          <a:p>
            <a:r>
              <a:rPr lang="en-GB" dirty="0" err="1"/>
              <a:t>url_df.head</a:t>
            </a:r>
            <a:r>
              <a:rPr lang="en-GB" dirty="0"/>
              <a:t>()</a:t>
            </a:r>
          </a:p>
        </p:txBody>
      </p:sp>
      <p:pic>
        <p:nvPicPr>
          <p:cNvPr id="6" name="Content Placeholder 5">
            <a:extLst>
              <a:ext uri="{FF2B5EF4-FFF2-40B4-BE49-F238E27FC236}">
                <a16:creationId xmlns:a16="http://schemas.microsoft.com/office/drawing/2014/main" id="{706D1F09-A44F-84B4-CA47-6C166386C14D}"/>
              </a:ext>
            </a:extLst>
          </p:cNvPr>
          <p:cNvPicPr>
            <a:picLocks noGrp="1" noChangeAspect="1"/>
          </p:cNvPicPr>
          <p:nvPr>
            <p:ph sz="half" idx="2"/>
          </p:nvPr>
        </p:nvPicPr>
        <p:blipFill>
          <a:blip r:embed="rId3"/>
          <a:stretch>
            <a:fillRect/>
          </a:stretch>
        </p:blipFill>
        <p:spPr>
          <a:xfrm>
            <a:off x="6413500" y="2315689"/>
            <a:ext cx="5488992" cy="2466508"/>
          </a:xfrm>
        </p:spPr>
      </p:pic>
    </p:spTree>
    <p:extLst>
      <p:ext uri="{BB962C8B-B14F-4D97-AF65-F5344CB8AC3E}">
        <p14:creationId xmlns:p14="http://schemas.microsoft.com/office/powerpoint/2010/main" val="1142914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8359D-2746-BB38-27F0-A83925E9253D}"/>
              </a:ext>
            </a:extLst>
          </p:cNvPr>
          <p:cNvSpPr>
            <a:spLocks noGrp="1"/>
          </p:cNvSpPr>
          <p:nvPr>
            <p:ph type="title"/>
          </p:nvPr>
        </p:nvSpPr>
        <p:spPr/>
        <p:txBody>
          <a:bodyPr/>
          <a:lstStyle/>
          <a:p>
            <a:r>
              <a:rPr lang="en-GB"/>
              <a:t> Data Exploration</a:t>
            </a:r>
            <a:endParaRPr lang="en-GB" dirty="0"/>
          </a:p>
        </p:txBody>
      </p:sp>
      <p:sp>
        <p:nvSpPr>
          <p:cNvPr id="3" name="Content Placeholder 2">
            <a:extLst>
              <a:ext uri="{FF2B5EF4-FFF2-40B4-BE49-F238E27FC236}">
                <a16:creationId xmlns:a16="http://schemas.microsoft.com/office/drawing/2014/main" id="{DEB13E59-1658-10D1-E2CE-CA83DCD99847}"/>
              </a:ext>
            </a:extLst>
          </p:cNvPr>
          <p:cNvSpPr>
            <a:spLocks noGrp="1"/>
          </p:cNvSpPr>
          <p:nvPr>
            <p:ph sz="half" idx="1"/>
          </p:nvPr>
        </p:nvSpPr>
        <p:spPr/>
        <p:txBody>
          <a:bodyPr/>
          <a:lstStyle/>
          <a:p>
            <a:r>
              <a:rPr lang="en-US" b="0">
                <a:solidFill>
                  <a:srgbClr val="008000"/>
                </a:solidFill>
                <a:effectLst/>
                <a:highlight>
                  <a:srgbClr val="F7F7F7"/>
                </a:highlight>
                <a:latin typeface="Courier New" panose="02070309020205020404" pitchFamily="49" charset="0"/>
              </a:rPr>
              <a:t># Check for missing values and data types</a:t>
            </a:r>
            <a:endParaRPr lang="en-US" b="0">
              <a:solidFill>
                <a:srgbClr val="000000"/>
              </a:solidFill>
              <a:effectLst/>
              <a:highlight>
                <a:srgbClr val="F7F7F7"/>
              </a:highlight>
              <a:latin typeface="Courier New" panose="02070309020205020404" pitchFamily="49" charset="0"/>
            </a:endParaRPr>
          </a:p>
          <a:p>
            <a:r>
              <a:rPr lang="en-US" b="0">
                <a:solidFill>
                  <a:srgbClr val="795E26"/>
                </a:solidFill>
                <a:effectLst/>
                <a:highlight>
                  <a:srgbClr val="F7F7F7"/>
                </a:highlight>
                <a:latin typeface="Courier New" panose="02070309020205020404" pitchFamily="49" charset="0"/>
              </a:rPr>
              <a:t>print</a:t>
            </a:r>
            <a:r>
              <a:rPr lang="en-US" b="0">
                <a:solidFill>
                  <a:srgbClr val="000000"/>
                </a:solidFill>
                <a:effectLst/>
                <a:highlight>
                  <a:srgbClr val="F7F7F7"/>
                </a:highlight>
                <a:latin typeface="Courier New" panose="02070309020205020404" pitchFamily="49" charset="0"/>
              </a:rPr>
              <a:t>(url_df.info())</a:t>
            </a:r>
            <a:br>
              <a:rPr lang="en-US" b="0">
                <a:solidFill>
                  <a:srgbClr val="000000"/>
                </a:solidFill>
                <a:effectLst/>
                <a:highlight>
                  <a:srgbClr val="F7F7F7"/>
                </a:highlight>
                <a:latin typeface="Courier New" panose="02070309020205020404" pitchFamily="49" charset="0"/>
              </a:rPr>
            </a:br>
            <a:r>
              <a:rPr lang="en-US" b="0">
                <a:solidFill>
                  <a:srgbClr val="008000"/>
                </a:solidFill>
                <a:effectLst/>
                <a:highlight>
                  <a:srgbClr val="F7F7F7"/>
                </a:highlight>
                <a:latin typeface="Courier New" panose="02070309020205020404" pitchFamily="49" charset="0"/>
              </a:rPr>
              <a:t># Check the distribution of classes</a:t>
            </a:r>
            <a:endParaRPr lang="en-US" b="0">
              <a:solidFill>
                <a:srgbClr val="000000"/>
              </a:solidFill>
              <a:effectLst/>
              <a:highlight>
                <a:srgbClr val="F7F7F7"/>
              </a:highlight>
              <a:latin typeface="Courier New" panose="02070309020205020404" pitchFamily="49" charset="0"/>
            </a:endParaRPr>
          </a:p>
          <a:p>
            <a:r>
              <a:rPr lang="en-US" b="0">
                <a:solidFill>
                  <a:srgbClr val="795E26"/>
                </a:solidFill>
                <a:effectLst/>
                <a:highlight>
                  <a:srgbClr val="F7F7F7"/>
                </a:highlight>
                <a:latin typeface="Courier New" panose="02070309020205020404" pitchFamily="49" charset="0"/>
              </a:rPr>
              <a:t>print</a:t>
            </a:r>
            <a:r>
              <a:rPr lang="en-US" b="0">
                <a:solidFill>
                  <a:srgbClr val="000000"/>
                </a:solidFill>
                <a:effectLst/>
                <a:highlight>
                  <a:srgbClr val="F7F7F7"/>
                </a:highlight>
                <a:latin typeface="Courier New" panose="02070309020205020404" pitchFamily="49" charset="0"/>
              </a:rPr>
              <a:t>(url_df[</a:t>
            </a:r>
            <a:r>
              <a:rPr lang="en-US" b="0">
                <a:solidFill>
                  <a:srgbClr val="A31515"/>
                </a:solidFill>
                <a:effectLst/>
                <a:highlight>
                  <a:srgbClr val="F7F7F7"/>
                </a:highlight>
                <a:latin typeface="Courier New" panose="02070309020205020404" pitchFamily="49" charset="0"/>
              </a:rPr>
              <a:t>'type'</a:t>
            </a:r>
            <a:r>
              <a:rPr lang="en-US" b="0">
                <a:solidFill>
                  <a:srgbClr val="000000"/>
                </a:solidFill>
                <a:effectLst/>
                <a:highlight>
                  <a:srgbClr val="F7F7F7"/>
                </a:highlight>
                <a:latin typeface="Courier New" panose="02070309020205020404" pitchFamily="49" charset="0"/>
              </a:rPr>
              <a:t>].value_counts())</a:t>
            </a:r>
          </a:p>
          <a:p>
            <a:endParaRPr lang="en-GB" dirty="0"/>
          </a:p>
        </p:txBody>
      </p:sp>
      <p:pic>
        <p:nvPicPr>
          <p:cNvPr id="6" name="Content Placeholder 5">
            <a:extLst>
              <a:ext uri="{FF2B5EF4-FFF2-40B4-BE49-F238E27FC236}">
                <a16:creationId xmlns:a16="http://schemas.microsoft.com/office/drawing/2014/main" id="{46A6CFD1-A56B-0B5C-9953-9C112FBB31D6}"/>
              </a:ext>
            </a:extLst>
          </p:cNvPr>
          <p:cNvPicPr>
            <a:picLocks noGrp="1" noChangeAspect="1"/>
          </p:cNvPicPr>
          <p:nvPr>
            <p:ph sz="half" idx="2"/>
          </p:nvPr>
        </p:nvPicPr>
        <p:blipFill>
          <a:blip r:embed="rId3"/>
          <a:stretch>
            <a:fillRect/>
          </a:stretch>
        </p:blipFill>
        <p:spPr>
          <a:xfrm>
            <a:off x="6783387" y="2114550"/>
            <a:ext cx="3905250" cy="3248025"/>
          </a:xfrm>
        </p:spPr>
      </p:pic>
    </p:spTree>
    <p:extLst>
      <p:ext uri="{BB962C8B-B14F-4D97-AF65-F5344CB8AC3E}">
        <p14:creationId xmlns:p14="http://schemas.microsoft.com/office/powerpoint/2010/main" val="3002924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97458-5749-0107-C435-1EC51D5223CD}"/>
              </a:ext>
            </a:extLst>
          </p:cNvPr>
          <p:cNvSpPr>
            <a:spLocks noGrp="1"/>
          </p:cNvSpPr>
          <p:nvPr>
            <p:ph type="title"/>
          </p:nvPr>
        </p:nvSpPr>
        <p:spPr/>
        <p:txBody>
          <a:bodyPr/>
          <a:lstStyle/>
          <a:p>
            <a:r>
              <a:rPr lang="en-GB" dirty="0"/>
              <a:t>Feature selection </a:t>
            </a:r>
          </a:p>
        </p:txBody>
      </p:sp>
      <p:sp>
        <p:nvSpPr>
          <p:cNvPr id="3" name="Content Placeholder 2">
            <a:extLst>
              <a:ext uri="{FF2B5EF4-FFF2-40B4-BE49-F238E27FC236}">
                <a16:creationId xmlns:a16="http://schemas.microsoft.com/office/drawing/2014/main" id="{F4535F24-F611-9F3C-AE44-9928B124CA67}"/>
              </a:ext>
            </a:extLst>
          </p:cNvPr>
          <p:cNvSpPr>
            <a:spLocks noGrp="1"/>
          </p:cNvSpPr>
          <p:nvPr>
            <p:ph sz="half" idx="1"/>
          </p:nvPr>
        </p:nvSpPr>
        <p:spPr/>
        <p:txBody>
          <a:bodyPr/>
          <a:lstStyle/>
          <a:p>
            <a:r>
              <a:rPr lang="en-US" b="0" dirty="0">
                <a:solidFill>
                  <a:srgbClr val="008000"/>
                </a:solidFill>
                <a:effectLst/>
                <a:highlight>
                  <a:srgbClr val="F7F7F7"/>
                </a:highlight>
                <a:latin typeface="Courier New" panose="02070309020205020404" pitchFamily="49" charset="0"/>
              </a:rPr>
              <a:t>#Install library for tokenization of URLs</a:t>
            </a:r>
            <a:endParaRPr lang="en-US" b="0" dirty="0">
              <a:solidFill>
                <a:srgbClr val="000000"/>
              </a:solidFill>
              <a:effectLst/>
              <a:highlight>
                <a:srgbClr val="F7F7F7"/>
              </a:highlight>
              <a:latin typeface="Courier New" panose="02070309020205020404" pitchFamily="49" charset="0"/>
            </a:endParaRPr>
          </a:p>
          <a:p>
            <a:r>
              <a:rPr lang="en-US" b="0" dirty="0">
                <a:solidFill>
                  <a:srgbClr val="0000FF"/>
                </a:solidFill>
                <a:effectLst/>
                <a:highlight>
                  <a:srgbClr val="F7F7F7"/>
                </a:highlight>
                <a:latin typeface="Courier New" panose="02070309020205020404" pitchFamily="49" charset="0"/>
              </a:rPr>
              <a:t>!</a:t>
            </a:r>
            <a:r>
              <a:rPr lang="en-US" b="0" dirty="0">
                <a:solidFill>
                  <a:srgbClr val="000000"/>
                </a:solidFill>
                <a:effectLst/>
                <a:highlight>
                  <a:srgbClr val="F7F7F7"/>
                </a:highlight>
                <a:latin typeface="Courier New" panose="02070309020205020404" pitchFamily="49" charset="0"/>
              </a:rPr>
              <a:t>pip install </a:t>
            </a:r>
            <a:r>
              <a:rPr lang="en-US" b="0" dirty="0" err="1">
                <a:solidFill>
                  <a:srgbClr val="000000"/>
                </a:solidFill>
                <a:effectLst/>
                <a:highlight>
                  <a:srgbClr val="F7F7F7"/>
                </a:highlight>
                <a:latin typeface="Courier New" panose="02070309020205020404" pitchFamily="49" charset="0"/>
              </a:rPr>
              <a:t>url_parser</a:t>
            </a:r>
            <a:br>
              <a:rPr lang="en-US" b="0" dirty="0">
                <a:solidFill>
                  <a:srgbClr val="000000"/>
                </a:solidFill>
                <a:effectLst/>
                <a:highlight>
                  <a:srgbClr val="F7F7F7"/>
                </a:highlight>
                <a:latin typeface="Courier New" panose="02070309020205020404" pitchFamily="49" charset="0"/>
              </a:rPr>
            </a:br>
            <a:r>
              <a:rPr lang="en-US" b="0" dirty="0">
                <a:solidFill>
                  <a:srgbClr val="0000FF"/>
                </a:solidFill>
                <a:effectLst/>
                <a:highlight>
                  <a:srgbClr val="F7F7F7"/>
                </a:highlight>
                <a:latin typeface="Courier New" panose="02070309020205020404" pitchFamily="49" charset="0"/>
              </a:rPr>
              <a:t>!</a:t>
            </a:r>
            <a:r>
              <a:rPr lang="en-US" b="0" dirty="0">
                <a:solidFill>
                  <a:srgbClr val="000000"/>
                </a:solidFill>
                <a:effectLst/>
                <a:highlight>
                  <a:srgbClr val="F7F7F7"/>
                </a:highlight>
                <a:latin typeface="Courier New" panose="02070309020205020404" pitchFamily="49" charset="0"/>
              </a:rPr>
              <a:t>pip install </a:t>
            </a:r>
            <a:r>
              <a:rPr lang="en-US" b="0" dirty="0" err="1">
                <a:solidFill>
                  <a:srgbClr val="000000"/>
                </a:solidFill>
                <a:effectLst/>
                <a:highlight>
                  <a:srgbClr val="F7F7F7"/>
                </a:highlight>
                <a:latin typeface="Courier New" panose="02070309020205020404" pitchFamily="49" charset="0"/>
              </a:rPr>
              <a:t>chardet</a:t>
            </a:r>
            <a:br>
              <a:rPr lang="en-US" b="0" dirty="0">
                <a:solidFill>
                  <a:srgbClr val="000000"/>
                </a:solidFill>
                <a:effectLst/>
                <a:highlight>
                  <a:srgbClr val="F7F7F7"/>
                </a:highlight>
                <a:latin typeface="Courier New" panose="02070309020205020404" pitchFamily="49" charset="0"/>
              </a:rPr>
            </a:br>
            <a:r>
              <a:rPr lang="en-US" b="0" dirty="0">
                <a:solidFill>
                  <a:srgbClr val="0000FF"/>
                </a:solidFill>
                <a:effectLst/>
                <a:highlight>
                  <a:srgbClr val="F7F7F7"/>
                </a:highlight>
                <a:latin typeface="Courier New" panose="02070309020205020404" pitchFamily="49" charset="0"/>
              </a:rPr>
              <a:t>!</a:t>
            </a:r>
            <a:r>
              <a:rPr lang="en-US" b="0" dirty="0">
                <a:solidFill>
                  <a:srgbClr val="000000"/>
                </a:solidFill>
                <a:effectLst/>
                <a:highlight>
                  <a:srgbClr val="F7F7F7"/>
                </a:highlight>
                <a:latin typeface="Courier New" panose="02070309020205020404" pitchFamily="49" charset="0"/>
              </a:rPr>
              <a:t>pip install </a:t>
            </a:r>
            <a:r>
              <a:rPr lang="en-US" b="0" dirty="0" err="1">
                <a:solidFill>
                  <a:srgbClr val="000000"/>
                </a:solidFill>
                <a:effectLst/>
                <a:highlight>
                  <a:srgbClr val="F7F7F7"/>
                </a:highlight>
                <a:latin typeface="Courier New" panose="02070309020205020404" pitchFamily="49" charset="0"/>
              </a:rPr>
              <a:t>tldextract</a:t>
            </a:r>
            <a:endParaRPr lang="en-US" b="0" dirty="0">
              <a:solidFill>
                <a:srgbClr val="000000"/>
              </a:solidFill>
              <a:effectLst/>
              <a:highlight>
                <a:srgbClr val="F7F7F7"/>
              </a:highlight>
              <a:latin typeface="Courier New" panose="02070309020205020404" pitchFamily="49" charset="0"/>
            </a:endParaRPr>
          </a:p>
          <a:p>
            <a:endParaRPr lang="en-GB" dirty="0"/>
          </a:p>
        </p:txBody>
      </p:sp>
      <p:sp>
        <p:nvSpPr>
          <p:cNvPr id="4" name="Content Placeholder 3">
            <a:extLst>
              <a:ext uri="{FF2B5EF4-FFF2-40B4-BE49-F238E27FC236}">
                <a16:creationId xmlns:a16="http://schemas.microsoft.com/office/drawing/2014/main" id="{7C4779F7-AC16-BAA8-F100-935C54A9D31D}"/>
              </a:ext>
            </a:extLst>
          </p:cNvPr>
          <p:cNvSpPr>
            <a:spLocks noGrp="1"/>
          </p:cNvSpPr>
          <p:nvPr>
            <p:ph sz="half" idx="2"/>
          </p:nvPr>
        </p:nvSpPr>
        <p:spPr/>
        <p:txBody>
          <a:bodyPr/>
          <a:lstStyle/>
          <a:p>
            <a:r>
              <a:rPr lang="en-US" dirty="0"/>
              <a:t>Installing the </a:t>
            </a:r>
            <a:r>
              <a:rPr lang="en-US" dirty="0" err="1"/>
              <a:t>url_parser</a:t>
            </a:r>
            <a:r>
              <a:rPr lang="en-US" dirty="0"/>
              <a:t> Library:</a:t>
            </a:r>
          </a:p>
          <a:p>
            <a:r>
              <a:rPr lang="en-GB" dirty="0"/>
              <a:t>Installing the </a:t>
            </a:r>
            <a:r>
              <a:rPr lang="en-GB" dirty="0" err="1"/>
              <a:t>chardet</a:t>
            </a:r>
            <a:r>
              <a:rPr lang="en-GB" dirty="0"/>
              <a:t> Library</a:t>
            </a:r>
          </a:p>
          <a:p>
            <a:r>
              <a:rPr lang="en-GB" dirty="0"/>
              <a:t>Installing the </a:t>
            </a:r>
            <a:r>
              <a:rPr lang="en-GB" dirty="0" err="1"/>
              <a:t>tldextract</a:t>
            </a:r>
            <a:r>
              <a:rPr lang="en-GB" dirty="0"/>
              <a:t> Library:</a:t>
            </a:r>
          </a:p>
          <a:p>
            <a:endParaRPr lang="en-GB" dirty="0"/>
          </a:p>
          <a:p>
            <a:r>
              <a:rPr lang="en-US" dirty="0"/>
              <a:t>This is the installation of three Python libraries required for data preprocessing and analysis tasks.</a:t>
            </a:r>
            <a:endParaRPr lang="en-GB" dirty="0"/>
          </a:p>
        </p:txBody>
      </p:sp>
    </p:spTree>
    <p:extLst>
      <p:ext uri="{BB962C8B-B14F-4D97-AF65-F5344CB8AC3E}">
        <p14:creationId xmlns:p14="http://schemas.microsoft.com/office/powerpoint/2010/main" val="730503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C7E6C-BAFB-E1CF-43FA-8472159360EB}"/>
              </a:ext>
            </a:extLst>
          </p:cNvPr>
          <p:cNvSpPr>
            <a:spLocks noGrp="1"/>
          </p:cNvSpPr>
          <p:nvPr>
            <p:ph type="title"/>
          </p:nvPr>
        </p:nvSpPr>
        <p:spPr/>
        <p:txBody>
          <a:bodyPr/>
          <a:lstStyle/>
          <a:p>
            <a:r>
              <a:rPr lang="en-US" dirty="0"/>
              <a:t>URL Preprocessing</a:t>
            </a:r>
            <a:endParaRPr lang="en-GB" dirty="0"/>
          </a:p>
        </p:txBody>
      </p:sp>
      <p:sp>
        <p:nvSpPr>
          <p:cNvPr id="3" name="Content Placeholder 2">
            <a:extLst>
              <a:ext uri="{FF2B5EF4-FFF2-40B4-BE49-F238E27FC236}">
                <a16:creationId xmlns:a16="http://schemas.microsoft.com/office/drawing/2014/main" id="{63BFB4E1-095A-FF7A-7461-634659FB84F2}"/>
              </a:ext>
            </a:extLst>
          </p:cNvPr>
          <p:cNvSpPr>
            <a:spLocks noGrp="1"/>
          </p:cNvSpPr>
          <p:nvPr>
            <p:ph sz="half" idx="1"/>
          </p:nvPr>
        </p:nvSpPr>
        <p:spPr/>
        <p:txBody>
          <a:bodyPr>
            <a:normAutofit/>
          </a:bodyPr>
          <a:lstStyle/>
          <a:p>
            <a:r>
              <a:rPr lang="en-US" dirty="0"/>
              <a:t> </a:t>
            </a:r>
          </a:p>
          <a:p>
            <a:r>
              <a:rPr lang="en-US" dirty="0" err="1"/>
              <a:t>url_df</a:t>
            </a:r>
            <a:r>
              <a:rPr lang="en-US" dirty="0"/>
              <a:t>['</a:t>
            </a:r>
            <a:r>
              <a:rPr lang="en-US" dirty="0" err="1"/>
              <a:t>url_length</a:t>
            </a:r>
            <a:r>
              <a:rPr lang="en-US" dirty="0"/>
              <a:t>'] = </a:t>
            </a:r>
            <a:r>
              <a:rPr lang="en-US" dirty="0" err="1"/>
              <a:t>url_df</a:t>
            </a:r>
            <a:r>
              <a:rPr lang="en-US" dirty="0"/>
              <a:t>['</a:t>
            </a:r>
            <a:r>
              <a:rPr lang="en-US" dirty="0" err="1"/>
              <a:t>url</a:t>
            </a:r>
            <a:r>
              <a:rPr lang="en-US" dirty="0"/>
              <a:t>'].apply(</a:t>
            </a:r>
            <a:r>
              <a:rPr lang="en-US" dirty="0" err="1"/>
              <a:t>len</a:t>
            </a:r>
            <a:r>
              <a:rPr lang="en-US" dirty="0"/>
              <a:t>)</a:t>
            </a:r>
          </a:p>
          <a:p>
            <a:r>
              <a:rPr lang="en-US" dirty="0" err="1"/>
              <a:t>url_df.sample</a:t>
            </a:r>
            <a:r>
              <a:rPr lang="en-US" dirty="0"/>
              <a:t>(10)</a:t>
            </a:r>
            <a:endParaRPr lang="en-GB" dirty="0"/>
          </a:p>
        </p:txBody>
      </p:sp>
      <p:pic>
        <p:nvPicPr>
          <p:cNvPr id="6" name="Content Placeholder 5">
            <a:extLst>
              <a:ext uri="{FF2B5EF4-FFF2-40B4-BE49-F238E27FC236}">
                <a16:creationId xmlns:a16="http://schemas.microsoft.com/office/drawing/2014/main" id="{A56D0A56-FF69-A231-B392-BE5EAA65D1E5}"/>
              </a:ext>
            </a:extLst>
          </p:cNvPr>
          <p:cNvPicPr>
            <a:picLocks noGrp="1" noChangeAspect="1"/>
          </p:cNvPicPr>
          <p:nvPr>
            <p:ph sz="half" idx="2"/>
          </p:nvPr>
        </p:nvPicPr>
        <p:blipFill>
          <a:blip r:embed="rId3"/>
          <a:stretch>
            <a:fillRect/>
          </a:stretch>
        </p:blipFill>
        <p:spPr>
          <a:xfrm>
            <a:off x="6413500" y="2375632"/>
            <a:ext cx="4645025" cy="2725862"/>
          </a:xfrm>
        </p:spPr>
      </p:pic>
    </p:spTree>
    <p:extLst>
      <p:ext uri="{BB962C8B-B14F-4D97-AF65-F5344CB8AC3E}">
        <p14:creationId xmlns:p14="http://schemas.microsoft.com/office/powerpoint/2010/main" val="1867942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B1263-5D22-3327-B76A-01035D979F00}"/>
              </a:ext>
            </a:extLst>
          </p:cNvPr>
          <p:cNvSpPr>
            <a:spLocks noGrp="1"/>
          </p:cNvSpPr>
          <p:nvPr>
            <p:ph type="title"/>
          </p:nvPr>
        </p:nvSpPr>
        <p:spPr/>
        <p:txBody>
          <a:bodyPr/>
          <a:lstStyle/>
          <a:p>
            <a:endParaRPr lang="en-GB"/>
          </a:p>
        </p:txBody>
      </p:sp>
      <p:pic>
        <p:nvPicPr>
          <p:cNvPr id="6" name="Content Placeholder 5">
            <a:extLst>
              <a:ext uri="{FF2B5EF4-FFF2-40B4-BE49-F238E27FC236}">
                <a16:creationId xmlns:a16="http://schemas.microsoft.com/office/drawing/2014/main" id="{3E34E0B1-7978-6A25-841A-14CD3808B62C}"/>
              </a:ext>
            </a:extLst>
          </p:cNvPr>
          <p:cNvPicPr>
            <a:picLocks noGrp="1" noChangeAspect="1"/>
          </p:cNvPicPr>
          <p:nvPr>
            <p:ph sz="half" idx="1"/>
          </p:nvPr>
        </p:nvPicPr>
        <p:blipFill>
          <a:blip r:embed="rId3"/>
          <a:stretch>
            <a:fillRect/>
          </a:stretch>
        </p:blipFill>
        <p:spPr>
          <a:xfrm>
            <a:off x="1697847" y="2011363"/>
            <a:ext cx="4144931" cy="3448050"/>
          </a:xfrm>
        </p:spPr>
      </p:pic>
      <p:sp>
        <p:nvSpPr>
          <p:cNvPr id="4" name="Content Placeholder 3">
            <a:extLst>
              <a:ext uri="{FF2B5EF4-FFF2-40B4-BE49-F238E27FC236}">
                <a16:creationId xmlns:a16="http://schemas.microsoft.com/office/drawing/2014/main" id="{CAB19BC9-350B-6C1C-0845-4749FA007F13}"/>
              </a:ext>
            </a:extLst>
          </p:cNvPr>
          <p:cNvSpPr>
            <a:spLocks noGrp="1"/>
          </p:cNvSpPr>
          <p:nvPr>
            <p:ph sz="half" idx="2"/>
          </p:nvPr>
        </p:nvSpPr>
        <p:spPr/>
        <p:txBody>
          <a:bodyPr>
            <a:normAutofit/>
          </a:bodyPr>
          <a:lstStyle/>
          <a:p>
            <a:r>
              <a:rPr lang="en-US" dirty="0"/>
              <a:t>This code segment defines two functions, </a:t>
            </a:r>
            <a:r>
              <a:rPr lang="en-US" b="1" dirty="0" err="1"/>
              <a:t>extract_protocol</a:t>
            </a:r>
            <a:r>
              <a:rPr lang="en-US" b="1" dirty="0"/>
              <a:t>() </a:t>
            </a:r>
            <a:r>
              <a:rPr lang="en-US" dirty="0"/>
              <a:t>and to extract the protocol and </a:t>
            </a:r>
            <a:r>
              <a:rPr lang="en-US" b="1" dirty="0" err="1"/>
              <a:t>extract_domain</a:t>
            </a:r>
            <a:r>
              <a:rPr lang="en-US" b="1" dirty="0"/>
              <a:t>(), </a:t>
            </a:r>
            <a:r>
              <a:rPr lang="en-US" dirty="0"/>
              <a:t>domain from URLs, respectively. It then applies these functions to create new columns 'protocol' and 'domain' in the </a:t>
            </a:r>
            <a:r>
              <a:rPr lang="en-US" dirty="0" err="1"/>
              <a:t>DataFrame</a:t>
            </a:r>
            <a:r>
              <a:rPr lang="en-US" dirty="0"/>
              <a:t> </a:t>
            </a:r>
            <a:r>
              <a:rPr lang="en-US" dirty="0" err="1"/>
              <a:t>url_df</a:t>
            </a:r>
            <a:r>
              <a:rPr lang="en-US" dirty="0"/>
              <a:t>. Finally, it displays the entire </a:t>
            </a:r>
            <a:r>
              <a:rPr lang="en-US" dirty="0" err="1"/>
              <a:t>DataFrame</a:t>
            </a:r>
            <a:r>
              <a:rPr lang="en-US" dirty="0"/>
              <a:t> using the display() function from </a:t>
            </a:r>
            <a:r>
              <a:rPr lang="en-US" dirty="0" err="1"/>
              <a:t>IPython</a:t>
            </a:r>
            <a:endParaRPr lang="en-GB" dirty="0"/>
          </a:p>
        </p:txBody>
      </p:sp>
    </p:spTree>
    <p:extLst>
      <p:ext uri="{BB962C8B-B14F-4D97-AF65-F5344CB8AC3E}">
        <p14:creationId xmlns:p14="http://schemas.microsoft.com/office/powerpoint/2010/main" val="1722375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65F69-4DA6-FA03-24FB-F328603F79F5}"/>
              </a:ext>
            </a:extLst>
          </p:cNvPr>
          <p:cNvSpPr>
            <a:spLocks noGrp="1"/>
          </p:cNvSpPr>
          <p:nvPr>
            <p:ph type="title"/>
          </p:nvPr>
        </p:nvSpPr>
        <p:spPr/>
        <p:txBody>
          <a:bodyPr/>
          <a:lstStyle/>
          <a:p>
            <a:endParaRPr lang="en-GB"/>
          </a:p>
        </p:txBody>
      </p:sp>
      <p:pic>
        <p:nvPicPr>
          <p:cNvPr id="6" name="Content Placeholder 5">
            <a:extLst>
              <a:ext uri="{FF2B5EF4-FFF2-40B4-BE49-F238E27FC236}">
                <a16:creationId xmlns:a16="http://schemas.microsoft.com/office/drawing/2014/main" id="{A2844122-978E-A98B-0B84-1050DDB88729}"/>
              </a:ext>
            </a:extLst>
          </p:cNvPr>
          <p:cNvPicPr>
            <a:picLocks noGrp="1" noChangeAspect="1"/>
          </p:cNvPicPr>
          <p:nvPr>
            <p:ph sz="half" idx="1"/>
          </p:nvPr>
        </p:nvPicPr>
        <p:blipFill>
          <a:blip r:embed="rId3"/>
          <a:stretch>
            <a:fillRect/>
          </a:stretch>
        </p:blipFill>
        <p:spPr>
          <a:xfrm>
            <a:off x="810800" y="2446317"/>
            <a:ext cx="5282026" cy="2547490"/>
          </a:xfrm>
        </p:spPr>
      </p:pic>
      <p:pic>
        <p:nvPicPr>
          <p:cNvPr id="8" name="Content Placeholder 7">
            <a:extLst>
              <a:ext uri="{FF2B5EF4-FFF2-40B4-BE49-F238E27FC236}">
                <a16:creationId xmlns:a16="http://schemas.microsoft.com/office/drawing/2014/main" id="{A481C788-D389-0E0D-7A63-8232FE3084CA}"/>
              </a:ext>
            </a:extLst>
          </p:cNvPr>
          <p:cNvPicPr>
            <a:picLocks noGrp="1" noChangeAspect="1"/>
          </p:cNvPicPr>
          <p:nvPr>
            <p:ph sz="half" idx="2"/>
          </p:nvPr>
        </p:nvPicPr>
        <p:blipFill>
          <a:blip r:embed="rId4"/>
          <a:stretch>
            <a:fillRect/>
          </a:stretch>
        </p:blipFill>
        <p:spPr>
          <a:xfrm>
            <a:off x="6413500" y="2793252"/>
            <a:ext cx="5770623" cy="2348764"/>
          </a:xfrm>
        </p:spPr>
      </p:pic>
    </p:spTree>
    <p:extLst>
      <p:ext uri="{BB962C8B-B14F-4D97-AF65-F5344CB8AC3E}">
        <p14:creationId xmlns:p14="http://schemas.microsoft.com/office/powerpoint/2010/main" val="1128309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96A68-BDCD-93D8-1E84-DE7B25635910}"/>
              </a:ext>
            </a:extLst>
          </p:cNvPr>
          <p:cNvSpPr>
            <a:spLocks noGrp="1"/>
          </p:cNvSpPr>
          <p:nvPr>
            <p:ph type="title"/>
          </p:nvPr>
        </p:nvSpPr>
        <p:spPr/>
        <p:txBody>
          <a:bodyPr/>
          <a:lstStyle/>
          <a:p>
            <a:r>
              <a:rPr lang="en-GB" dirty="0"/>
              <a:t>Data visualization </a:t>
            </a:r>
          </a:p>
        </p:txBody>
      </p:sp>
      <p:sp>
        <p:nvSpPr>
          <p:cNvPr id="3" name="Content Placeholder 2">
            <a:extLst>
              <a:ext uri="{FF2B5EF4-FFF2-40B4-BE49-F238E27FC236}">
                <a16:creationId xmlns:a16="http://schemas.microsoft.com/office/drawing/2014/main" id="{63336977-5388-5D29-F017-B5E67B5F31EE}"/>
              </a:ext>
            </a:extLst>
          </p:cNvPr>
          <p:cNvSpPr>
            <a:spLocks noGrp="1"/>
          </p:cNvSpPr>
          <p:nvPr>
            <p:ph sz="half" idx="1"/>
          </p:nvPr>
        </p:nvSpPr>
        <p:spPr/>
        <p:txBody>
          <a:bodyPr>
            <a:normAutofit fontScale="47500" lnSpcReduction="20000"/>
          </a:bodyPr>
          <a:lstStyle/>
          <a:p>
            <a:r>
              <a:rPr lang="en-GB" dirty="0"/>
              <a:t># </a:t>
            </a:r>
            <a:r>
              <a:rPr lang="en-GB" dirty="0" err="1"/>
              <a:t>Countplot</a:t>
            </a:r>
            <a:endParaRPr lang="en-GB" dirty="0"/>
          </a:p>
          <a:p>
            <a:r>
              <a:rPr lang="en-GB" dirty="0" err="1"/>
              <a:t>ax</a:t>
            </a:r>
            <a:r>
              <a:rPr lang="en-GB" dirty="0"/>
              <a:t> = </a:t>
            </a:r>
            <a:r>
              <a:rPr lang="en-GB" dirty="0" err="1"/>
              <a:t>sns.countplot</a:t>
            </a:r>
            <a:r>
              <a:rPr lang="en-GB" dirty="0"/>
              <a:t>(data=</a:t>
            </a:r>
            <a:r>
              <a:rPr lang="en-GB" dirty="0" err="1"/>
              <a:t>url_df</a:t>
            </a:r>
            <a:r>
              <a:rPr lang="en-GB" dirty="0"/>
              <a:t>, x='type', palette='tab20', order=</a:t>
            </a:r>
            <a:r>
              <a:rPr lang="en-GB" dirty="0" err="1"/>
              <a:t>url_df</a:t>
            </a:r>
            <a:r>
              <a:rPr lang="en-GB" dirty="0"/>
              <a:t>['type'].</a:t>
            </a:r>
            <a:r>
              <a:rPr lang="en-GB" dirty="0" err="1"/>
              <a:t>value_counts</a:t>
            </a:r>
            <a:r>
              <a:rPr lang="en-GB" dirty="0"/>
              <a:t>().index)</a:t>
            </a:r>
          </a:p>
          <a:p>
            <a:endParaRPr lang="en-GB" dirty="0"/>
          </a:p>
          <a:p>
            <a:r>
              <a:rPr lang="en-GB" dirty="0"/>
              <a:t># Annotate each bar with its count</a:t>
            </a:r>
          </a:p>
          <a:p>
            <a:r>
              <a:rPr lang="en-GB" dirty="0"/>
              <a:t>for p, label in zip(</a:t>
            </a:r>
            <a:r>
              <a:rPr lang="en-GB" dirty="0" err="1"/>
              <a:t>ax.patches</a:t>
            </a:r>
            <a:r>
              <a:rPr lang="en-GB" dirty="0"/>
              <a:t>, </a:t>
            </a:r>
            <a:r>
              <a:rPr lang="en-GB" dirty="0" err="1"/>
              <a:t>url_df</a:t>
            </a:r>
            <a:r>
              <a:rPr lang="en-GB" dirty="0"/>
              <a:t>['type'].</a:t>
            </a:r>
            <a:r>
              <a:rPr lang="en-GB" dirty="0" err="1"/>
              <a:t>value_counts</a:t>
            </a:r>
            <a:r>
              <a:rPr lang="en-GB" dirty="0"/>
              <a:t>()):</a:t>
            </a:r>
          </a:p>
          <a:p>
            <a:r>
              <a:rPr lang="en-GB" dirty="0"/>
              <a:t>    </a:t>
            </a:r>
            <a:r>
              <a:rPr lang="en-GB" dirty="0" err="1"/>
              <a:t>ax.annotate</a:t>
            </a:r>
            <a:r>
              <a:rPr lang="en-GB" dirty="0"/>
              <a:t>(label, (</a:t>
            </a:r>
            <a:r>
              <a:rPr lang="en-GB" dirty="0" err="1"/>
              <a:t>p.get_x</a:t>
            </a:r>
            <a:r>
              <a:rPr lang="en-GB" dirty="0"/>
              <a:t>() + </a:t>
            </a:r>
            <a:r>
              <a:rPr lang="en-GB" dirty="0" err="1"/>
              <a:t>p.get_width</a:t>
            </a:r>
            <a:r>
              <a:rPr lang="en-GB" dirty="0"/>
              <a:t>() / 2., </a:t>
            </a:r>
            <a:r>
              <a:rPr lang="en-GB" dirty="0" err="1"/>
              <a:t>p.get_height</a:t>
            </a:r>
            <a:r>
              <a:rPr lang="en-GB" dirty="0"/>
              <a:t>()), ha='</a:t>
            </a:r>
            <a:r>
              <a:rPr lang="en-GB" dirty="0" err="1"/>
              <a:t>center</a:t>
            </a:r>
            <a:r>
              <a:rPr lang="en-GB" dirty="0"/>
              <a:t>', </a:t>
            </a:r>
            <a:r>
              <a:rPr lang="en-GB" dirty="0" err="1"/>
              <a:t>va</a:t>
            </a:r>
            <a:r>
              <a:rPr lang="en-GB" dirty="0"/>
              <a:t>='</a:t>
            </a:r>
            <a:r>
              <a:rPr lang="en-GB" dirty="0" err="1"/>
              <a:t>center</a:t>
            </a:r>
            <a:r>
              <a:rPr lang="en-GB" dirty="0"/>
              <a:t>',</a:t>
            </a:r>
          </a:p>
          <a:p>
            <a:r>
              <a:rPr lang="en-GB" dirty="0"/>
              <a:t>                </a:t>
            </a:r>
            <a:r>
              <a:rPr lang="en-GB" dirty="0" err="1"/>
              <a:t>xytext</a:t>
            </a:r>
            <a:r>
              <a:rPr lang="en-GB" dirty="0"/>
              <a:t>=(0, 10), </a:t>
            </a:r>
            <a:r>
              <a:rPr lang="en-GB" dirty="0" err="1"/>
              <a:t>textcoords</a:t>
            </a:r>
            <a:r>
              <a:rPr lang="en-GB" dirty="0"/>
              <a:t>='offset points')</a:t>
            </a:r>
          </a:p>
          <a:p>
            <a:endParaRPr lang="en-GB" dirty="0"/>
          </a:p>
          <a:p>
            <a:r>
              <a:rPr lang="en-GB" dirty="0"/>
              <a:t># Set plot title and show the plot</a:t>
            </a:r>
          </a:p>
          <a:p>
            <a:r>
              <a:rPr lang="en-GB" dirty="0" err="1"/>
              <a:t>ax.set_title</a:t>
            </a:r>
            <a:r>
              <a:rPr lang="en-GB" dirty="0"/>
              <a:t>('</a:t>
            </a:r>
            <a:r>
              <a:rPr lang="en-GB" dirty="0" err="1"/>
              <a:t>Countplot</a:t>
            </a:r>
            <a:r>
              <a:rPr lang="en-GB" dirty="0"/>
              <a:t> of Target Variable: Type')</a:t>
            </a:r>
          </a:p>
          <a:p>
            <a:r>
              <a:rPr lang="en-GB" dirty="0" err="1"/>
              <a:t>plt.show</a:t>
            </a:r>
            <a:r>
              <a:rPr lang="en-GB" dirty="0"/>
              <a:t>()</a:t>
            </a:r>
          </a:p>
        </p:txBody>
      </p:sp>
      <p:pic>
        <p:nvPicPr>
          <p:cNvPr id="8" name="Content Placeholder 7">
            <a:extLst>
              <a:ext uri="{FF2B5EF4-FFF2-40B4-BE49-F238E27FC236}">
                <a16:creationId xmlns:a16="http://schemas.microsoft.com/office/drawing/2014/main" id="{66470A24-3F75-3735-527E-669E5751BB9F}"/>
              </a:ext>
            </a:extLst>
          </p:cNvPr>
          <p:cNvPicPr>
            <a:picLocks noGrp="1" noChangeAspect="1"/>
          </p:cNvPicPr>
          <p:nvPr>
            <p:ph sz="half" idx="2"/>
          </p:nvPr>
        </p:nvPicPr>
        <p:blipFill>
          <a:blip r:embed="rId3"/>
          <a:stretch>
            <a:fillRect/>
          </a:stretch>
        </p:blipFill>
        <p:spPr>
          <a:xfrm>
            <a:off x="6413500" y="2274122"/>
            <a:ext cx="4645025" cy="2928882"/>
          </a:xfrm>
        </p:spPr>
      </p:pic>
    </p:spTree>
    <p:extLst>
      <p:ext uri="{BB962C8B-B14F-4D97-AF65-F5344CB8AC3E}">
        <p14:creationId xmlns:p14="http://schemas.microsoft.com/office/powerpoint/2010/main" val="2856953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C42CB-0FB8-8DB3-CEA5-B13BDA654A7B}"/>
              </a:ext>
            </a:extLst>
          </p:cNvPr>
          <p:cNvSpPr>
            <a:spLocks noGrp="1"/>
          </p:cNvSpPr>
          <p:nvPr>
            <p:ph type="title"/>
          </p:nvPr>
        </p:nvSpPr>
        <p:spPr/>
        <p:txBody>
          <a:bodyPr/>
          <a:lstStyle/>
          <a:p>
            <a:r>
              <a:rPr lang="en-US" dirty="0"/>
              <a:t>Creating New Features Based on URL Characteristics</a:t>
            </a:r>
            <a:endParaRPr lang="en-GB" dirty="0"/>
          </a:p>
        </p:txBody>
      </p:sp>
      <p:sp>
        <p:nvSpPr>
          <p:cNvPr id="3" name="Content Placeholder 2">
            <a:extLst>
              <a:ext uri="{FF2B5EF4-FFF2-40B4-BE49-F238E27FC236}">
                <a16:creationId xmlns:a16="http://schemas.microsoft.com/office/drawing/2014/main" id="{E66B81D4-044F-3509-AEC5-8543002175C1}"/>
              </a:ext>
            </a:extLst>
          </p:cNvPr>
          <p:cNvSpPr>
            <a:spLocks noGrp="1"/>
          </p:cNvSpPr>
          <p:nvPr>
            <p:ph sz="half" idx="1"/>
          </p:nvPr>
        </p:nvSpPr>
        <p:spPr/>
        <p:txBody>
          <a:bodyPr>
            <a:normAutofit fontScale="92500" lnSpcReduction="20000"/>
          </a:bodyPr>
          <a:lstStyle/>
          <a:p>
            <a:r>
              <a:rPr lang="en-GB" b="0" dirty="0" err="1">
                <a:solidFill>
                  <a:srgbClr val="000000"/>
                </a:solidFill>
                <a:effectLst/>
                <a:highlight>
                  <a:srgbClr val="F7F7F7"/>
                </a:highlight>
                <a:latin typeface="Courier New" panose="02070309020205020404" pitchFamily="49" charset="0"/>
              </a:rPr>
              <a:t>feature_chars</a:t>
            </a:r>
            <a:r>
              <a:rPr lang="en-GB" b="0" dirty="0">
                <a:solidFill>
                  <a:srgbClr val="000000"/>
                </a:solidFill>
                <a:effectLst/>
                <a:highlight>
                  <a:srgbClr val="F7F7F7"/>
                </a:highlight>
                <a:latin typeface="Courier New" panose="02070309020205020404" pitchFamily="49" charset="0"/>
              </a:rPr>
              <a:t> =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a:t>
            </a:r>
          </a:p>
          <a:p>
            <a:br>
              <a:rPr lang="en-GB" b="0" dirty="0">
                <a:solidFill>
                  <a:srgbClr val="000000"/>
                </a:solidFill>
                <a:effectLst/>
                <a:highlight>
                  <a:srgbClr val="F7F7F7"/>
                </a:highlight>
                <a:latin typeface="Courier New" panose="02070309020205020404" pitchFamily="49" charset="0"/>
              </a:rPr>
            </a:br>
            <a:r>
              <a:rPr lang="en-GB" b="0" dirty="0">
                <a:solidFill>
                  <a:srgbClr val="AF00DB"/>
                </a:solidFill>
                <a:effectLst/>
                <a:highlight>
                  <a:srgbClr val="F7F7F7"/>
                </a:highlight>
                <a:latin typeface="Courier New" panose="02070309020205020404" pitchFamily="49" charset="0"/>
              </a:rPr>
              <a:t>for</a:t>
            </a:r>
            <a:r>
              <a:rPr lang="en-GB" b="0" dirty="0">
                <a:solidFill>
                  <a:srgbClr val="000000"/>
                </a:solidFill>
                <a:effectLst/>
                <a:highlight>
                  <a:srgbClr val="F7F7F7"/>
                </a:highlight>
                <a:latin typeface="Courier New" panose="02070309020205020404" pitchFamily="49" charset="0"/>
              </a:rPr>
              <a:t> char </a:t>
            </a:r>
            <a:r>
              <a:rPr lang="en-GB" b="0" dirty="0">
                <a:solidFill>
                  <a:srgbClr val="0000FF"/>
                </a:solidFill>
                <a:effectLst/>
                <a:highlight>
                  <a:srgbClr val="F7F7F7"/>
                </a:highlight>
                <a:latin typeface="Courier New" panose="02070309020205020404" pitchFamily="49" charset="0"/>
              </a:rPr>
              <a:t>in</a:t>
            </a:r>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feature_chars</a:t>
            </a:r>
            <a:r>
              <a:rPr lang="en-GB" b="0" dirty="0">
                <a:solidFill>
                  <a:srgbClr val="000000"/>
                </a:solidFill>
                <a:effectLst/>
                <a:highlight>
                  <a:srgbClr val="F7F7F7"/>
                </a:highlight>
                <a:latin typeface="Courier New" panose="02070309020205020404" pitchFamily="49" charset="0"/>
              </a:rPr>
              <a:t>:</a:t>
            </a:r>
          </a:p>
          <a:p>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url_df</a:t>
            </a:r>
            <a:r>
              <a:rPr lang="en-GB" b="0" dirty="0">
                <a:solidFill>
                  <a:srgbClr val="000000"/>
                </a:solidFill>
                <a:effectLst/>
                <a:highlight>
                  <a:srgbClr val="F7F7F7"/>
                </a:highlight>
                <a:latin typeface="Courier New" panose="02070309020205020404" pitchFamily="49" charset="0"/>
              </a:rPr>
              <a:t>[char] = </a:t>
            </a:r>
            <a:r>
              <a:rPr lang="en-GB" b="0" dirty="0" err="1">
                <a:solidFill>
                  <a:srgbClr val="000000"/>
                </a:solidFill>
                <a:effectLst/>
                <a:highlight>
                  <a:srgbClr val="F7F7F7"/>
                </a:highlight>
                <a:latin typeface="Courier New" panose="02070309020205020404" pitchFamily="49" charset="0"/>
              </a:rPr>
              <a:t>url_df</a:t>
            </a:r>
            <a:r>
              <a:rPr lang="en-GB" b="0" dirty="0">
                <a:solidFill>
                  <a:srgbClr val="000000"/>
                </a:solidFill>
                <a:effectLst/>
                <a:highlight>
                  <a:srgbClr val="F7F7F7"/>
                </a:highlight>
                <a:latin typeface="Courier New" panose="02070309020205020404" pitchFamily="49" charset="0"/>
              </a:rPr>
              <a:t>[</a:t>
            </a:r>
            <a:r>
              <a:rPr lang="en-GB" b="0" dirty="0">
                <a:solidFill>
                  <a:srgbClr val="A31515"/>
                </a:solidFill>
                <a:effectLst/>
                <a:highlight>
                  <a:srgbClr val="F7F7F7"/>
                </a:highlight>
                <a:latin typeface="Courier New" panose="02070309020205020404" pitchFamily="49" charset="0"/>
              </a:rPr>
              <a:t>'</a:t>
            </a:r>
            <a:r>
              <a:rPr lang="en-GB" b="0" dirty="0" err="1">
                <a:solidFill>
                  <a:srgbClr val="A31515"/>
                </a:solidFill>
                <a:effectLst/>
                <a:highlight>
                  <a:srgbClr val="F7F7F7"/>
                </a:highlight>
                <a:latin typeface="Courier New" panose="02070309020205020404" pitchFamily="49" charset="0"/>
              </a:rPr>
              <a:t>url</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].apply(</a:t>
            </a:r>
            <a:r>
              <a:rPr lang="en-GB" b="0" dirty="0">
                <a:solidFill>
                  <a:srgbClr val="0000FF"/>
                </a:solidFill>
                <a:effectLst/>
                <a:highlight>
                  <a:srgbClr val="F7F7F7"/>
                </a:highlight>
                <a:latin typeface="Courier New" panose="02070309020205020404" pitchFamily="49" charset="0"/>
              </a:rPr>
              <a:t>lambda</a:t>
            </a:r>
            <a:r>
              <a:rPr lang="en-GB" b="0" dirty="0">
                <a:solidFill>
                  <a:srgbClr val="000000"/>
                </a:solidFill>
                <a:effectLst/>
                <a:highlight>
                  <a:srgbClr val="F7F7F7"/>
                </a:highlight>
                <a:latin typeface="Courier New" panose="02070309020205020404" pitchFamily="49" charset="0"/>
              </a:rPr>
              <a:t> url: </a:t>
            </a:r>
            <a:r>
              <a:rPr lang="en-GB" b="0" dirty="0" err="1">
                <a:solidFill>
                  <a:srgbClr val="000000"/>
                </a:solidFill>
                <a:effectLst/>
                <a:highlight>
                  <a:srgbClr val="F7F7F7"/>
                </a:highlight>
                <a:latin typeface="Courier New" panose="02070309020205020404" pitchFamily="49" charset="0"/>
              </a:rPr>
              <a:t>url.count</a:t>
            </a:r>
            <a:r>
              <a:rPr lang="en-GB" b="0" dirty="0">
                <a:solidFill>
                  <a:srgbClr val="000000"/>
                </a:solidFill>
                <a:effectLst/>
                <a:highlight>
                  <a:srgbClr val="F7F7F7"/>
                </a:highlight>
                <a:latin typeface="Courier New" panose="02070309020205020404" pitchFamily="49" charset="0"/>
              </a:rPr>
              <a:t>(char))</a:t>
            </a:r>
          </a:p>
          <a:p>
            <a:br>
              <a:rPr lang="en-GB" b="0" dirty="0">
                <a:solidFill>
                  <a:srgbClr val="000000"/>
                </a:solidFill>
                <a:effectLst/>
                <a:highlight>
                  <a:srgbClr val="F7F7F7"/>
                </a:highlight>
                <a:latin typeface="Courier New" panose="02070309020205020404" pitchFamily="49" charset="0"/>
              </a:rPr>
            </a:br>
            <a:r>
              <a:rPr lang="en-GB" b="0" dirty="0" err="1">
                <a:solidFill>
                  <a:srgbClr val="000000"/>
                </a:solidFill>
                <a:effectLst/>
                <a:highlight>
                  <a:srgbClr val="F7F7F7"/>
                </a:highlight>
                <a:latin typeface="Courier New" panose="02070309020205020404" pitchFamily="49" charset="0"/>
              </a:rPr>
              <a:t>url_df.sample</a:t>
            </a:r>
            <a:r>
              <a:rPr lang="en-GB" b="0" dirty="0">
                <a:solidFill>
                  <a:srgbClr val="000000"/>
                </a:solidFill>
                <a:effectLst/>
                <a:highlight>
                  <a:srgbClr val="F7F7F7"/>
                </a:highlight>
                <a:latin typeface="Courier New" panose="02070309020205020404" pitchFamily="49" charset="0"/>
              </a:rPr>
              <a:t>(</a:t>
            </a:r>
            <a:r>
              <a:rPr lang="en-GB" b="0" dirty="0">
                <a:solidFill>
                  <a:srgbClr val="116644"/>
                </a:solidFill>
                <a:effectLst/>
                <a:highlight>
                  <a:srgbClr val="F7F7F7"/>
                </a:highlight>
                <a:latin typeface="Courier New" panose="02070309020205020404" pitchFamily="49" charset="0"/>
              </a:rPr>
              <a:t>10</a:t>
            </a:r>
            <a:r>
              <a:rPr lang="en-GB" b="0" dirty="0">
                <a:solidFill>
                  <a:srgbClr val="000000"/>
                </a:solidFill>
                <a:effectLst/>
                <a:highlight>
                  <a:srgbClr val="F7F7F7"/>
                </a:highlight>
                <a:latin typeface="Courier New" panose="02070309020205020404" pitchFamily="49" charset="0"/>
              </a:rPr>
              <a:t>)</a:t>
            </a:r>
          </a:p>
          <a:p>
            <a:endParaRPr lang="en-GB" dirty="0"/>
          </a:p>
        </p:txBody>
      </p:sp>
      <p:pic>
        <p:nvPicPr>
          <p:cNvPr id="6" name="Content Placeholder 5">
            <a:extLst>
              <a:ext uri="{FF2B5EF4-FFF2-40B4-BE49-F238E27FC236}">
                <a16:creationId xmlns:a16="http://schemas.microsoft.com/office/drawing/2014/main" id="{75499F1F-0C51-37A2-F7D9-D09BEBE1CA01}"/>
              </a:ext>
            </a:extLst>
          </p:cNvPr>
          <p:cNvPicPr>
            <a:picLocks noGrp="1" noChangeAspect="1"/>
          </p:cNvPicPr>
          <p:nvPr>
            <p:ph sz="half" idx="2"/>
          </p:nvPr>
        </p:nvPicPr>
        <p:blipFill>
          <a:blip r:embed="rId3"/>
          <a:stretch>
            <a:fillRect/>
          </a:stretch>
        </p:blipFill>
        <p:spPr>
          <a:xfrm>
            <a:off x="6413500" y="3276064"/>
            <a:ext cx="4645025" cy="1925328"/>
          </a:xfrm>
        </p:spPr>
      </p:pic>
    </p:spTree>
    <p:extLst>
      <p:ext uri="{BB962C8B-B14F-4D97-AF65-F5344CB8AC3E}">
        <p14:creationId xmlns:p14="http://schemas.microsoft.com/office/powerpoint/2010/main" val="1925069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37226-8424-5AD3-1420-D2FD84C21A3B}"/>
              </a:ext>
            </a:extLst>
          </p:cNvPr>
          <p:cNvSpPr>
            <a:spLocks noGrp="1"/>
          </p:cNvSpPr>
          <p:nvPr>
            <p:ph type="title"/>
          </p:nvPr>
        </p:nvSpPr>
        <p:spPr/>
        <p:txBody>
          <a:bodyPr/>
          <a:lstStyle/>
          <a:p>
            <a:r>
              <a:rPr lang="en-GB" dirty="0"/>
              <a:t>Checking if a </a:t>
            </a:r>
            <a:r>
              <a:rPr lang="en-GB" dirty="0" err="1"/>
              <a:t>url</a:t>
            </a:r>
            <a:r>
              <a:rPr lang="en-GB" dirty="0"/>
              <a:t> is normal or abnormal</a:t>
            </a:r>
          </a:p>
        </p:txBody>
      </p:sp>
      <p:sp>
        <p:nvSpPr>
          <p:cNvPr id="3" name="Content Placeholder 2">
            <a:extLst>
              <a:ext uri="{FF2B5EF4-FFF2-40B4-BE49-F238E27FC236}">
                <a16:creationId xmlns:a16="http://schemas.microsoft.com/office/drawing/2014/main" id="{6873C2AF-58BB-EE1F-F03D-E965C08CF114}"/>
              </a:ext>
            </a:extLst>
          </p:cNvPr>
          <p:cNvSpPr>
            <a:spLocks noGrp="1"/>
          </p:cNvSpPr>
          <p:nvPr>
            <p:ph sz="half" idx="1"/>
          </p:nvPr>
        </p:nvSpPr>
        <p:spPr/>
        <p:txBody>
          <a:bodyPr>
            <a:normAutofit fontScale="55000" lnSpcReduction="20000"/>
          </a:bodyPr>
          <a:lstStyle/>
          <a:p>
            <a:r>
              <a:rPr lang="en-GB" b="0" dirty="0">
                <a:solidFill>
                  <a:srgbClr val="0000FF"/>
                </a:solidFill>
                <a:effectLst/>
                <a:highlight>
                  <a:srgbClr val="F7F7F7"/>
                </a:highlight>
                <a:latin typeface="Courier New" panose="02070309020205020404" pitchFamily="49" charset="0"/>
              </a:rPr>
              <a:t>def</a:t>
            </a:r>
            <a:r>
              <a:rPr lang="en-GB" b="0" dirty="0">
                <a:solidFill>
                  <a:srgbClr val="000000"/>
                </a:solidFill>
                <a:effectLst/>
                <a:highlight>
                  <a:srgbClr val="F7F7F7"/>
                </a:highlight>
                <a:latin typeface="Courier New" panose="02070309020205020404" pitchFamily="49" charset="0"/>
              </a:rPr>
              <a:t> </a:t>
            </a:r>
            <a:r>
              <a:rPr lang="en-GB" b="0" dirty="0" err="1">
                <a:solidFill>
                  <a:srgbClr val="795E26"/>
                </a:solidFill>
                <a:effectLst/>
                <a:highlight>
                  <a:srgbClr val="F7F7F7"/>
                </a:highlight>
                <a:latin typeface="Courier New" panose="02070309020205020404" pitchFamily="49" charset="0"/>
              </a:rPr>
              <a:t>abnormal_url</a:t>
            </a:r>
            <a:r>
              <a:rPr lang="en-GB" b="0" dirty="0">
                <a:solidFill>
                  <a:srgbClr val="000000"/>
                </a:solidFill>
                <a:effectLst/>
                <a:highlight>
                  <a:srgbClr val="F7F7F7"/>
                </a:highlight>
                <a:latin typeface="Courier New" panose="02070309020205020404" pitchFamily="49" charset="0"/>
              </a:rPr>
              <a:t>(</a:t>
            </a:r>
            <a:r>
              <a:rPr lang="en-GB" b="0" dirty="0">
                <a:solidFill>
                  <a:srgbClr val="001080"/>
                </a:solidFill>
                <a:effectLst/>
                <a:highlight>
                  <a:srgbClr val="F7F7F7"/>
                </a:highlight>
                <a:latin typeface="Courier New" panose="02070309020205020404" pitchFamily="49" charset="0"/>
              </a:rPr>
              <a:t>url</a:t>
            </a:r>
            <a:r>
              <a:rPr lang="en-GB" b="0" dirty="0">
                <a:solidFill>
                  <a:srgbClr val="000000"/>
                </a:solidFill>
                <a:effectLst/>
                <a:highlight>
                  <a:srgbClr val="F7F7F7"/>
                </a:highlight>
                <a:latin typeface="Courier New" panose="02070309020205020404" pitchFamily="49" charset="0"/>
              </a:rPr>
              <a:t>: </a:t>
            </a:r>
            <a:r>
              <a:rPr lang="en-GB" b="0" dirty="0">
                <a:solidFill>
                  <a:srgbClr val="001080"/>
                </a:solidFill>
                <a:effectLst/>
                <a:highlight>
                  <a:srgbClr val="F7F7F7"/>
                </a:highlight>
                <a:latin typeface="Courier New" panose="02070309020205020404" pitchFamily="49" charset="0"/>
              </a:rPr>
              <a:t>str</a:t>
            </a:r>
            <a:r>
              <a:rPr lang="en-GB" b="0" dirty="0">
                <a:solidFill>
                  <a:srgbClr val="000000"/>
                </a:solidFill>
                <a:effectLst/>
                <a:highlight>
                  <a:srgbClr val="F7F7F7"/>
                </a:highlight>
                <a:latin typeface="Courier New" panose="02070309020205020404" pitchFamily="49" charset="0"/>
              </a:rPr>
              <a:t>) -&gt; </a:t>
            </a:r>
            <a:r>
              <a:rPr lang="en-GB" b="0" dirty="0">
                <a:solidFill>
                  <a:srgbClr val="257693"/>
                </a:solidFill>
                <a:effectLst/>
                <a:highlight>
                  <a:srgbClr val="F7F7F7"/>
                </a:highlight>
                <a:latin typeface="Courier New" panose="02070309020205020404" pitchFamily="49" charset="0"/>
              </a:rPr>
              <a:t>int</a:t>
            </a:r>
            <a:r>
              <a:rPr lang="en-GB" b="0" dirty="0">
                <a:solidFill>
                  <a:srgbClr val="000000"/>
                </a:solidFill>
                <a:effectLst/>
                <a:highlight>
                  <a:srgbClr val="F7F7F7"/>
                </a:highlight>
                <a:latin typeface="Courier New" panose="02070309020205020404" pitchFamily="49" charset="0"/>
              </a:rPr>
              <a:t>:</a:t>
            </a:r>
          </a:p>
          <a:p>
            <a:r>
              <a:rPr lang="en-GB" b="0" dirty="0">
                <a:solidFill>
                  <a:srgbClr val="000000"/>
                </a:solidFill>
                <a:effectLst/>
                <a:highlight>
                  <a:srgbClr val="F7F7F7"/>
                </a:highlight>
                <a:latin typeface="Courier New" panose="02070309020205020404" pitchFamily="49" charset="0"/>
              </a:rPr>
              <a:t>    </a:t>
            </a:r>
            <a:r>
              <a:rPr lang="en-GB" b="0" dirty="0">
                <a:solidFill>
                  <a:srgbClr val="008000"/>
                </a:solidFill>
                <a:effectLst/>
                <a:highlight>
                  <a:srgbClr val="F7F7F7"/>
                </a:highlight>
                <a:latin typeface="Courier New" panose="02070309020205020404" pitchFamily="49" charset="0"/>
              </a:rPr>
              <a:t># Extract hostname from the URL</a:t>
            </a:r>
            <a:endParaRPr lang="en-GB" b="0" dirty="0">
              <a:solidFill>
                <a:srgbClr val="000000"/>
              </a:solidFill>
              <a:effectLst/>
              <a:highlight>
                <a:srgbClr val="F7F7F7"/>
              </a:highlight>
              <a:latin typeface="Courier New" panose="02070309020205020404" pitchFamily="49" charset="0"/>
            </a:endParaRPr>
          </a:p>
          <a:p>
            <a:r>
              <a:rPr lang="en-GB" b="0" dirty="0">
                <a:solidFill>
                  <a:srgbClr val="000000"/>
                </a:solidFill>
                <a:effectLst/>
                <a:highlight>
                  <a:srgbClr val="F7F7F7"/>
                </a:highlight>
                <a:latin typeface="Courier New" panose="02070309020205020404" pitchFamily="49" charset="0"/>
              </a:rPr>
              <a:t>    hostname = </a:t>
            </a:r>
            <a:r>
              <a:rPr lang="en-GB" b="0" dirty="0" err="1">
                <a:solidFill>
                  <a:srgbClr val="000000"/>
                </a:solidFill>
                <a:effectLst/>
                <a:highlight>
                  <a:srgbClr val="F7F7F7"/>
                </a:highlight>
                <a:latin typeface="Courier New" panose="02070309020205020404" pitchFamily="49" charset="0"/>
              </a:rPr>
              <a:t>urlparse</a:t>
            </a:r>
            <a:r>
              <a:rPr lang="en-GB" b="0" dirty="0">
                <a:solidFill>
                  <a:srgbClr val="000000"/>
                </a:solidFill>
                <a:effectLst/>
                <a:highlight>
                  <a:srgbClr val="F7F7F7"/>
                </a:highlight>
                <a:latin typeface="Courier New" panose="02070309020205020404" pitchFamily="49" charset="0"/>
              </a:rPr>
              <a:t>(</a:t>
            </a:r>
            <a:r>
              <a:rPr lang="en-GB" b="0" dirty="0" err="1">
                <a:solidFill>
                  <a:srgbClr val="000000"/>
                </a:solidFill>
                <a:effectLst/>
                <a:highlight>
                  <a:srgbClr val="F7F7F7"/>
                </a:highlight>
                <a:latin typeface="Courier New" panose="02070309020205020404" pitchFamily="49" charset="0"/>
              </a:rPr>
              <a:t>url</a:t>
            </a:r>
            <a:r>
              <a:rPr lang="en-GB" b="0" dirty="0">
                <a:solidFill>
                  <a:srgbClr val="000000"/>
                </a:solidFill>
                <a:effectLst/>
                <a:highlight>
                  <a:srgbClr val="F7F7F7"/>
                </a:highlight>
                <a:latin typeface="Courier New" panose="02070309020205020404" pitchFamily="49" charset="0"/>
              </a:rPr>
              <a:t>).hostname</a:t>
            </a:r>
          </a:p>
          <a:p>
            <a:br>
              <a:rPr lang="en-GB" b="0" dirty="0">
                <a:solidFill>
                  <a:srgbClr val="000000"/>
                </a:solidFill>
                <a:effectLst/>
                <a:highlight>
                  <a:srgbClr val="F7F7F7"/>
                </a:highlight>
                <a:latin typeface="Courier New" panose="02070309020205020404" pitchFamily="49" charset="0"/>
              </a:rPr>
            </a:br>
            <a:r>
              <a:rPr lang="en-GB" b="0" dirty="0">
                <a:solidFill>
                  <a:srgbClr val="000000"/>
                </a:solidFill>
                <a:effectLst/>
                <a:highlight>
                  <a:srgbClr val="F7F7F7"/>
                </a:highlight>
                <a:latin typeface="Courier New" panose="02070309020205020404" pitchFamily="49" charset="0"/>
              </a:rPr>
              <a:t>    </a:t>
            </a:r>
            <a:r>
              <a:rPr lang="en-GB" b="0" dirty="0">
                <a:solidFill>
                  <a:srgbClr val="008000"/>
                </a:solidFill>
                <a:effectLst/>
                <a:highlight>
                  <a:srgbClr val="F7F7F7"/>
                </a:highlight>
                <a:latin typeface="Courier New" panose="02070309020205020404" pitchFamily="49" charset="0"/>
              </a:rPr>
              <a:t># Convert hostname to a string</a:t>
            </a:r>
            <a:endParaRPr lang="en-GB" b="0" dirty="0">
              <a:solidFill>
                <a:srgbClr val="000000"/>
              </a:solidFill>
              <a:effectLst/>
              <a:highlight>
                <a:srgbClr val="F7F7F7"/>
              </a:highlight>
              <a:latin typeface="Courier New" panose="02070309020205020404" pitchFamily="49" charset="0"/>
            </a:endParaRPr>
          </a:p>
          <a:p>
            <a:r>
              <a:rPr lang="en-GB" b="0" dirty="0">
                <a:solidFill>
                  <a:srgbClr val="000000"/>
                </a:solidFill>
                <a:effectLst/>
                <a:highlight>
                  <a:srgbClr val="F7F7F7"/>
                </a:highlight>
                <a:latin typeface="Courier New" panose="02070309020205020404" pitchFamily="49" charset="0"/>
              </a:rPr>
              <a:t>    hostname = </a:t>
            </a:r>
            <a:r>
              <a:rPr lang="en-GB" b="0" dirty="0">
                <a:solidFill>
                  <a:srgbClr val="257693"/>
                </a:solidFill>
                <a:effectLst/>
                <a:highlight>
                  <a:srgbClr val="F7F7F7"/>
                </a:highlight>
                <a:latin typeface="Courier New" panose="02070309020205020404" pitchFamily="49" charset="0"/>
              </a:rPr>
              <a:t>str</a:t>
            </a:r>
            <a:r>
              <a:rPr lang="en-GB" b="0" dirty="0">
                <a:solidFill>
                  <a:srgbClr val="000000"/>
                </a:solidFill>
                <a:effectLst/>
                <a:highlight>
                  <a:srgbClr val="F7F7F7"/>
                </a:highlight>
                <a:latin typeface="Courier New" panose="02070309020205020404" pitchFamily="49" charset="0"/>
              </a:rPr>
              <a:t>(hostname)</a:t>
            </a:r>
          </a:p>
          <a:p>
            <a:br>
              <a:rPr lang="en-GB" b="0" dirty="0">
                <a:solidFill>
                  <a:srgbClr val="000000"/>
                </a:solidFill>
                <a:effectLst/>
                <a:highlight>
                  <a:srgbClr val="F7F7F7"/>
                </a:highlight>
                <a:latin typeface="Courier New" panose="02070309020205020404" pitchFamily="49" charset="0"/>
              </a:rPr>
            </a:br>
            <a:r>
              <a:rPr lang="en-GB" b="0" dirty="0">
                <a:solidFill>
                  <a:srgbClr val="000000"/>
                </a:solidFill>
                <a:effectLst/>
                <a:highlight>
                  <a:srgbClr val="F7F7F7"/>
                </a:highlight>
                <a:latin typeface="Courier New" panose="02070309020205020404" pitchFamily="49" charset="0"/>
              </a:rPr>
              <a:t>    </a:t>
            </a:r>
            <a:r>
              <a:rPr lang="en-GB" b="0" dirty="0">
                <a:solidFill>
                  <a:srgbClr val="008000"/>
                </a:solidFill>
                <a:effectLst/>
                <a:highlight>
                  <a:srgbClr val="F7F7F7"/>
                </a:highlight>
                <a:latin typeface="Courier New" panose="02070309020205020404" pitchFamily="49" charset="0"/>
              </a:rPr>
              <a:t># Search for the hostname in the URL</a:t>
            </a:r>
            <a:endParaRPr lang="en-GB" b="0" dirty="0">
              <a:solidFill>
                <a:srgbClr val="000000"/>
              </a:solidFill>
              <a:effectLst/>
              <a:highlight>
                <a:srgbClr val="F7F7F7"/>
              </a:highlight>
              <a:latin typeface="Courier New" panose="02070309020205020404" pitchFamily="49" charset="0"/>
            </a:endParaRPr>
          </a:p>
          <a:p>
            <a:r>
              <a:rPr lang="en-GB" b="0" dirty="0">
                <a:solidFill>
                  <a:srgbClr val="000000"/>
                </a:solidFill>
                <a:effectLst/>
                <a:highlight>
                  <a:srgbClr val="F7F7F7"/>
                </a:highlight>
                <a:latin typeface="Courier New" panose="02070309020205020404" pitchFamily="49" charset="0"/>
              </a:rPr>
              <a:t>    </a:t>
            </a:r>
            <a:r>
              <a:rPr lang="en-GB" b="0" dirty="0">
                <a:solidFill>
                  <a:srgbClr val="AF00DB"/>
                </a:solidFill>
                <a:effectLst/>
                <a:highlight>
                  <a:srgbClr val="F7F7F7"/>
                </a:highlight>
                <a:latin typeface="Courier New" panose="02070309020205020404" pitchFamily="49" charset="0"/>
              </a:rPr>
              <a:t>match</a:t>
            </a:r>
            <a:r>
              <a:rPr lang="en-GB" b="0" dirty="0">
                <a:solidFill>
                  <a:srgbClr val="000000"/>
                </a:solidFill>
                <a:effectLst/>
                <a:highlight>
                  <a:srgbClr val="F7F7F7"/>
                </a:highlight>
                <a:latin typeface="Courier New" panose="02070309020205020404" pitchFamily="49" charset="0"/>
              </a:rPr>
              <a:t> = </a:t>
            </a:r>
            <a:r>
              <a:rPr lang="en-GB" b="0" dirty="0" err="1">
                <a:solidFill>
                  <a:srgbClr val="000000"/>
                </a:solidFill>
                <a:effectLst/>
                <a:highlight>
                  <a:srgbClr val="F7F7F7"/>
                </a:highlight>
                <a:latin typeface="Courier New" panose="02070309020205020404" pitchFamily="49" charset="0"/>
              </a:rPr>
              <a:t>re.search</a:t>
            </a:r>
            <a:r>
              <a:rPr lang="en-GB" b="0" dirty="0">
                <a:solidFill>
                  <a:srgbClr val="000000"/>
                </a:solidFill>
                <a:effectLst/>
                <a:highlight>
                  <a:srgbClr val="F7F7F7"/>
                </a:highlight>
                <a:latin typeface="Courier New" panose="02070309020205020404" pitchFamily="49" charset="0"/>
              </a:rPr>
              <a:t>(hostname, </a:t>
            </a:r>
            <a:r>
              <a:rPr lang="en-GB" b="0" dirty="0" err="1">
                <a:solidFill>
                  <a:srgbClr val="000000"/>
                </a:solidFill>
                <a:effectLst/>
                <a:highlight>
                  <a:srgbClr val="F7F7F7"/>
                </a:highlight>
                <a:latin typeface="Courier New" panose="02070309020205020404" pitchFamily="49" charset="0"/>
              </a:rPr>
              <a:t>url</a:t>
            </a:r>
            <a:r>
              <a:rPr lang="en-GB" b="0" dirty="0">
                <a:solidFill>
                  <a:srgbClr val="000000"/>
                </a:solidFill>
                <a:effectLst/>
                <a:highlight>
                  <a:srgbClr val="F7F7F7"/>
                </a:highlight>
                <a:latin typeface="Courier New" panose="02070309020205020404" pitchFamily="49" charset="0"/>
              </a:rPr>
              <a:t>)</a:t>
            </a:r>
          </a:p>
          <a:p>
            <a:br>
              <a:rPr lang="en-GB" b="0" dirty="0">
                <a:solidFill>
                  <a:srgbClr val="000000"/>
                </a:solidFill>
                <a:effectLst/>
                <a:highlight>
                  <a:srgbClr val="F7F7F7"/>
                </a:highlight>
                <a:latin typeface="Courier New" panose="02070309020205020404" pitchFamily="49" charset="0"/>
              </a:rPr>
            </a:br>
            <a:r>
              <a:rPr lang="en-GB" b="0" dirty="0">
                <a:solidFill>
                  <a:srgbClr val="000000"/>
                </a:solidFill>
                <a:effectLst/>
                <a:highlight>
                  <a:srgbClr val="F7F7F7"/>
                </a:highlight>
                <a:latin typeface="Courier New" panose="02070309020205020404" pitchFamily="49" charset="0"/>
              </a:rPr>
              <a:t>    </a:t>
            </a:r>
            <a:r>
              <a:rPr lang="en-GB" b="0" dirty="0">
                <a:solidFill>
                  <a:srgbClr val="008000"/>
                </a:solidFill>
                <a:effectLst/>
                <a:highlight>
                  <a:srgbClr val="F7F7F7"/>
                </a:highlight>
                <a:latin typeface="Courier New" panose="02070309020205020404" pitchFamily="49" charset="0"/>
              </a:rPr>
              <a:t># Return 1 if a match is found, otherwise return 0</a:t>
            </a:r>
            <a:endParaRPr lang="en-GB" b="0" dirty="0">
              <a:solidFill>
                <a:srgbClr val="000000"/>
              </a:solidFill>
              <a:effectLst/>
              <a:highlight>
                <a:srgbClr val="F7F7F7"/>
              </a:highlight>
              <a:latin typeface="Courier New" panose="02070309020205020404" pitchFamily="49" charset="0"/>
            </a:endParaRPr>
          </a:p>
          <a:p>
            <a:r>
              <a:rPr lang="en-GB" b="0" dirty="0">
                <a:solidFill>
                  <a:srgbClr val="000000"/>
                </a:solidFill>
                <a:effectLst/>
                <a:highlight>
                  <a:srgbClr val="F7F7F7"/>
                </a:highlight>
                <a:latin typeface="Courier New" panose="02070309020205020404" pitchFamily="49" charset="0"/>
              </a:rPr>
              <a:t>    </a:t>
            </a:r>
            <a:r>
              <a:rPr lang="en-GB" b="0" dirty="0">
                <a:solidFill>
                  <a:srgbClr val="AF00DB"/>
                </a:solidFill>
                <a:effectLst/>
                <a:highlight>
                  <a:srgbClr val="F7F7F7"/>
                </a:highlight>
                <a:latin typeface="Courier New" panose="02070309020205020404" pitchFamily="49" charset="0"/>
              </a:rPr>
              <a:t>return</a:t>
            </a:r>
            <a:r>
              <a:rPr lang="en-GB" b="0" dirty="0">
                <a:solidFill>
                  <a:srgbClr val="000000"/>
                </a:solidFill>
                <a:effectLst/>
                <a:highlight>
                  <a:srgbClr val="F7F7F7"/>
                </a:highlight>
                <a:latin typeface="Courier New" panose="02070309020205020404" pitchFamily="49" charset="0"/>
              </a:rPr>
              <a:t> </a:t>
            </a:r>
            <a:r>
              <a:rPr lang="en-GB" b="0" dirty="0">
                <a:solidFill>
                  <a:srgbClr val="116644"/>
                </a:solidFill>
                <a:effectLst/>
                <a:highlight>
                  <a:srgbClr val="F7F7F7"/>
                </a:highlight>
                <a:latin typeface="Courier New" panose="02070309020205020404" pitchFamily="49" charset="0"/>
              </a:rPr>
              <a:t>1</a:t>
            </a:r>
            <a:r>
              <a:rPr lang="en-GB" b="0" dirty="0">
                <a:solidFill>
                  <a:srgbClr val="000000"/>
                </a:solidFill>
                <a:effectLst/>
                <a:highlight>
                  <a:srgbClr val="F7F7F7"/>
                </a:highlight>
                <a:latin typeface="Courier New" panose="02070309020205020404" pitchFamily="49" charset="0"/>
              </a:rPr>
              <a:t> </a:t>
            </a:r>
            <a:r>
              <a:rPr lang="en-GB" b="0" dirty="0">
                <a:solidFill>
                  <a:srgbClr val="AF00DB"/>
                </a:solidFill>
                <a:effectLst/>
                <a:highlight>
                  <a:srgbClr val="F7F7F7"/>
                </a:highlight>
                <a:latin typeface="Courier New" panose="02070309020205020404" pitchFamily="49" charset="0"/>
              </a:rPr>
              <a:t>if</a:t>
            </a:r>
            <a:r>
              <a:rPr lang="en-GB" b="0" dirty="0">
                <a:solidFill>
                  <a:srgbClr val="000000"/>
                </a:solidFill>
                <a:effectLst/>
                <a:highlight>
                  <a:srgbClr val="F7F7F7"/>
                </a:highlight>
                <a:latin typeface="Courier New" panose="02070309020205020404" pitchFamily="49" charset="0"/>
              </a:rPr>
              <a:t> </a:t>
            </a:r>
            <a:r>
              <a:rPr lang="en-GB" b="0" dirty="0">
                <a:solidFill>
                  <a:srgbClr val="AF00DB"/>
                </a:solidFill>
                <a:effectLst/>
                <a:highlight>
                  <a:srgbClr val="F7F7F7"/>
                </a:highlight>
                <a:latin typeface="Courier New" panose="02070309020205020404" pitchFamily="49" charset="0"/>
              </a:rPr>
              <a:t>match</a:t>
            </a:r>
            <a:r>
              <a:rPr lang="en-GB" b="0" dirty="0">
                <a:solidFill>
                  <a:srgbClr val="000000"/>
                </a:solidFill>
                <a:effectLst/>
                <a:highlight>
                  <a:srgbClr val="F7F7F7"/>
                </a:highlight>
                <a:latin typeface="Courier New" panose="02070309020205020404" pitchFamily="49" charset="0"/>
              </a:rPr>
              <a:t> </a:t>
            </a:r>
            <a:r>
              <a:rPr lang="en-GB" b="0" dirty="0">
                <a:solidFill>
                  <a:srgbClr val="AF00DB"/>
                </a:solidFill>
                <a:effectLst/>
                <a:highlight>
                  <a:srgbClr val="F7F7F7"/>
                </a:highlight>
                <a:latin typeface="Courier New" panose="02070309020205020404" pitchFamily="49" charset="0"/>
              </a:rPr>
              <a:t>else</a:t>
            </a:r>
            <a:r>
              <a:rPr lang="en-GB" b="0" dirty="0">
                <a:solidFill>
                  <a:srgbClr val="000000"/>
                </a:solidFill>
                <a:effectLst/>
                <a:highlight>
                  <a:srgbClr val="F7F7F7"/>
                </a:highlight>
                <a:latin typeface="Courier New" panose="02070309020205020404" pitchFamily="49" charset="0"/>
              </a:rPr>
              <a:t> </a:t>
            </a:r>
            <a:r>
              <a:rPr lang="en-GB" b="0" dirty="0">
                <a:solidFill>
                  <a:srgbClr val="116644"/>
                </a:solidFill>
                <a:effectLst/>
                <a:highlight>
                  <a:srgbClr val="F7F7F7"/>
                </a:highlight>
                <a:latin typeface="Courier New" panose="02070309020205020404" pitchFamily="49" charset="0"/>
              </a:rPr>
              <a:t>0</a:t>
            </a:r>
            <a:endParaRPr lang="en-GB" b="0" dirty="0">
              <a:solidFill>
                <a:srgbClr val="000000"/>
              </a:solidFill>
              <a:effectLst/>
              <a:highlight>
                <a:srgbClr val="F7F7F7"/>
              </a:highlight>
              <a:latin typeface="Courier New" panose="02070309020205020404" pitchFamily="49" charset="0"/>
            </a:endParaRPr>
          </a:p>
          <a:p>
            <a:endParaRPr lang="en-GB" dirty="0"/>
          </a:p>
        </p:txBody>
      </p:sp>
      <p:sp>
        <p:nvSpPr>
          <p:cNvPr id="4" name="Content Placeholder 3">
            <a:extLst>
              <a:ext uri="{FF2B5EF4-FFF2-40B4-BE49-F238E27FC236}">
                <a16:creationId xmlns:a16="http://schemas.microsoft.com/office/drawing/2014/main" id="{48DD67F3-DA98-7CD5-D962-EEFDF2751B14}"/>
              </a:ext>
            </a:extLst>
          </p:cNvPr>
          <p:cNvSpPr>
            <a:spLocks noGrp="1"/>
          </p:cNvSpPr>
          <p:nvPr>
            <p:ph sz="half" idx="2"/>
          </p:nvPr>
        </p:nvSpPr>
        <p:spPr/>
        <p:txBody>
          <a:bodyPr>
            <a:normAutofit fontScale="55000" lnSpcReduction="20000"/>
          </a:bodyPr>
          <a:lstStyle/>
          <a:p>
            <a:r>
              <a:rPr lang="en-US" sz="2400" dirty="0"/>
              <a:t> This function determines whether a given URL is abnormal based on whether its hostname is found within the URL string. If the hostname is present in the URL, the function returns 1; otherwise, it returns 0.</a:t>
            </a:r>
            <a:endParaRPr lang="en-GB" sz="2400" dirty="0"/>
          </a:p>
        </p:txBody>
      </p:sp>
    </p:spTree>
    <p:extLst>
      <p:ext uri="{BB962C8B-B14F-4D97-AF65-F5344CB8AC3E}">
        <p14:creationId xmlns:p14="http://schemas.microsoft.com/office/powerpoint/2010/main" val="2418170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9B9F8-F4AD-3BE5-76AA-D008A380506A}"/>
              </a:ext>
            </a:extLst>
          </p:cNvPr>
          <p:cNvSpPr>
            <a:spLocks noGrp="1"/>
          </p:cNvSpPr>
          <p:nvPr>
            <p:ph type="title"/>
          </p:nvPr>
        </p:nvSpPr>
        <p:spPr/>
        <p:txBody>
          <a:bodyPr/>
          <a:lstStyle/>
          <a:p>
            <a:r>
              <a:rPr lang="en-US" dirty="0"/>
              <a:t>visualize the distribution of abnormal and normal websites</a:t>
            </a:r>
            <a:endParaRPr lang="en-GB" dirty="0"/>
          </a:p>
        </p:txBody>
      </p:sp>
      <p:sp>
        <p:nvSpPr>
          <p:cNvPr id="3" name="Content Placeholder 2">
            <a:extLst>
              <a:ext uri="{FF2B5EF4-FFF2-40B4-BE49-F238E27FC236}">
                <a16:creationId xmlns:a16="http://schemas.microsoft.com/office/drawing/2014/main" id="{7BFCC36F-37C6-798C-08E6-D91DFB5EE342}"/>
              </a:ext>
            </a:extLst>
          </p:cNvPr>
          <p:cNvSpPr>
            <a:spLocks noGrp="1"/>
          </p:cNvSpPr>
          <p:nvPr>
            <p:ph sz="half" idx="1"/>
          </p:nvPr>
        </p:nvSpPr>
        <p:spPr/>
        <p:txBody>
          <a:bodyPr>
            <a:normAutofit fontScale="40000" lnSpcReduction="20000"/>
          </a:bodyPr>
          <a:lstStyle/>
          <a:p>
            <a:r>
              <a:rPr lang="en-GB" b="0" dirty="0">
                <a:solidFill>
                  <a:srgbClr val="008000"/>
                </a:solidFill>
                <a:effectLst/>
                <a:highlight>
                  <a:srgbClr val="F7F7F7"/>
                </a:highlight>
                <a:latin typeface="Courier New" panose="02070309020205020404" pitchFamily="49" charset="0"/>
              </a:rPr>
              <a:t># </a:t>
            </a:r>
            <a:r>
              <a:rPr lang="en-GB" b="0" dirty="0" err="1">
                <a:solidFill>
                  <a:srgbClr val="008000"/>
                </a:solidFill>
                <a:effectLst/>
                <a:highlight>
                  <a:srgbClr val="F7F7F7"/>
                </a:highlight>
                <a:latin typeface="Courier New" panose="02070309020205020404" pitchFamily="49" charset="0"/>
              </a:rPr>
              <a:t>Countplot</a:t>
            </a:r>
            <a:endParaRPr lang="en-GB" b="0" dirty="0">
              <a:solidFill>
                <a:srgbClr val="000000"/>
              </a:solidFill>
              <a:effectLst/>
              <a:highlight>
                <a:srgbClr val="F7F7F7"/>
              </a:highlight>
              <a:latin typeface="Courier New" panose="02070309020205020404" pitchFamily="49" charset="0"/>
            </a:endParaRPr>
          </a:p>
          <a:p>
            <a:r>
              <a:rPr lang="en-GB" b="0" dirty="0" err="1">
                <a:solidFill>
                  <a:srgbClr val="000000"/>
                </a:solidFill>
                <a:effectLst/>
                <a:highlight>
                  <a:srgbClr val="F7F7F7"/>
                </a:highlight>
                <a:latin typeface="Courier New" panose="02070309020205020404" pitchFamily="49" charset="0"/>
              </a:rPr>
              <a:t>ax</a:t>
            </a:r>
            <a:r>
              <a:rPr lang="en-GB" b="0" dirty="0">
                <a:solidFill>
                  <a:srgbClr val="000000"/>
                </a:solidFill>
                <a:effectLst/>
                <a:highlight>
                  <a:srgbClr val="F7F7F7"/>
                </a:highlight>
                <a:latin typeface="Courier New" panose="02070309020205020404" pitchFamily="49" charset="0"/>
              </a:rPr>
              <a:t> = </a:t>
            </a:r>
            <a:r>
              <a:rPr lang="en-GB" b="0" dirty="0" err="1">
                <a:solidFill>
                  <a:srgbClr val="000000"/>
                </a:solidFill>
                <a:effectLst/>
                <a:highlight>
                  <a:srgbClr val="F7F7F7"/>
                </a:highlight>
                <a:latin typeface="Courier New" panose="02070309020205020404" pitchFamily="49" charset="0"/>
              </a:rPr>
              <a:t>sns.countplot</a:t>
            </a:r>
            <a:r>
              <a:rPr lang="en-GB" b="0" dirty="0">
                <a:solidFill>
                  <a:srgbClr val="000000"/>
                </a:solidFill>
                <a:effectLst/>
                <a:highlight>
                  <a:srgbClr val="F7F7F7"/>
                </a:highlight>
                <a:latin typeface="Courier New" panose="02070309020205020404" pitchFamily="49" charset="0"/>
              </a:rPr>
              <a:t>(</a:t>
            </a:r>
          </a:p>
          <a:p>
            <a:r>
              <a:rPr lang="en-GB" b="0" dirty="0">
                <a:solidFill>
                  <a:srgbClr val="000000"/>
                </a:solidFill>
                <a:effectLst/>
                <a:highlight>
                  <a:srgbClr val="F7F7F7"/>
                </a:highlight>
                <a:latin typeface="Courier New" panose="02070309020205020404" pitchFamily="49" charset="0"/>
              </a:rPr>
              <a:t>    data=</a:t>
            </a:r>
            <a:r>
              <a:rPr lang="en-GB" b="0" dirty="0" err="1">
                <a:solidFill>
                  <a:srgbClr val="000000"/>
                </a:solidFill>
                <a:effectLst/>
                <a:highlight>
                  <a:srgbClr val="F7F7F7"/>
                </a:highlight>
                <a:latin typeface="Courier New" panose="02070309020205020404" pitchFamily="49" charset="0"/>
              </a:rPr>
              <a:t>url_df</a:t>
            </a:r>
            <a:r>
              <a:rPr lang="en-GB" b="0" dirty="0">
                <a:solidFill>
                  <a:srgbClr val="000000"/>
                </a:solidFill>
                <a:effectLst/>
                <a:highlight>
                  <a:srgbClr val="F7F7F7"/>
                </a:highlight>
                <a:latin typeface="Courier New" panose="02070309020205020404" pitchFamily="49" charset="0"/>
              </a:rPr>
              <a:t>, x=</a:t>
            </a:r>
            <a:r>
              <a:rPr lang="en-GB" b="0" dirty="0">
                <a:solidFill>
                  <a:srgbClr val="A31515"/>
                </a:solidFill>
                <a:effectLst/>
                <a:highlight>
                  <a:srgbClr val="F7F7F7"/>
                </a:highlight>
                <a:latin typeface="Courier New" panose="02070309020205020404" pitchFamily="49" charset="0"/>
              </a:rPr>
              <a:t>'</a:t>
            </a:r>
            <a:r>
              <a:rPr lang="en-GB" b="0" dirty="0" err="1">
                <a:solidFill>
                  <a:srgbClr val="A31515"/>
                </a:solidFill>
                <a:effectLst/>
                <a:highlight>
                  <a:srgbClr val="F7F7F7"/>
                </a:highlight>
                <a:latin typeface="Courier New" panose="02070309020205020404" pitchFamily="49" charset="0"/>
              </a:rPr>
              <a:t>abnormal_url</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palette=</a:t>
            </a:r>
            <a:r>
              <a:rPr lang="en-GB" b="0" dirty="0">
                <a:solidFill>
                  <a:srgbClr val="A31515"/>
                </a:solidFill>
                <a:effectLst/>
                <a:highlight>
                  <a:srgbClr val="F7F7F7"/>
                </a:highlight>
                <a:latin typeface="Courier New" panose="02070309020205020404" pitchFamily="49" charset="0"/>
              </a:rPr>
              <a:t>'</a:t>
            </a:r>
            <a:r>
              <a:rPr lang="en-GB" b="0" dirty="0" err="1">
                <a:solidFill>
                  <a:srgbClr val="A31515"/>
                </a:solidFill>
                <a:effectLst/>
                <a:highlight>
                  <a:srgbClr val="F7F7F7"/>
                </a:highlight>
                <a:latin typeface="Courier New" panose="02070309020205020404" pitchFamily="49" charset="0"/>
              </a:rPr>
              <a:t>GnBu</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 width=</a:t>
            </a:r>
            <a:r>
              <a:rPr lang="en-GB" b="0" dirty="0">
                <a:solidFill>
                  <a:srgbClr val="116644"/>
                </a:solidFill>
                <a:effectLst/>
                <a:highlight>
                  <a:srgbClr val="F7F7F7"/>
                </a:highlight>
                <a:latin typeface="Courier New" panose="02070309020205020404" pitchFamily="49" charset="0"/>
              </a:rPr>
              <a:t>.6</a:t>
            </a:r>
            <a:r>
              <a:rPr lang="en-GB" b="0" dirty="0">
                <a:solidFill>
                  <a:srgbClr val="000000"/>
                </a:solidFill>
                <a:effectLst/>
                <a:highlight>
                  <a:srgbClr val="F7F7F7"/>
                </a:highlight>
                <a:latin typeface="Courier New" panose="02070309020205020404" pitchFamily="49" charset="0"/>
              </a:rPr>
              <a:t>, order=</a:t>
            </a:r>
            <a:r>
              <a:rPr lang="en-GB" b="0" dirty="0" err="1">
                <a:solidFill>
                  <a:srgbClr val="000000"/>
                </a:solidFill>
                <a:effectLst/>
                <a:highlight>
                  <a:srgbClr val="F7F7F7"/>
                </a:highlight>
                <a:latin typeface="Courier New" panose="02070309020205020404" pitchFamily="49" charset="0"/>
              </a:rPr>
              <a:t>url_df</a:t>
            </a:r>
            <a:r>
              <a:rPr lang="en-GB" b="0" dirty="0">
                <a:solidFill>
                  <a:srgbClr val="000000"/>
                </a:solidFill>
                <a:effectLst/>
                <a:highlight>
                  <a:srgbClr val="F7F7F7"/>
                </a:highlight>
                <a:latin typeface="Courier New" panose="02070309020205020404" pitchFamily="49" charset="0"/>
              </a:rPr>
              <a:t>[</a:t>
            </a:r>
            <a:r>
              <a:rPr lang="en-GB" b="0" dirty="0">
                <a:solidFill>
                  <a:srgbClr val="A31515"/>
                </a:solidFill>
                <a:effectLst/>
                <a:highlight>
                  <a:srgbClr val="F7F7F7"/>
                </a:highlight>
                <a:latin typeface="Courier New" panose="02070309020205020404" pitchFamily="49" charset="0"/>
              </a:rPr>
              <a:t>'</a:t>
            </a:r>
            <a:r>
              <a:rPr lang="en-GB" b="0" dirty="0" err="1">
                <a:solidFill>
                  <a:srgbClr val="A31515"/>
                </a:solidFill>
                <a:effectLst/>
                <a:highlight>
                  <a:srgbClr val="F7F7F7"/>
                </a:highlight>
                <a:latin typeface="Courier New" panose="02070309020205020404" pitchFamily="49" charset="0"/>
              </a:rPr>
              <a:t>abnormal_url</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a:t>
            </a:r>
            <a:r>
              <a:rPr lang="en-GB" b="0" dirty="0" err="1">
                <a:solidFill>
                  <a:srgbClr val="000000"/>
                </a:solidFill>
                <a:effectLst/>
                <a:highlight>
                  <a:srgbClr val="F7F7F7"/>
                </a:highlight>
                <a:latin typeface="Courier New" panose="02070309020205020404" pitchFamily="49" charset="0"/>
              </a:rPr>
              <a:t>value_counts</a:t>
            </a:r>
            <a:r>
              <a:rPr lang="en-GB" b="0" dirty="0">
                <a:solidFill>
                  <a:srgbClr val="000000"/>
                </a:solidFill>
                <a:effectLst/>
                <a:highlight>
                  <a:srgbClr val="F7F7F7"/>
                </a:highlight>
                <a:latin typeface="Courier New" panose="02070309020205020404" pitchFamily="49" charset="0"/>
              </a:rPr>
              <a:t>().index</a:t>
            </a:r>
          </a:p>
          <a:p>
            <a:r>
              <a:rPr lang="en-GB" b="0" dirty="0">
                <a:solidFill>
                  <a:srgbClr val="000000"/>
                </a:solidFill>
                <a:effectLst/>
                <a:highlight>
                  <a:srgbClr val="F7F7F7"/>
                </a:highlight>
                <a:latin typeface="Courier New" panose="02070309020205020404" pitchFamily="49" charset="0"/>
              </a:rPr>
              <a:t>)</a:t>
            </a:r>
          </a:p>
          <a:p>
            <a:br>
              <a:rPr lang="en-GB" b="0" dirty="0">
                <a:solidFill>
                  <a:srgbClr val="000000"/>
                </a:solidFill>
                <a:effectLst/>
                <a:highlight>
                  <a:srgbClr val="F7F7F7"/>
                </a:highlight>
                <a:latin typeface="Courier New" panose="02070309020205020404" pitchFamily="49" charset="0"/>
              </a:rPr>
            </a:br>
            <a:r>
              <a:rPr lang="en-GB" b="0" dirty="0">
                <a:solidFill>
                  <a:srgbClr val="008000"/>
                </a:solidFill>
                <a:effectLst/>
                <a:highlight>
                  <a:srgbClr val="F7F7F7"/>
                </a:highlight>
                <a:latin typeface="Courier New" panose="02070309020205020404" pitchFamily="49" charset="0"/>
              </a:rPr>
              <a:t># Annotate each bar with its count</a:t>
            </a:r>
            <a:endParaRPr lang="en-GB" b="0" dirty="0">
              <a:solidFill>
                <a:srgbClr val="000000"/>
              </a:solidFill>
              <a:effectLst/>
              <a:highlight>
                <a:srgbClr val="F7F7F7"/>
              </a:highlight>
              <a:latin typeface="Courier New" panose="02070309020205020404" pitchFamily="49" charset="0"/>
            </a:endParaRPr>
          </a:p>
          <a:p>
            <a:r>
              <a:rPr lang="en-GB" b="0" dirty="0">
                <a:solidFill>
                  <a:srgbClr val="AF00DB"/>
                </a:solidFill>
                <a:effectLst/>
                <a:highlight>
                  <a:srgbClr val="F7F7F7"/>
                </a:highlight>
                <a:latin typeface="Courier New" panose="02070309020205020404" pitchFamily="49" charset="0"/>
              </a:rPr>
              <a:t>for</a:t>
            </a:r>
            <a:r>
              <a:rPr lang="en-GB" b="0" dirty="0">
                <a:solidFill>
                  <a:srgbClr val="000000"/>
                </a:solidFill>
                <a:effectLst/>
                <a:highlight>
                  <a:srgbClr val="F7F7F7"/>
                </a:highlight>
                <a:latin typeface="Courier New" panose="02070309020205020404" pitchFamily="49" charset="0"/>
              </a:rPr>
              <a:t> p, label </a:t>
            </a:r>
            <a:r>
              <a:rPr lang="en-GB" b="0" dirty="0">
                <a:solidFill>
                  <a:srgbClr val="0000FF"/>
                </a:solidFill>
                <a:effectLst/>
                <a:highlight>
                  <a:srgbClr val="F7F7F7"/>
                </a:highlight>
                <a:latin typeface="Courier New" panose="02070309020205020404" pitchFamily="49" charset="0"/>
              </a:rPr>
              <a:t>in</a:t>
            </a:r>
            <a:r>
              <a:rPr lang="en-GB" b="0" dirty="0">
                <a:solidFill>
                  <a:srgbClr val="000000"/>
                </a:solidFill>
                <a:effectLst/>
                <a:highlight>
                  <a:srgbClr val="F7F7F7"/>
                </a:highlight>
                <a:latin typeface="Courier New" panose="02070309020205020404" pitchFamily="49" charset="0"/>
              </a:rPr>
              <a:t> </a:t>
            </a:r>
            <a:r>
              <a:rPr lang="en-GB" b="0" dirty="0">
                <a:solidFill>
                  <a:srgbClr val="795E26"/>
                </a:solidFill>
                <a:effectLst/>
                <a:highlight>
                  <a:srgbClr val="F7F7F7"/>
                </a:highlight>
                <a:latin typeface="Courier New" panose="02070309020205020404" pitchFamily="49" charset="0"/>
              </a:rPr>
              <a:t>zip</a:t>
            </a:r>
            <a:r>
              <a:rPr lang="en-GB" b="0" dirty="0">
                <a:solidFill>
                  <a:srgbClr val="000000"/>
                </a:solidFill>
                <a:effectLst/>
                <a:highlight>
                  <a:srgbClr val="F7F7F7"/>
                </a:highlight>
                <a:latin typeface="Courier New" panose="02070309020205020404" pitchFamily="49" charset="0"/>
              </a:rPr>
              <a:t>(</a:t>
            </a:r>
            <a:r>
              <a:rPr lang="en-GB" b="0" dirty="0" err="1">
                <a:solidFill>
                  <a:srgbClr val="000000"/>
                </a:solidFill>
                <a:effectLst/>
                <a:highlight>
                  <a:srgbClr val="F7F7F7"/>
                </a:highlight>
                <a:latin typeface="Courier New" panose="02070309020205020404" pitchFamily="49" charset="0"/>
              </a:rPr>
              <a:t>ax.patches</a:t>
            </a:r>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url_df</a:t>
            </a:r>
            <a:r>
              <a:rPr lang="en-GB" b="0" dirty="0">
                <a:solidFill>
                  <a:srgbClr val="000000"/>
                </a:solidFill>
                <a:effectLst/>
                <a:highlight>
                  <a:srgbClr val="F7F7F7"/>
                </a:highlight>
                <a:latin typeface="Courier New" panose="02070309020205020404" pitchFamily="49" charset="0"/>
              </a:rPr>
              <a:t>[</a:t>
            </a:r>
            <a:r>
              <a:rPr lang="en-GB" b="0" dirty="0">
                <a:solidFill>
                  <a:srgbClr val="A31515"/>
                </a:solidFill>
                <a:effectLst/>
                <a:highlight>
                  <a:srgbClr val="F7F7F7"/>
                </a:highlight>
                <a:latin typeface="Courier New" panose="02070309020205020404" pitchFamily="49" charset="0"/>
              </a:rPr>
              <a:t>'</a:t>
            </a:r>
            <a:r>
              <a:rPr lang="en-GB" b="0" dirty="0" err="1">
                <a:solidFill>
                  <a:srgbClr val="A31515"/>
                </a:solidFill>
                <a:effectLst/>
                <a:highlight>
                  <a:srgbClr val="F7F7F7"/>
                </a:highlight>
                <a:latin typeface="Courier New" panose="02070309020205020404" pitchFamily="49" charset="0"/>
              </a:rPr>
              <a:t>abnormal_url</a:t>
            </a:r>
            <a:r>
              <a:rPr lang="en-GB" b="0" dirty="0">
                <a:solidFill>
                  <a:srgbClr val="A31515"/>
                </a:solidFill>
                <a:effectLst/>
                <a:highlight>
                  <a:srgbClr val="F7F7F7"/>
                </a:highlight>
                <a:latin typeface="Courier New" panose="02070309020205020404" pitchFamily="49" charset="0"/>
              </a:rPr>
              <a:t>'</a:t>
            </a:r>
            <a:r>
              <a:rPr lang="en-GB" b="0" dirty="0">
                <a:solidFill>
                  <a:srgbClr val="000000"/>
                </a:solidFill>
                <a:effectLst/>
                <a:highlight>
                  <a:srgbClr val="F7F7F7"/>
                </a:highlight>
                <a:latin typeface="Courier New" panose="02070309020205020404" pitchFamily="49" charset="0"/>
              </a:rPr>
              <a:t>].</a:t>
            </a:r>
            <a:r>
              <a:rPr lang="en-GB" b="0" dirty="0" err="1">
                <a:solidFill>
                  <a:srgbClr val="000000"/>
                </a:solidFill>
                <a:effectLst/>
                <a:highlight>
                  <a:srgbClr val="F7F7F7"/>
                </a:highlight>
                <a:latin typeface="Courier New" panose="02070309020205020404" pitchFamily="49" charset="0"/>
              </a:rPr>
              <a:t>value_counts</a:t>
            </a:r>
            <a:r>
              <a:rPr lang="en-GB" b="0" dirty="0">
                <a:solidFill>
                  <a:srgbClr val="000000"/>
                </a:solidFill>
                <a:effectLst/>
                <a:highlight>
                  <a:srgbClr val="F7F7F7"/>
                </a:highlight>
                <a:latin typeface="Courier New" panose="02070309020205020404" pitchFamily="49" charset="0"/>
              </a:rPr>
              <a:t>()):</a:t>
            </a:r>
          </a:p>
          <a:p>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ax.annotate</a:t>
            </a:r>
            <a:r>
              <a:rPr lang="en-GB" b="0" dirty="0">
                <a:solidFill>
                  <a:srgbClr val="000000"/>
                </a:solidFill>
                <a:effectLst/>
                <a:highlight>
                  <a:srgbClr val="F7F7F7"/>
                </a:highlight>
                <a:latin typeface="Courier New" panose="02070309020205020404" pitchFamily="49" charset="0"/>
              </a:rPr>
              <a:t>(label, (</a:t>
            </a:r>
            <a:r>
              <a:rPr lang="en-GB" b="0" dirty="0" err="1">
                <a:solidFill>
                  <a:srgbClr val="000000"/>
                </a:solidFill>
                <a:effectLst/>
                <a:highlight>
                  <a:srgbClr val="F7F7F7"/>
                </a:highlight>
                <a:latin typeface="Courier New" panose="02070309020205020404" pitchFamily="49" charset="0"/>
              </a:rPr>
              <a:t>p.get_x</a:t>
            </a:r>
            <a:r>
              <a:rPr lang="en-GB" b="0" dirty="0">
                <a:solidFill>
                  <a:srgbClr val="000000"/>
                </a:solidFill>
                <a:effectLst/>
                <a:highlight>
                  <a:srgbClr val="F7F7F7"/>
                </a:highlight>
                <a:latin typeface="Courier New" panose="02070309020205020404" pitchFamily="49" charset="0"/>
              </a:rPr>
              <a:t>() + </a:t>
            </a:r>
            <a:r>
              <a:rPr lang="en-GB" b="0" dirty="0">
                <a:solidFill>
                  <a:srgbClr val="116644"/>
                </a:solidFill>
                <a:effectLst/>
                <a:highlight>
                  <a:srgbClr val="F7F7F7"/>
                </a:highlight>
                <a:latin typeface="Courier New" panose="02070309020205020404" pitchFamily="49" charset="0"/>
              </a:rPr>
              <a:t>.22</a:t>
            </a:r>
            <a:r>
              <a:rPr lang="en-GB" b="0" dirty="0">
                <a:solidFill>
                  <a:srgbClr val="000000"/>
                </a:solidFill>
                <a:effectLst/>
                <a:highlight>
                  <a:srgbClr val="F7F7F7"/>
                </a:highlight>
                <a:latin typeface="Courier New" panose="02070309020205020404" pitchFamily="49" charset="0"/>
              </a:rPr>
              <a:t>, </a:t>
            </a:r>
            <a:r>
              <a:rPr lang="en-GB" b="0" dirty="0" err="1">
                <a:solidFill>
                  <a:srgbClr val="000000"/>
                </a:solidFill>
                <a:effectLst/>
                <a:highlight>
                  <a:srgbClr val="F7F7F7"/>
                </a:highlight>
                <a:latin typeface="Courier New" panose="02070309020205020404" pitchFamily="49" charset="0"/>
              </a:rPr>
              <a:t>p.get_height</a:t>
            </a:r>
            <a:r>
              <a:rPr lang="en-GB" b="0" dirty="0">
                <a:solidFill>
                  <a:srgbClr val="000000"/>
                </a:solidFill>
                <a:effectLst/>
                <a:highlight>
                  <a:srgbClr val="F7F7F7"/>
                </a:highlight>
                <a:latin typeface="Courier New" panose="02070309020205020404" pitchFamily="49" charset="0"/>
              </a:rPr>
              <a:t>() + </a:t>
            </a:r>
            <a:r>
              <a:rPr lang="en-GB" b="0" dirty="0">
                <a:solidFill>
                  <a:srgbClr val="116644"/>
                </a:solidFill>
                <a:effectLst/>
                <a:highlight>
                  <a:srgbClr val="F7F7F7"/>
                </a:highlight>
                <a:latin typeface="Courier New" panose="02070309020205020404" pitchFamily="49" charset="0"/>
              </a:rPr>
              <a:t>1</a:t>
            </a:r>
            <a:r>
              <a:rPr lang="en-GB" b="0" dirty="0">
                <a:solidFill>
                  <a:srgbClr val="000000"/>
                </a:solidFill>
                <a:effectLst/>
                <a:highlight>
                  <a:srgbClr val="F7F7F7"/>
                </a:highlight>
                <a:latin typeface="Courier New" panose="02070309020205020404" pitchFamily="49" charset="0"/>
              </a:rPr>
              <a:t>))</a:t>
            </a:r>
          </a:p>
          <a:p>
            <a:br>
              <a:rPr lang="en-GB" b="0" dirty="0">
                <a:solidFill>
                  <a:srgbClr val="000000"/>
                </a:solidFill>
                <a:effectLst/>
                <a:highlight>
                  <a:srgbClr val="F7F7F7"/>
                </a:highlight>
                <a:latin typeface="Courier New" panose="02070309020205020404" pitchFamily="49" charset="0"/>
              </a:rPr>
            </a:br>
            <a:r>
              <a:rPr lang="en-GB" b="0" dirty="0">
                <a:solidFill>
                  <a:srgbClr val="008000"/>
                </a:solidFill>
                <a:effectLst/>
                <a:highlight>
                  <a:srgbClr val="F7F7F7"/>
                </a:highlight>
                <a:latin typeface="Courier New" panose="02070309020205020404" pitchFamily="49" charset="0"/>
              </a:rPr>
              <a:t># Set plot title</a:t>
            </a:r>
            <a:endParaRPr lang="en-GB" b="0" dirty="0">
              <a:solidFill>
                <a:srgbClr val="000000"/>
              </a:solidFill>
              <a:effectLst/>
              <a:highlight>
                <a:srgbClr val="F7F7F7"/>
              </a:highlight>
              <a:latin typeface="Courier New" panose="02070309020205020404" pitchFamily="49" charset="0"/>
            </a:endParaRPr>
          </a:p>
          <a:p>
            <a:r>
              <a:rPr lang="en-GB" b="0" dirty="0" err="1">
                <a:solidFill>
                  <a:srgbClr val="000000"/>
                </a:solidFill>
                <a:effectLst/>
                <a:highlight>
                  <a:srgbClr val="F7F7F7"/>
                </a:highlight>
                <a:latin typeface="Courier New" panose="02070309020205020404" pitchFamily="49" charset="0"/>
              </a:rPr>
              <a:t>ax.set_title</a:t>
            </a:r>
            <a:r>
              <a:rPr lang="en-GB" b="0" dirty="0">
                <a:solidFill>
                  <a:srgbClr val="000000"/>
                </a:solidFill>
                <a:effectLst/>
                <a:highlight>
                  <a:srgbClr val="F7F7F7"/>
                </a:highlight>
                <a:latin typeface="Courier New" panose="02070309020205020404" pitchFamily="49" charset="0"/>
              </a:rPr>
              <a:t>(</a:t>
            </a:r>
            <a:r>
              <a:rPr lang="en-GB" b="0" dirty="0">
                <a:solidFill>
                  <a:srgbClr val="A31515"/>
                </a:solidFill>
                <a:effectLst/>
                <a:highlight>
                  <a:srgbClr val="F7F7F7"/>
                </a:highlight>
                <a:latin typeface="Courier New" panose="02070309020205020404" pitchFamily="49" charset="0"/>
              </a:rPr>
              <a:t>'</a:t>
            </a:r>
            <a:r>
              <a:rPr lang="en-GB" b="0" dirty="0" err="1">
                <a:solidFill>
                  <a:srgbClr val="A31515"/>
                </a:solidFill>
                <a:effectLst/>
                <a:highlight>
                  <a:srgbClr val="F7F7F7"/>
                </a:highlight>
                <a:latin typeface="Courier New" panose="02070309020205020404" pitchFamily="49" charset="0"/>
              </a:rPr>
              <a:t>Countplot</a:t>
            </a:r>
            <a:r>
              <a:rPr lang="en-GB" b="0" dirty="0">
                <a:solidFill>
                  <a:srgbClr val="A31515"/>
                </a:solidFill>
                <a:effectLst/>
                <a:highlight>
                  <a:srgbClr val="F7F7F7"/>
                </a:highlight>
                <a:latin typeface="Courier New" panose="02070309020205020404" pitchFamily="49" charset="0"/>
              </a:rPr>
              <a:t> of abnormal websites vs normal websites'</a:t>
            </a:r>
            <a:r>
              <a:rPr lang="en-GB" b="0" dirty="0">
                <a:solidFill>
                  <a:srgbClr val="000000"/>
                </a:solidFill>
                <a:effectLst/>
                <a:highlight>
                  <a:srgbClr val="F7F7F7"/>
                </a:highlight>
                <a:latin typeface="Courier New" panose="02070309020205020404" pitchFamily="49" charset="0"/>
              </a:rPr>
              <a:t>)</a:t>
            </a:r>
          </a:p>
          <a:p>
            <a:br>
              <a:rPr lang="en-GB" b="0" dirty="0">
                <a:solidFill>
                  <a:srgbClr val="000000"/>
                </a:solidFill>
                <a:effectLst/>
                <a:highlight>
                  <a:srgbClr val="F7F7F7"/>
                </a:highlight>
                <a:latin typeface="Courier New" panose="02070309020205020404" pitchFamily="49" charset="0"/>
              </a:rPr>
            </a:br>
            <a:r>
              <a:rPr lang="en-GB" b="0" dirty="0">
                <a:solidFill>
                  <a:srgbClr val="008000"/>
                </a:solidFill>
                <a:effectLst/>
                <a:highlight>
                  <a:srgbClr val="F7F7F7"/>
                </a:highlight>
                <a:latin typeface="Courier New" panose="02070309020205020404" pitchFamily="49" charset="0"/>
              </a:rPr>
              <a:t># Show the plot</a:t>
            </a:r>
            <a:endParaRPr lang="en-GB" b="0" dirty="0">
              <a:solidFill>
                <a:srgbClr val="000000"/>
              </a:solidFill>
              <a:effectLst/>
              <a:highlight>
                <a:srgbClr val="F7F7F7"/>
              </a:highlight>
              <a:latin typeface="Courier New" panose="02070309020205020404" pitchFamily="49" charset="0"/>
            </a:endParaRPr>
          </a:p>
          <a:p>
            <a:r>
              <a:rPr lang="en-GB" b="0" dirty="0" err="1">
                <a:solidFill>
                  <a:srgbClr val="000000"/>
                </a:solidFill>
                <a:effectLst/>
                <a:highlight>
                  <a:srgbClr val="F7F7F7"/>
                </a:highlight>
                <a:latin typeface="Courier New" panose="02070309020205020404" pitchFamily="49" charset="0"/>
              </a:rPr>
              <a:t>plt.show</a:t>
            </a:r>
            <a:r>
              <a:rPr lang="en-GB" b="0" dirty="0">
                <a:solidFill>
                  <a:srgbClr val="000000"/>
                </a:solidFill>
                <a:effectLst/>
                <a:highlight>
                  <a:srgbClr val="F7F7F7"/>
                </a:highlight>
                <a:latin typeface="Courier New" panose="02070309020205020404" pitchFamily="49" charset="0"/>
              </a:rPr>
              <a:t>()</a:t>
            </a:r>
          </a:p>
          <a:p>
            <a:endParaRPr lang="en-GB" dirty="0"/>
          </a:p>
        </p:txBody>
      </p:sp>
      <p:pic>
        <p:nvPicPr>
          <p:cNvPr id="6" name="Content Placeholder 5">
            <a:extLst>
              <a:ext uri="{FF2B5EF4-FFF2-40B4-BE49-F238E27FC236}">
                <a16:creationId xmlns:a16="http://schemas.microsoft.com/office/drawing/2014/main" id="{7C8E7789-4473-ABEE-61FF-D35B991F2D3A}"/>
              </a:ext>
            </a:extLst>
          </p:cNvPr>
          <p:cNvPicPr>
            <a:picLocks noGrp="1" noChangeAspect="1"/>
          </p:cNvPicPr>
          <p:nvPr>
            <p:ph sz="half" idx="2"/>
          </p:nvPr>
        </p:nvPicPr>
        <p:blipFill>
          <a:blip r:embed="rId3"/>
          <a:stretch>
            <a:fillRect/>
          </a:stretch>
        </p:blipFill>
        <p:spPr>
          <a:xfrm>
            <a:off x="6413500" y="2325429"/>
            <a:ext cx="4645025" cy="2826268"/>
          </a:xfrm>
        </p:spPr>
      </p:pic>
    </p:spTree>
    <p:extLst>
      <p:ext uri="{BB962C8B-B14F-4D97-AF65-F5344CB8AC3E}">
        <p14:creationId xmlns:p14="http://schemas.microsoft.com/office/powerpoint/2010/main" val="3872733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BBCE-C59E-C21B-CE7C-1FE196F4A8F1}"/>
              </a:ext>
            </a:extLst>
          </p:cNvPr>
          <p:cNvSpPr>
            <a:spLocks noGrp="1"/>
          </p:cNvSpPr>
          <p:nvPr>
            <p:ph type="title"/>
          </p:nvPr>
        </p:nvSpPr>
        <p:spPr/>
        <p:txBody>
          <a:bodyPr/>
          <a:lstStyle/>
          <a:p>
            <a:r>
              <a:rPr lang="en-US" dirty="0"/>
              <a:t>Counting Digits and Letters in URL</a:t>
            </a:r>
            <a:endParaRPr lang="en-GB" dirty="0"/>
          </a:p>
        </p:txBody>
      </p:sp>
      <p:pic>
        <p:nvPicPr>
          <p:cNvPr id="6" name="Content Placeholder 5">
            <a:extLst>
              <a:ext uri="{FF2B5EF4-FFF2-40B4-BE49-F238E27FC236}">
                <a16:creationId xmlns:a16="http://schemas.microsoft.com/office/drawing/2014/main" id="{8AA40A86-290F-3748-A09E-80A22535F86F}"/>
              </a:ext>
            </a:extLst>
          </p:cNvPr>
          <p:cNvPicPr>
            <a:picLocks noGrp="1" noChangeAspect="1"/>
          </p:cNvPicPr>
          <p:nvPr>
            <p:ph sz="half" idx="1"/>
          </p:nvPr>
        </p:nvPicPr>
        <p:blipFill>
          <a:blip r:embed="rId3"/>
          <a:stretch>
            <a:fillRect/>
          </a:stretch>
        </p:blipFill>
        <p:spPr>
          <a:xfrm>
            <a:off x="1447800" y="2673180"/>
            <a:ext cx="4645025" cy="2124415"/>
          </a:xfrm>
        </p:spPr>
      </p:pic>
      <p:sp>
        <p:nvSpPr>
          <p:cNvPr id="4" name="Content Placeholder 3">
            <a:extLst>
              <a:ext uri="{FF2B5EF4-FFF2-40B4-BE49-F238E27FC236}">
                <a16:creationId xmlns:a16="http://schemas.microsoft.com/office/drawing/2014/main" id="{D8D3F638-247B-F118-A5D7-B82FB9596FA8}"/>
              </a:ext>
            </a:extLst>
          </p:cNvPr>
          <p:cNvSpPr>
            <a:spLocks noGrp="1"/>
          </p:cNvSpPr>
          <p:nvPr>
            <p:ph sz="half" idx="2"/>
          </p:nvPr>
        </p:nvSpPr>
        <p:spPr/>
        <p:txBody>
          <a:bodyPr/>
          <a:lstStyle/>
          <a:p>
            <a:r>
              <a:rPr lang="en-US" dirty="0"/>
              <a:t>This code segment defines two functions, </a:t>
            </a:r>
            <a:r>
              <a:rPr lang="en-US" dirty="0" err="1"/>
              <a:t>digit_count</a:t>
            </a:r>
            <a:r>
              <a:rPr lang="en-US" dirty="0"/>
              <a:t> and </a:t>
            </a:r>
            <a:r>
              <a:rPr lang="en-US" dirty="0" err="1"/>
              <a:t>letter_count</a:t>
            </a:r>
            <a:r>
              <a:rPr lang="en-US" dirty="0"/>
              <a:t>, to count the number of digits and letters, respectively, in a given URL. It then applies these functions to create two new columns, 'digits' and 'letters', in the </a:t>
            </a:r>
            <a:r>
              <a:rPr lang="en-US" dirty="0" err="1"/>
              <a:t>DataFrame</a:t>
            </a:r>
            <a:r>
              <a:rPr lang="en-US" dirty="0"/>
              <a:t> </a:t>
            </a:r>
            <a:r>
              <a:rPr lang="en-US" dirty="0" err="1"/>
              <a:t>url_df</a:t>
            </a:r>
            <a:endParaRPr lang="en-GB" dirty="0"/>
          </a:p>
        </p:txBody>
      </p:sp>
    </p:spTree>
    <p:extLst>
      <p:ext uri="{BB962C8B-B14F-4D97-AF65-F5344CB8AC3E}">
        <p14:creationId xmlns:p14="http://schemas.microsoft.com/office/powerpoint/2010/main" val="3368202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82A14-9E39-FB28-B8E1-396AB7EB9C84}"/>
              </a:ext>
            </a:extLst>
          </p:cNvPr>
          <p:cNvSpPr>
            <a:spLocks noGrp="1"/>
          </p:cNvSpPr>
          <p:nvPr>
            <p:ph type="title"/>
          </p:nvPr>
        </p:nvSpPr>
        <p:spPr/>
        <p:txBody>
          <a:bodyPr/>
          <a:lstStyle/>
          <a:p>
            <a:r>
              <a:rPr lang="en-US" dirty="0"/>
              <a:t>Checking whether URL uses </a:t>
            </a:r>
            <a:r>
              <a:rPr lang="en-US" dirty="0" err="1"/>
              <a:t>url</a:t>
            </a:r>
            <a:r>
              <a:rPr lang="en-US" dirty="0"/>
              <a:t> shortening services</a:t>
            </a:r>
            <a:endParaRPr lang="en-GB" dirty="0"/>
          </a:p>
        </p:txBody>
      </p:sp>
      <p:pic>
        <p:nvPicPr>
          <p:cNvPr id="6" name="Content Placeholder 5">
            <a:extLst>
              <a:ext uri="{FF2B5EF4-FFF2-40B4-BE49-F238E27FC236}">
                <a16:creationId xmlns:a16="http://schemas.microsoft.com/office/drawing/2014/main" id="{6BEDAC7E-768C-9935-936B-68CAE8E0210D}"/>
              </a:ext>
            </a:extLst>
          </p:cNvPr>
          <p:cNvPicPr>
            <a:picLocks noGrp="1" noChangeAspect="1"/>
          </p:cNvPicPr>
          <p:nvPr>
            <p:ph sz="half" idx="1"/>
          </p:nvPr>
        </p:nvPicPr>
        <p:blipFill>
          <a:blip r:embed="rId3"/>
          <a:stretch>
            <a:fillRect/>
          </a:stretch>
        </p:blipFill>
        <p:spPr>
          <a:xfrm>
            <a:off x="1447800" y="3306269"/>
            <a:ext cx="4645025" cy="858238"/>
          </a:xfrm>
        </p:spPr>
      </p:pic>
      <p:sp>
        <p:nvSpPr>
          <p:cNvPr id="4" name="Content Placeholder 3">
            <a:extLst>
              <a:ext uri="{FF2B5EF4-FFF2-40B4-BE49-F238E27FC236}">
                <a16:creationId xmlns:a16="http://schemas.microsoft.com/office/drawing/2014/main" id="{B8129144-F61A-F482-BEBD-8AA5B6E23604}"/>
              </a:ext>
            </a:extLst>
          </p:cNvPr>
          <p:cNvSpPr>
            <a:spLocks noGrp="1"/>
          </p:cNvSpPr>
          <p:nvPr>
            <p:ph sz="half" idx="2"/>
          </p:nvPr>
        </p:nvSpPr>
        <p:spPr/>
        <p:txBody>
          <a:bodyPr/>
          <a:lstStyle/>
          <a:p>
            <a:r>
              <a:rPr lang="en-US" dirty="0"/>
              <a:t>This function, </a:t>
            </a:r>
            <a:r>
              <a:rPr lang="en-US" dirty="0" err="1"/>
              <a:t>shortening_service</a:t>
            </a:r>
            <a:r>
              <a:rPr lang="en-US" dirty="0"/>
              <a:t>, takes a URL as input and returns an integer indicating whether the URL is from a URL shortening service</a:t>
            </a:r>
            <a:endParaRPr lang="en-GB" dirty="0"/>
          </a:p>
        </p:txBody>
      </p:sp>
    </p:spTree>
    <p:extLst>
      <p:ext uri="{BB962C8B-B14F-4D97-AF65-F5344CB8AC3E}">
        <p14:creationId xmlns:p14="http://schemas.microsoft.com/office/powerpoint/2010/main" val="4108453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B3BE0-A59E-C8C6-83D9-657E2BF2845A}"/>
              </a:ext>
            </a:extLst>
          </p:cNvPr>
          <p:cNvSpPr>
            <a:spLocks noGrp="1"/>
          </p:cNvSpPr>
          <p:nvPr>
            <p:ph type="title"/>
          </p:nvPr>
        </p:nvSpPr>
        <p:spPr/>
        <p:txBody>
          <a:bodyPr/>
          <a:lstStyle/>
          <a:p>
            <a:r>
              <a:rPr lang="en-GB" dirty="0" err="1"/>
              <a:t>Countplot</a:t>
            </a:r>
            <a:r>
              <a:rPr lang="en-GB" dirty="0"/>
              <a:t> for </a:t>
            </a:r>
            <a:r>
              <a:rPr lang="en-GB" dirty="0" err="1"/>
              <a:t>urls</a:t>
            </a:r>
            <a:r>
              <a:rPr lang="en-GB" dirty="0"/>
              <a:t> with shortening services </a:t>
            </a:r>
          </a:p>
        </p:txBody>
      </p:sp>
      <p:sp>
        <p:nvSpPr>
          <p:cNvPr id="3" name="Content Placeholder 2">
            <a:extLst>
              <a:ext uri="{FF2B5EF4-FFF2-40B4-BE49-F238E27FC236}">
                <a16:creationId xmlns:a16="http://schemas.microsoft.com/office/drawing/2014/main" id="{8A937F9D-84C6-8DF6-60F4-AEB9DBD72C83}"/>
              </a:ext>
            </a:extLst>
          </p:cNvPr>
          <p:cNvSpPr>
            <a:spLocks noGrp="1"/>
          </p:cNvSpPr>
          <p:nvPr>
            <p:ph sz="half" idx="1"/>
          </p:nvPr>
        </p:nvSpPr>
        <p:spPr/>
        <p:txBody>
          <a:bodyPr>
            <a:normAutofit fontScale="25000" lnSpcReduction="20000"/>
          </a:bodyPr>
          <a:lstStyle/>
          <a:p>
            <a:r>
              <a:rPr lang="en-GB" dirty="0"/>
              <a:t># </a:t>
            </a:r>
            <a:r>
              <a:rPr lang="en-GB" dirty="0" err="1"/>
              <a:t>Countplot</a:t>
            </a:r>
            <a:r>
              <a:rPr lang="en-GB" dirty="0"/>
              <a:t> for shortening service</a:t>
            </a:r>
          </a:p>
          <a:p>
            <a:r>
              <a:rPr lang="en-GB" dirty="0" err="1"/>
              <a:t>ax</a:t>
            </a:r>
            <a:r>
              <a:rPr lang="en-GB" dirty="0"/>
              <a:t> = </a:t>
            </a:r>
            <a:r>
              <a:rPr lang="en-GB" dirty="0" err="1"/>
              <a:t>sns.countplot</a:t>
            </a:r>
            <a:r>
              <a:rPr lang="en-GB" dirty="0"/>
              <a:t>(</a:t>
            </a:r>
          </a:p>
          <a:p>
            <a:r>
              <a:rPr lang="en-GB" dirty="0"/>
              <a:t>    data=</a:t>
            </a:r>
            <a:r>
              <a:rPr lang="en-GB" dirty="0" err="1"/>
              <a:t>url_df</a:t>
            </a:r>
            <a:r>
              <a:rPr lang="en-GB" dirty="0"/>
              <a:t>, </a:t>
            </a:r>
          </a:p>
          <a:p>
            <a:r>
              <a:rPr lang="en-GB" dirty="0"/>
              <a:t>    x='</a:t>
            </a:r>
            <a:r>
              <a:rPr lang="en-GB" dirty="0" err="1"/>
              <a:t>shortening_service</a:t>
            </a:r>
            <a:r>
              <a:rPr lang="en-GB" dirty="0"/>
              <a:t>', </a:t>
            </a:r>
          </a:p>
          <a:p>
            <a:r>
              <a:rPr lang="en-GB" dirty="0"/>
              <a:t>    palette='</a:t>
            </a:r>
            <a:r>
              <a:rPr lang="en-GB" dirty="0" err="1"/>
              <a:t>GnBu</a:t>
            </a:r>
            <a:r>
              <a:rPr lang="en-GB" dirty="0"/>
              <a:t>',</a:t>
            </a:r>
          </a:p>
          <a:p>
            <a:r>
              <a:rPr lang="en-GB" dirty="0"/>
              <a:t>    order=</a:t>
            </a:r>
            <a:r>
              <a:rPr lang="en-GB" dirty="0" err="1"/>
              <a:t>url_df</a:t>
            </a:r>
            <a:r>
              <a:rPr lang="en-GB" dirty="0"/>
              <a:t>['</a:t>
            </a:r>
            <a:r>
              <a:rPr lang="en-GB" dirty="0" err="1"/>
              <a:t>shortening_service</a:t>
            </a:r>
            <a:r>
              <a:rPr lang="en-GB" dirty="0"/>
              <a:t>'].</a:t>
            </a:r>
            <a:r>
              <a:rPr lang="en-GB" dirty="0" err="1"/>
              <a:t>value_counts</a:t>
            </a:r>
            <a:r>
              <a:rPr lang="en-GB" dirty="0"/>
              <a:t>().index,</a:t>
            </a:r>
          </a:p>
          <a:p>
            <a:r>
              <a:rPr lang="en-GB" dirty="0"/>
              <a:t>    width=.6</a:t>
            </a:r>
          </a:p>
          <a:p>
            <a:r>
              <a:rPr lang="en-GB" dirty="0"/>
              <a:t>)</a:t>
            </a:r>
          </a:p>
          <a:p>
            <a:endParaRPr lang="en-GB" dirty="0"/>
          </a:p>
          <a:p>
            <a:r>
              <a:rPr lang="en-GB" dirty="0"/>
              <a:t># Annotate each bar with its count</a:t>
            </a:r>
          </a:p>
          <a:p>
            <a:r>
              <a:rPr lang="en-GB" dirty="0"/>
              <a:t>for p, label in zip(</a:t>
            </a:r>
            <a:r>
              <a:rPr lang="en-GB" dirty="0" err="1"/>
              <a:t>ax.patches</a:t>
            </a:r>
            <a:r>
              <a:rPr lang="en-GB" dirty="0"/>
              <a:t>, </a:t>
            </a:r>
            <a:r>
              <a:rPr lang="en-GB" dirty="0" err="1"/>
              <a:t>url_df</a:t>
            </a:r>
            <a:r>
              <a:rPr lang="en-GB" dirty="0"/>
              <a:t>['</a:t>
            </a:r>
            <a:r>
              <a:rPr lang="en-GB" dirty="0" err="1"/>
              <a:t>shortening_service</a:t>
            </a:r>
            <a:r>
              <a:rPr lang="en-GB" dirty="0"/>
              <a:t>'].</a:t>
            </a:r>
            <a:r>
              <a:rPr lang="en-GB" dirty="0" err="1"/>
              <a:t>value_counts</a:t>
            </a:r>
            <a:r>
              <a:rPr lang="en-GB" dirty="0"/>
              <a:t>()):</a:t>
            </a:r>
          </a:p>
          <a:p>
            <a:r>
              <a:rPr lang="en-GB" dirty="0"/>
              <a:t>    </a:t>
            </a:r>
            <a:r>
              <a:rPr lang="en-GB" dirty="0" err="1"/>
              <a:t>ax.annotate</a:t>
            </a:r>
            <a:r>
              <a:rPr lang="en-GB" dirty="0"/>
              <a:t>(label, (</a:t>
            </a:r>
            <a:r>
              <a:rPr lang="en-GB" dirty="0" err="1"/>
              <a:t>p.get_x</a:t>
            </a:r>
            <a:r>
              <a:rPr lang="en-GB" dirty="0"/>
              <a:t>() + .22, </a:t>
            </a:r>
            <a:r>
              <a:rPr lang="en-GB" dirty="0" err="1"/>
              <a:t>p.get_height</a:t>
            </a:r>
            <a:r>
              <a:rPr lang="en-GB" dirty="0"/>
              <a:t>() + 1))</a:t>
            </a:r>
          </a:p>
          <a:p>
            <a:endParaRPr lang="en-GB" dirty="0"/>
          </a:p>
          <a:p>
            <a:r>
              <a:rPr lang="en-GB" dirty="0"/>
              <a:t># Set plot title and show the plot</a:t>
            </a:r>
          </a:p>
          <a:p>
            <a:r>
              <a:rPr lang="en-GB" dirty="0" err="1"/>
              <a:t>ax.set_title</a:t>
            </a:r>
            <a:r>
              <a:rPr lang="en-GB" dirty="0"/>
              <a:t>('</a:t>
            </a:r>
            <a:r>
              <a:rPr lang="en-GB" dirty="0" err="1"/>
              <a:t>Countplot</a:t>
            </a:r>
            <a:r>
              <a:rPr lang="en-GB" dirty="0"/>
              <a:t> of URLs with Shortening Service (0: Not available, 1: Available)')</a:t>
            </a:r>
          </a:p>
          <a:p>
            <a:r>
              <a:rPr lang="en-GB" dirty="0" err="1"/>
              <a:t>plt.show</a:t>
            </a:r>
            <a:r>
              <a:rPr lang="en-GB" dirty="0"/>
              <a:t>()</a:t>
            </a:r>
          </a:p>
        </p:txBody>
      </p:sp>
      <p:pic>
        <p:nvPicPr>
          <p:cNvPr id="6" name="Content Placeholder 5">
            <a:extLst>
              <a:ext uri="{FF2B5EF4-FFF2-40B4-BE49-F238E27FC236}">
                <a16:creationId xmlns:a16="http://schemas.microsoft.com/office/drawing/2014/main" id="{5E694F59-8A32-2C0C-BB33-5DEC6E51C06F}"/>
              </a:ext>
            </a:extLst>
          </p:cNvPr>
          <p:cNvPicPr>
            <a:picLocks noGrp="1" noChangeAspect="1"/>
          </p:cNvPicPr>
          <p:nvPr>
            <p:ph sz="half" idx="2"/>
          </p:nvPr>
        </p:nvPicPr>
        <p:blipFill>
          <a:blip r:embed="rId3"/>
          <a:stretch>
            <a:fillRect/>
          </a:stretch>
        </p:blipFill>
        <p:spPr>
          <a:xfrm>
            <a:off x="6413500" y="2357494"/>
            <a:ext cx="4645025" cy="2762138"/>
          </a:xfrm>
        </p:spPr>
      </p:pic>
    </p:spTree>
    <p:extLst>
      <p:ext uri="{BB962C8B-B14F-4D97-AF65-F5344CB8AC3E}">
        <p14:creationId xmlns:p14="http://schemas.microsoft.com/office/powerpoint/2010/main" val="3900366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29E12-6487-0B89-6903-31CA3457E92E}"/>
              </a:ext>
            </a:extLst>
          </p:cNvPr>
          <p:cNvSpPr>
            <a:spLocks noGrp="1"/>
          </p:cNvSpPr>
          <p:nvPr>
            <p:ph type="title"/>
          </p:nvPr>
        </p:nvSpPr>
        <p:spPr/>
        <p:txBody>
          <a:bodyPr/>
          <a:lstStyle/>
          <a:p>
            <a:r>
              <a:rPr lang="en-US" dirty="0"/>
              <a:t>Check whether URL contains IP Address</a:t>
            </a:r>
            <a:endParaRPr lang="en-GB" dirty="0"/>
          </a:p>
        </p:txBody>
      </p:sp>
      <p:pic>
        <p:nvPicPr>
          <p:cNvPr id="6" name="Content Placeholder 5">
            <a:extLst>
              <a:ext uri="{FF2B5EF4-FFF2-40B4-BE49-F238E27FC236}">
                <a16:creationId xmlns:a16="http://schemas.microsoft.com/office/drawing/2014/main" id="{4EBCBC10-8E7B-87BC-FE63-2689E7DE3F9E}"/>
              </a:ext>
            </a:extLst>
          </p:cNvPr>
          <p:cNvPicPr>
            <a:picLocks noGrp="1" noChangeAspect="1"/>
          </p:cNvPicPr>
          <p:nvPr>
            <p:ph sz="half" idx="1"/>
          </p:nvPr>
        </p:nvPicPr>
        <p:blipFill>
          <a:blip r:embed="rId3"/>
          <a:stretch>
            <a:fillRect/>
          </a:stretch>
        </p:blipFill>
        <p:spPr>
          <a:xfrm>
            <a:off x="1447800" y="2333925"/>
            <a:ext cx="4645025" cy="2802926"/>
          </a:xfrm>
        </p:spPr>
      </p:pic>
      <p:sp>
        <p:nvSpPr>
          <p:cNvPr id="4" name="Content Placeholder 3">
            <a:extLst>
              <a:ext uri="{FF2B5EF4-FFF2-40B4-BE49-F238E27FC236}">
                <a16:creationId xmlns:a16="http://schemas.microsoft.com/office/drawing/2014/main" id="{22EE4061-F249-051E-6495-A56A93D53294}"/>
              </a:ext>
            </a:extLst>
          </p:cNvPr>
          <p:cNvSpPr>
            <a:spLocks noGrp="1"/>
          </p:cNvSpPr>
          <p:nvPr>
            <p:ph sz="half" idx="2"/>
          </p:nvPr>
        </p:nvSpPr>
        <p:spPr/>
        <p:txBody>
          <a:bodyPr/>
          <a:lstStyle/>
          <a:p>
            <a:endParaRPr lang="en-US" dirty="0"/>
          </a:p>
          <a:p>
            <a:r>
              <a:rPr lang="en-US" dirty="0"/>
              <a:t>This code segment defines a function named </a:t>
            </a:r>
            <a:r>
              <a:rPr lang="en-US" dirty="0" err="1"/>
              <a:t>having_ip_address</a:t>
            </a:r>
            <a:r>
              <a:rPr lang="en-US" dirty="0"/>
              <a:t> to determine whether a URL contains an IP address</a:t>
            </a:r>
            <a:endParaRPr lang="en-GB" dirty="0"/>
          </a:p>
        </p:txBody>
      </p:sp>
    </p:spTree>
    <p:extLst>
      <p:ext uri="{BB962C8B-B14F-4D97-AF65-F5344CB8AC3E}">
        <p14:creationId xmlns:p14="http://schemas.microsoft.com/office/powerpoint/2010/main" val="1228194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79572-6416-EC85-BC51-2B01AB878404}"/>
              </a:ext>
            </a:extLst>
          </p:cNvPr>
          <p:cNvSpPr>
            <a:spLocks noGrp="1"/>
          </p:cNvSpPr>
          <p:nvPr>
            <p:ph type="title"/>
          </p:nvPr>
        </p:nvSpPr>
        <p:spPr/>
        <p:txBody>
          <a:bodyPr/>
          <a:lstStyle/>
          <a:p>
            <a:r>
              <a:rPr lang="en-GB" dirty="0"/>
              <a:t>Visualization for </a:t>
            </a:r>
            <a:r>
              <a:rPr lang="en-GB" dirty="0" err="1"/>
              <a:t>urls</a:t>
            </a:r>
            <a:r>
              <a:rPr lang="en-GB" dirty="0"/>
              <a:t> with </a:t>
            </a:r>
            <a:r>
              <a:rPr lang="en-GB" dirty="0" err="1"/>
              <a:t>ip</a:t>
            </a:r>
            <a:r>
              <a:rPr lang="en-GB" dirty="0"/>
              <a:t> addresses </a:t>
            </a:r>
          </a:p>
        </p:txBody>
      </p:sp>
      <p:sp>
        <p:nvSpPr>
          <p:cNvPr id="3" name="Content Placeholder 2">
            <a:extLst>
              <a:ext uri="{FF2B5EF4-FFF2-40B4-BE49-F238E27FC236}">
                <a16:creationId xmlns:a16="http://schemas.microsoft.com/office/drawing/2014/main" id="{5C8F3DCC-62F5-870B-F419-ECD201A6F1EB}"/>
              </a:ext>
            </a:extLst>
          </p:cNvPr>
          <p:cNvSpPr>
            <a:spLocks noGrp="1"/>
          </p:cNvSpPr>
          <p:nvPr>
            <p:ph sz="half" idx="1"/>
          </p:nvPr>
        </p:nvSpPr>
        <p:spPr/>
        <p:txBody>
          <a:bodyPr>
            <a:normAutofit fontScale="25000" lnSpcReduction="20000"/>
          </a:bodyPr>
          <a:lstStyle/>
          <a:p>
            <a:r>
              <a:rPr lang="en-GB" dirty="0"/>
              <a:t># </a:t>
            </a:r>
            <a:r>
              <a:rPr lang="en-GB" dirty="0" err="1"/>
              <a:t>Countplot</a:t>
            </a:r>
            <a:r>
              <a:rPr lang="en-GB" dirty="0"/>
              <a:t> for </a:t>
            </a:r>
          </a:p>
          <a:p>
            <a:r>
              <a:rPr lang="en-GB" dirty="0" err="1"/>
              <a:t>ax</a:t>
            </a:r>
            <a:r>
              <a:rPr lang="en-GB" dirty="0"/>
              <a:t> = </a:t>
            </a:r>
            <a:r>
              <a:rPr lang="en-GB" dirty="0" err="1"/>
              <a:t>sns.countplot</a:t>
            </a:r>
            <a:r>
              <a:rPr lang="en-GB" dirty="0"/>
              <a:t>(</a:t>
            </a:r>
          </a:p>
          <a:p>
            <a:r>
              <a:rPr lang="en-GB" dirty="0"/>
              <a:t>    data=</a:t>
            </a:r>
            <a:r>
              <a:rPr lang="en-GB" dirty="0" err="1"/>
              <a:t>url_df</a:t>
            </a:r>
            <a:r>
              <a:rPr lang="en-GB" dirty="0"/>
              <a:t>, </a:t>
            </a:r>
          </a:p>
          <a:p>
            <a:r>
              <a:rPr lang="en-GB" dirty="0"/>
              <a:t>    x=</a:t>
            </a:r>
            <a:r>
              <a:rPr lang="en-GB" dirty="0" err="1"/>
              <a:t>url_df</a:t>
            </a:r>
            <a:r>
              <a:rPr lang="en-GB" dirty="0"/>
              <a:t>['</a:t>
            </a:r>
            <a:r>
              <a:rPr lang="en-GB" dirty="0" err="1"/>
              <a:t>has_ip_address</a:t>
            </a:r>
            <a:r>
              <a:rPr lang="en-GB" dirty="0"/>
              <a:t>'],  # Apply the function to each URL in the </a:t>
            </a:r>
            <a:r>
              <a:rPr lang="en-GB" dirty="0" err="1"/>
              <a:t>DataFrame</a:t>
            </a:r>
            <a:endParaRPr lang="en-GB" dirty="0"/>
          </a:p>
          <a:p>
            <a:r>
              <a:rPr lang="en-GB" dirty="0"/>
              <a:t>    palette='</a:t>
            </a:r>
            <a:r>
              <a:rPr lang="en-GB" dirty="0" err="1"/>
              <a:t>GnBu</a:t>
            </a:r>
            <a:r>
              <a:rPr lang="en-GB" dirty="0"/>
              <a:t>',</a:t>
            </a:r>
          </a:p>
          <a:p>
            <a:r>
              <a:rPr lang="en-GB" dirty="0"/>
              <a:t>    order=</a:t>
            </a:r>
            <a:r>
              <a:rPr lang="en-GB" dirty="0" err="1"/>
              <a:t>url_df</a:t>
            </a:r>
            <a:r>
              <a:rPr lang="en-GB" dirty="0"/>
              <a:t>['</a:t>
            </a:r>
            <a:r>
              <a:rPr lang="en-GB" dirty="0" err="1"/>
              <a:t>has_ip_address</a:t>
            </a:r>
            <a:r>
              <a:rPr lang="en-GB" dirty="0"/>
              <a:t>'].</a:t>
            </a:r>
            <a:r>
              <a:rPr lang="en-GB" dirty="0" err="1"/>
              <a:t>value_counts</a:t>
            </a:r>
            <a:r>
              <a:rPr lang="en-GB" dirty="0"/>
              <a:t>().index,</a:t>
            </a:r>
          </a:p>
          <a:p>
            <a:r>
              <a:rPr lang="en-GB" dirty="0"/>
              <a:t>    width=.6</a:t>
            </a:r>
          </a:p>
          <a:p>
            <a:r>
              <a:rPr lang="en-GB" dirty="0"/>
              <a:t>)</a:t>
            </a:r>
          </a:p>
          <a:p>
            <a:endParaRPr lang="en-GB" dirty="0"/>
          </a:p>
          <a:p>
            <a:r>
              <a:rPr lang="en-GB" dirty="0"/>
              <a:t># Annotate each bar with its count</a:t>
            </a:r>
          </a:p>
          <a:p>
            <a:r>
              <a:rPr lang="en-GB" dirty="0"/>
              <a:t>for p, label in zip(</a:t>
            </a:r>
            <a:r>
              <a:rPr lang="en-GB" dirty="0" err="1"/>
              <a:t>ax.patches</a:t>
            </a:r>
            <a:r>
              <a:rPr lang="en-GB" dirty="0"/>
              <a:t>, </a:t>
            </a:r>
            <a:r>
              <a:rPr lang="en-GB" dirty="0" err="1"/>
              <a:t>url_df</a:t>
            </a:r>
            <a:r>
              <a:rPr lang="en-GB" dirty="0"/>
              <a:t>['</a:t>
            </a:r>
            <a:r>
              <a:rPr lang="en-GB" dirty="0" err="1"/>
              <a:t>has_ip_address</a:t>
            </a:r>
            <a:r>
              <a:rPr lang="en-GB" dirty="0"/>
              <a:t>'].</a:t>
            </a:r>
            <a:r>
              <a:rPr lang="en-GB" dirty="0" err="1"/>
              <a:t>value_counts</a:t>
            </a:r>
            <a:r>
              <a:rPr lang="en-GB" dirty="0"/>
              <a:t>()):</a:t>
            </a:r>
          </a:p>
          <a:p>
            <a:r>
              <a:rPr lang="en-GB" dirty="0"/>
              <a:t>    </a:t>
            </a:r>
            <a:r>
              <a:rPr lang="en-GB" dirty="0" err="1"/>
              <a:t>ax.annotate</a:t>
            </a:r>
            <a:r>
              <a:rPr lang="en-GB" dirty="0"/>
              <a:t>(label, (</a:t>
            </a:r>
            <a:r>
              <a:rPr lang="en-GB" dirty="0" err="1"/>
              <a:t>p.get_x</a:t>
            </a:r>
            <a:r>
              <a:rPr lang="en-GB" dirty="0"/>
              <a:t>() + .22, </a:t>
            </a:r>
            <a:r>
              <a:rPr lang="en-GB" dirty="0" err="1"/>
              <a:t>p.get_height</a:t>
            </a:r>
            <a:r>
              <a:rPr lang="en-GB" dirty="0"/>
              <a:t>() + 1))</a:t>
            </a:r>
          </a:p>
          <a:p>
            <a:endParaRPr lang="en-GB" dirty="0"/>
          </a:p>
          <a:p>
            <a:r>
              <a:rPr lang="en-GB" dirty="0"/>
              <a:t># Set plot title and show the plot</a:t>
            </a:r>
          </a:p>
          <a:p>
            <a:r>
              <a:rPr lang="en-GB" dirty="0" err="1"/>
              <a:t>ax.set_title</a:t>
            </a:r>
            <a:r>
              <a:rPr lang="en-GB" dirty="0"/>
              <a:t>('</a:t>
            </a:r>
            <a:r>
              <a:rPr lang="en-GB" dirty="0" err="1"/>
              <a:t>Countplot</a:t>
            </a:r>
            <a:r>
              <a:rPr lang="en-GB" dirty="0"/>
              <a:t> of URLs with IP Address (0: No, 1: Yes)')</a:t>
            </a:r>
          </a:p>
          <a:p>
            <a:r>
              <a:rPr lang="en-GB" dirty="0" err="1"/>
              <a:t>plt.show</a:t>
            </a:r>
            <a:r>
              <a:rPr lang="en-GB" dirty="0"/>
              <a:t>()</a:t>
            </a:r>
          </a:p>
        </p:txBody>
      </p:sp>
      <p:pic>
        <p:nvPicPr>
          <p:cNvPr id="6" name="Content Placeholder 5">
            <a:extLst>
              <a:ext uri="{FF2B5EF4-FFF2-40B4-BE49-F238E27FC236}">
                <a16:creationId xmlns:a16="http://schemas.microsoft.com/office/drawing/2014/main" id="{98F7640B-0820-04FA-89A5-0BDE68D66618}"/>
              </a:ext>
            </a:extLst>
          </p:cNvPr>
          <p:cNvPicPr>
            <a:picLocks noGrp="1" noChangeAspect="1"/>
          </p:cNvPicPr>
          <p:nvPr>
            <p:ph sz="half" idx="2"/>
          </p:nvPr>
        </p:nvPicPr>
        <p:blipFill>
          <a:blip r:embed="rId2"/>
          <a:stretch>
            <a:fillRect/>
          </a:stretch>
        </p:blipFill>
        <p:spPr>
          <a:xfrm>
            <a:off x="6413500" y="2266135"/>
            <a:ext cx="4645025" cy="2944855"/>
          </a:xfrm>
        </p:spPr>
      </p:pic>
    </p:spTree>
    <p:extLst>
      <p:ext uri="{BB962C8B-B14F-4D97-AF65-F5344CB8AC3E}">
        <p14:creationId xmlns:p14="http://schemas.microsoft.com/office/powerpoint/2010/main" val="3232832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Research aim and objectives</a:t>
            </a:r>
          </a:p>
        </p:txBody>
      </p:sp>
      <p:sp>
        <p:nvSpPr>
          <p:cNvPr id="3" name="Content Placeholder 2"/>
          <p:cNvSpPr>
            <a:spLocks noGrp="1"/>
          </p:cNvSpPr>
          <p:nvPr>
            <p:ph sz="half" idx="1"/>
          </p:nvPr>
        </p:nvSpPr>
        <p:spPr>
          <a:xfrm>
            <a:off x="606057" y="1864194"/>
            <a:ext cx="10448796" cy="4037842"/>
          </a:xfrm>
        </p:spPr>
        <p:txBody>
          <a:bodyPr>
            <a:normAutofit/>
          </a:bodyPr>
          <a:lstStyle/>
          <a:p>
            <a:pPr marL="0" indent="0" algn="ctr">
              <a:buNone/>
            </a:pPr>
            <a:r>
              <a:rPr lang="en-GB" b="1" kern="0" dirty="0">
                <a:latin typeface="Gill Sans MT (Body)"/>
                <a:ea typeface="Times New Roman" panose="02020603050405020304" pitchFamily="18" charset="0"/>
              </a:rPr>
              <a:t>Research Purpose</a:t>
            </a:r>
          </a:p>
          <a:p>
            <a:pPr marL="0" marR="0" lvl="0" indent="0" algn="just">
              <a:lnSpc>
                <a:spcPct val="150000"/>
              </a:lnSpc>
              <a:spcBef>
                <a:spcPts val="0"/>
              </a:spcBef>
              <a:spcAft>
                <a:spcPts val="0"/>
              </a:spcAft>
              <a:buNone/>
              <a:tabLst>
                <a:tab pos="457200" algn="l"/>
              </a:tabLst>
            </a:pPr>
            <a:r>
              <a:rPr lang="en-US" sz="1800" dirty="0">
                <a:effectLst/>
                <a:latin typeface="Times New Roman" panose="02020603050405020304" pitchFamily="18" charset="0"/>
                <a:ea typeface="SimSun" panose="02010600030101010101" pitchFamily="2" charset="-122"/>
              </a:rPr>
              <a:t>The study aimed to detect cyber-attacks through URL analysis using a machine learning approach.</a:t>
            </a:r>
            <a:endParaRPr lang="en-GB" b="1" kern="0" dirty="0">
              <a:latin typeface="Gill Sans MT (Body)"/>
              <a:ea typeface="Times New Roman" panose="02020603050405020304" pitchFamily="18" charset="0"/>
            </a:endParaRPr>
          </a:p>
          <a:p>
            <a:pPr marL="0" indent="0" algn="ctr">
              <a:buNone/>
            </a:pPr>
            <a:r>
              <a:rPr lang="en-GB" b="1" kern="0" dirty="0">
                <a:latin typeface="Gill Sans MT (Body)"/>
                <a:ea typeface="Times New Roman" panose="02020603050405020304" pitchFamily="18" charset="0"/>
              </a:rPr>
              <a:t>Research Objective</a:t>
            </a:r>
          </a:p>
          <a:p>
            <a:pPr marL="342900" marR="0" lvl="0" indent="-342900" algn="just">
              <a:lnSpc>
                <a:spcPct val="115000"/>
              </a:lnSpc>
              <a:spcBef>
                <a:spcPts val="0"/>
              </a:spcBef>
              <a:spcAft>
                <a:spcPts val="0"/>
              </a:spcAft>
              <a:buFont typeface="+mj-lt"/>
              <a:buAutoNum type="arabicPeriod"/>
            </a:pPr>
            <a:r>
              <a:rPr lang="en-US" sz="1800" dirty="0">
                <a:effectLst/>
                <a:latin typeface="Times New Roman" panose="02020603050405020304" pitchFamily="18" charset="0"/>
                <a:ea typeface="SimSun" panose="02010600030101010101" pitchFamily="2" charset="-122"/>
              </a:rPr>
              <a:t>To analyze historical URL cyber-attack data</a:t>
            </a:r>
          </a:p>
          <a:p>
            <a:pPr marL="342900" marR="0" lvl="0" indent="-342900" algn="just">
              <a:lnSpc>
                <a:spcPct val="115000"/>
              </a:lnSpc>
              <a:spcBef>
                <a:spcPts val="0"/>
              </a:spcBef>
              <a:spcAft>
                <a:spcPts val="0"/>
              </a:spcAft>
              <a:buFont typeface="+mj-lt"/>
              <a:buAutoNum type="arabicPeriod"/>
            </a:pPr>
            <a:r>
              <a:rPr lang="en-US" sz="1800" dirty="0">
                <a:effectLst/>
                <a:latin typeface="Times New Roman" panose="02020603050405020304" pitchFamily="18" charset="0"/>
                <a:ea typeface="SimSun" panose="02010600030101010101" pitchFamily="2" charset="-122"/>
              </a:rPr>
              <a:t>To define and classify specific threats</a:t>
            </a:r>
          </a:p>
          <a:p>
            <a:pPr marL="342900" marR="0" lvl="0" indent="-342900" algn="just">
              <a:lnSpc>
                <a:spcPct val="115000"/>
              </a:lnSpc>
              <a:spcBef>
                <a:spcPts val="0"/>
              </a:spcBef>
              <a:spcAft>
                <a:spcPts val="0"/>
              </a:spcAft>
              <a:buFont typeface="+mj-lt"/>
              <a:buAutoNum type="arabicPeriod"/>
            </a:pPr>
            <a:r>
              <a:rPr lang="en-US" sz="1800" dirty="0">
                <a:effectLst/>
                <a:latin typeface="Times New Roman" panose="02020603050405020304" pitchFamily="18" charset="0"/>
                <a:ea typeface="SimSun" panose="02010600030101010101" pitchFamily="2" charset="-122"/>
              </a:rPr>
              <a:t>To identify relevant features and characteristics of URL ransomware behavior</a:t>
            </a:r>
          </a:p>
          <a:p>
            <a:pPr marL="342900" marR="0" lvl="0" indent="-342900" algn="just">
              <a:lnSpc>
                <a:spcPct val="115000"/>
              </a:lnSpc>
              <a:spcBef>
                <a:spcPts val="0"/>
              </a:spcBef>
              <a:spcAft>
                <a:spcPts val="0"/>
              </a:spcAft>
              <a:buFont typeface="+mj-lt"/>
              <a:buAutoNum type="arabicPeriod"/>
            </a:pPr>
            <a:r>
              <a:rPr lang="en-US" sz="1800" dirty="0">
                <a:effectLst/>
                <a:latin typeface="Times New Roman" panose="02020603050405020304" pitchFamily="18" charset="0"/>
                <a:ea typeface="SimSun" panose="02010600030101010101" pitchFamily="2" charset="-122"/>
              </a:rPr>
              <a:t>To develop a tailored machine learning model</a:t>
            </a:r>
          </a:p>
          <a:p>
            <a:pPr marL="342900" marR="0" lvl="0" indent="-342900" algn="just">
              <a:lnSpc>
                <a:spcPct val="115000"/>
              </a:lnSpc>
              <a:spcBef>
                <a:spcPts val="0"/>
              </a:spcBef>
              <a:spcAft>
                <a:spcPts val="0"/>
              </a:spcAft>
              <a:buFont typeface="+mj-lt"/>
              <a:buAutoNum type="arabicPeriod"/>
            </a:pPr>
            <a:r>
              <a:rPr lang="en-US" sz="1800" dirty="0">
                <a:effectLst/>
                <a:latin typeface="Times New Roman" panose="02020603050405020304" pitchFamily="18" charset="0"/>
                <a:ea typeface="SimSun" panose="02010600030101010101" pitchFamily="2" charset="-122"/>
              </a:rPr>
              <a:t>To design and implement a machine learning model tailored to the unique characteristics of the URL, with a focus on detecting specific cyber-attacks</a:t>
            </a:r>
            <a:endParaRPr lang="en-US" dirty="0">
              <a:latin typeface="Gill Sans MT (Body)"/>
            </a:endParaRPr>
          </a:p>
        </p:txBody>
      </p:sp>
    </p:spTree>
    <p:extLst>
      <p:ext uri="{BB962C8B-B14F-4D97-AF65-F5344CB8AC3E}">
        <p14:creationId xmlns:p14="http://schemas.microsoft.com/office/powerpoint/2010/main" val="3044346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1970" y="461620"/>
            <a:ext cx="9603275" cy="691772"/>
          </a:xfrm>
        </p:spPr>
        <p:txBody>
          <a:bodyPr/>
          <a:lstStyle/>
          <a:p>
            <a:pPr algn="ctr"/>
            <a:r>
              <a:rPr lang="en-US" dirty="0"/>
              <a:t>Research methodology</a:t>
            </a:r>
          </a:p>
        </p:txBody>
      </p:sp>
      <p:sp>
        <p:nvSpPr>
          <p:cNvPr id="3" name="Content Placeholder 2"/>
          <p:cNvSpPr>
            <a:spLocks noGrp="1"/>
          </p:cNvSpPr>
          <p:nvPr>
            <p:ph idx="1"/>
          </p:nvPr>
        </p:nvSpPr>
        <p:spPr>
          <a:xfrm>
            <a:off x="852055" y="1853754"/>
            <a:ext cx="10920845" cy="3933982"/>
          </a:xfrm>
        </p:spPr>
        <p:txBody>
          <a:bodyPr>
            <a:normAutofit/>
          </a:bodyPr>
          <a:lstStyle/>
          <a:p>
            <a:pPr marL="0" indent="0" algn="ctr">
              <a:buNone/>
            </a:pPr>
            <a:r>
              <a:rPr lang="en-US" sz="1900" b="1" dirty="0">
                <a:latin typeface="Gill Sans MT (Body)"/>
              </a:rPr>
              <a:t>Data</a:t>
            </a:r>
          </a:p>
          <a:p>
            <a:r>
              <a:rPr lang="en-US" sz="1800" dirty="0">
                <a:effectLst/>
                <a:latin typeface="Times New Roman" panose="02020603050405020304" pitchFamily="18" charset="0"/>
                <a:ea typeface="SimSun" panose="02010600030101010101" pitchFamily="2" charset="-122"/>
              </a:rPr>
              <a:t>The data was in form of a csv file for </a:t>
            </a:r>
            <a:r>
              <a:rPr lang="en-US" sz="1800" dirty="0" err="1">
                <a:effectLst/>
                <a:latin typeface="Times New Roman" panose="02020603050405020304" pitchFamily="18" charset="0"/>
                <a:ea typeface="SimSun" panose="02010600030101010101" pitchFamily="2" charset="-122"/>
              </a:rPr>
              <a:t>urls</a:t>
            </a:r>
            <a:r>
              <a:rPr lang="en-US" sz="1800" dirty="0">
                <a:effectLst/>
                <a:latin typeface="Times New Roman" panose="02020603050405020304" pitchFamily="18" charset="0"/>
                <a:ea typeface="SimSun" panose="02010600030101010101" pitchFamily="2" charset="-122"/>
              </a:rPr>
              <a:t> classified as benign, malware, phishing and defacement. </a:t>
            </a:r>
          </a:p>
          <a:p>
            <a:r>
              <a:rPr lang="en-US" sz="1800" dirty="0">
                <a:effectLst/>
                <a:latin typeface="Times New Roman" panose="02020603050405020304" pitchFamily="18" charset="0"/>
                <a:ea typeface="SimSun" panose="02010600030101010101" pitchFamily="2" charset="-122"/>
              </a:rPr>
              <a:t>The data was sourced from the Kaggle website. </a:t>
            </a:r>
          </a:p>
          <a:p>
            <a:r>
              <a:rPr lang="en-US" sz="1800" dirty="0">
                <a:effectLst/>
                <a:latin typeface="Times New Roman" panose="02020603050405020304" pitchFamily="18" charset="0"/>
                <a:ea typeface="SimSun" panose="02010600030101010101" pitchFamily="2" charset="-122"/>
              </a:rPr>
              <a:t>Kaggle is the world’s largest data science platform where machine learners share, stress, test, and stay up-to-date on all the latest ML techniques and technologies. </a:t>
            </a:r>
          </a:p>
          <a:p>
            <a:r>
              <a:rPr lang="en-US" sz="1800" dirty="0">
                <a:effectLst/>
                <a:latin typeface="Times New Roman" panose="02020603050405020304" pitchFamily="18" charset="0"/>
                <a:ea typeface="SimSun" panose="02010600030101010101" pitchFamily="2" charset="-122"/>
              </a:rPr>
              <a:t>The aim of the study was to extract features from URL that could enable the researcher to classify a given </a:t>
            </a:r>
            <a:r>
              <a:rPr lang="en-US" sz="1800" dirty="0" err="1">
                <a:effectLst/>
                <a:latin typeface="Times New Roman" panose="02020603050405020304" pitchFamily="18" charset="0"/>
                <a:ea typeface="SimSun" panose="02010600030101010101" pitchFamily="2" charset="-122"/>
              </a:rPr>
              <a:t>url</a:t>
            </a:r>
            <a:r>
              <a:rPr lang="en-US" sz="1800" dirty="0">
                <a:effectLst/>
                <a:latin typeface="Times New Roman" panose="02020603050405020304" pitchFamily="18" charset="0"/>
                <a:ea typeface="SimSun" panose="02010600030101010101" pitchFamily="2" charset="-122"/>
              </a:rPr>
              <a:t> as either benign, or not benign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900" dirty="0">
              <a:latin typeface="Gill Sans MT (Body)"/>
            </a:endParaRPr>
          </a:p>
        </p:txBody>
      </p:sp>
    </p:spTree>
    <p:extLst>
      <p:ext uri="{BB962C8B-B14F-4D97-AF65-F5344CB8AC3E}">
        <p14:creationId xmlns:p14="http://schemas.microsoft.com/office/powerpoint/2010/main" val="925879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1970" y="461620"/>
            <a:ext cx="9603275" cy="691772"/>
          </a:xfrm>
        </p:spPr>
        <p:txBody>
          <a:bodyPr/>
          <a:lstStyle/>
          <a:p>
            <a:pPr algn="ctr"/>
            <a:r>
              <a:rPr lang="en-US" dirty="0"/>
              <a:t>Research methodology continues</a:t>
            </a:r>
          </a:p>
        </p:txBody>
      </p:sp>
      <p:sp>
        <p:nvSpPr>
          <p:cNvPr id="3" name="Content Placeholder 2"/>
          <p:cNvSpPr>
            <a:spLocks noGrp="1"/>
          </p:cNvSpPr>
          <p:nvPr>
            <p:ph idx="1"/>
          </p:nvPr>
        </p:nvSpPr>
        <p:spPr>
          <a:xfrm>
            <a:off x="681514" y="1940828"/>
            <a:ext cx="11164186" cy="3564622"/>
          </a:xfrm>
        </p:spPr>
        <p:txBody>
          <a:bodyPr>
            <a:normAutofit/>
          </a:bodyPr>
          <a:lstStyle/>
          <a:p>
            <a:pPr marL="0" indent="0" algn="ctr">
              <a:buNone/>
            </a:pPr>
            <a:r>
              <a:rPr lang="en-US" sz="1800" b="1" dirty="0">
                <a:effectLst/>
                <a:latin typeface="Times New Roman" panose="02020603050405020304" pitchFamily="18" charset="0"/>
                <a:ea typeface="Calibri" panose="020F0502020204030204" pitchFamily="34" charset="0"/>
              </a:rPr>
              <a:t>Feature Selection and Prediction Model</a:t>
            </a:r>
            <a:endParaRPr lang="en-US" sz="1900" b="1" dirty="0">
              <a:effectLst/>
              <a:latin typeface="Times New Roman" panose="02020603050405020304" pitchFamily="18" charset="0"/>
              <a:ea typeface="Calibri" panose="020F0502020204030204" pitchFamily="34" charset="0"/>
            </a:endParaRPr>
          </a:p>
          <a:p>
            <a:r>
              <a:rPr lang="en-US" sz="1800" dirty="0">
                <a:effectLst/>
                <a:latin typeface="Times New Roman" panose="02020603050405020304" pitchFamily="18" charset="0"/>
                <a:ea typeface="SimSun" panose="02010600030101010101" pitchFamily="2" charset="-122"/>
              </a:rPr>
              <a:t>The study used mutual information gain to find the most important features from the dataset. </a:t>
            </a:r>
          </a:p>
          <a:p>
            <a:r>
              <a:rPr lang="en-US" sz="1800" dirty="0">
                <a:effectLst/>
                <a:latin typeface="Times New Roman" panose="02020603050405020304" pitchFamily="18" charset="0"/>
                <a:ea typeface="SimSun" panose="02010600030101010101" pitchFamily="2" charset="-122"/>
              </a:rPr>
              <a:t>The feature selection procedure aimed at identification of top 10 best features </a:t>
            </a:r>
          </a:p>
          <a:p>
            <a:r>
              <a:rPr lang="en-US" sz="1800" dirty="0">
                <a:latin typeface="Times New Roman" panose="02020603050405020304" pitchFamily="18" charset="0"/>
                <a:ea typeface="SimSun" panose="02010600030101010101" pitchFamily="2" charset="-122"/>
              </a:rPr>
              <a:t>T</a:t>
            </a:r>
            <a:r>
              <a:rPr lang="en-US" sz="1800" dirty="0">
                <a:effectLst/>
                <a:latin typeface="Times New Roman" panose="02020603050405020304" pitchFamily="18" charset="0"/>
                <a:ea typeface="SimSun" panose="02010600030101010101" pitchFamily="2" charset="-122"/>
              </a:rPr>
              <a:t>he study fitted the data to two models </a:t>
            </a:r>
            <a:r>
              <a:rPr lang="en-US" sz="1800" dirty="0" err="1">
                <a:effectLst/>
                <a:latin typeface="Times New Roman" panose="02020603050405020304" pitchFamily="18" charset="0"/>
                <a:ea typeface="SimSun" panose="02010600030101010101" pitchFamily="2" charset="-122"/>
              </a:rPr>
              <a:t>XGBoost</a:t>
            </a:r>
            <a:r>
              <a:rPr lang="en-US" sz="1800" dirty="0">
                <a:effectLst/>
                <a:latin typeface="Times New Roman" panose="02020603050405020304" pitchFamily="18" charset="0"/>
                <a:ea typeface="SimSun" panose="02010600030101010101" pitchFamily="2" charset="-122"/>
              </a:rPr>
              <a:t> and random forest. </a:t>
            </a:r>
          </a:p>
          <a:p>
            <a:r>
              <a:rPr lang="en-US" sz="1800" dirty="0">
                <a:effectLst/>
                <a:latin typeface="Times New Roman" panose="02020603050405020304" pitchFamily="18" charset="0"/>
                <a:ea typeface="SimSun" panose="02010600030101010101" pitchFamily="2" charset="-122"/>
              </a:rPr>
              <a:t>The best model was chosen based on models’ accuracy.</a:t>
            </a:r>
            <a:endParaRPr lang="en-US" sz="1800" b="1"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689558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3B8F3-599D-41DE-08AB-2B77C2D3A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8C445A-A6FD-F734-3A3E-4583BA5936CB}"/>
              </a:ext>
            </a:extLst>
          </p:cNvPr>
          <p:cNvSpPr>
            <a:spLocks noGrp="1"/>
          </p:cNvSpPr>
          <p:nvPr>
            <p:ph type="title"/>
          </p:nvPr>
        </p:nvSpPr>
        <p:spPr>
          <a:xfrm>
            <a:off x="1461970" y="461620"/>
            <a:ext cx="9603275" cy="691772"/>
          </a:xfrm>
        </p:spPr>
        <p:txBody>
          <a:bodyPr>
            <a:noAutofit/>
          </a:bodyPr>
          <a:lstStyle/>
          <a:p>
            <a:pPr algn="ctr"/>
            <a:r>
              <a:rPr lang="en-US" b="1" dirty="0">
                <a:effectLst/>
                <a:latin typeface="Times New Roman" panose="02020603050405020304" pitchFamily="18" charset="0"/>
                <a:ea typeface="Calibri" panose="020F0502020204030204" pitchFamily="34" charset="0"/>
              </a:rPr>
              <a:t>Results and Discussions</a:t>
            </a:r>
            <a:endParaRPr lang="en-US" b="1" dirty="0">
              <a:latin typeface="Gill Sans MT (Body)"/>
            </a:endParaRPr>
          </a:p>
        </p:txBody>
      </p:sp>
      <p:sp>
        <p:nvSpPr>
          <p:cNvPr id="3" name="Content Placeholder 2">
            <a:extLst>
              <a:ext uri="{FF2B5EF4-FFF2-40B4-BE49-F238E27FC236}">
                <a16:creationId xmlns:a16="http://schemas.microsoft.com/office/drawing/2014/main" id="{C8625676-EE2C-A185-E329-191E41D0603A}"/>
              </a:ext>
            </a:extLst>
          </p:cNvPr>
          <p:cNvSpPr>
            <a:spLocks noGrp="1"/>
          </p:cNvSpPr>
          <p:nvPr>
            <p:ph idx="1"/>
          </p:nvPr>
        </p:nvSpPr>
        <p:spPr>
          <a:xfrm>
            <a:off x="193104" y="1774241"/>
            <a:ext cx="7377277" cy="4041768"/>
          </a:xfrm>
        </p:spPr>
        <p:txBody>
          <a:bodyPr>
            <a:noAutofit/>
          </a:bodyPr>
          <a:lstStyle/>
          <a:p>
            <a:pPr marL="0" indent="0" algn="ctr">
              <a:lnSpc>
                <a:spcPct val="100000"/>
              </a:lnSpc>
              <a:buNone/>
            </a:pPr>
            <a:r>
              <a:rPr lang="en-US" sz="1800" b="1" dirty="0">
                <a:effectLst/>
                <a:latin typeface="Times New Roman" panose="02020603050405020304" pitchFamily="18" charset="0"/>
                <a:ea typeface="Calibri" panose="020F0502020204030204" pitchFamily="34" charset="0"/>
              </a:rPr>
              <a:t>Feature Identification</a:t>
            </a:r>
          </a:p>
          <a:p>
            <a:pPr>
              <a:lnSpc>
                <a:spcPct val="100000"/>
              </a:lnSpc>
            </a:pPr>
            <a:r>
              <a:rPr lang="en-US" sz="1800" dirty="0">
                <a:effectLst/>
                <a:latin typeface="Times New Roman" panose="02020603050405020304" pitchFamily="18" charset="0"/>
                <a:ea typeface="SimSun" panose="02010600030101010101" pitchFamily="2" charset="-122"/>
              </a:rPr>
              <a:t>The features identified included type, URL length, protocol, domain </a:t>
            </a:r>
            <a:r>
              <a:rPr lang="en-US" sz="1800" dirty="0" err="1">
                <a:effectLst/>
                <a:latin typeface="Times New Roman" panose="02020603050405020304" pitchFamily="18" charset="0"/>
                <a:ea typeface="SimSun" panose="02010600030101010101" pitchFamily="2" charset="-122"/>
              </a:rPr>
              <a:t>url_type</a:t>
            </a:r>
            <a:r>
              <a:rPr lang="en-US" sz="1800" dirty="0">
                <a:effectLst/>
                <a:latin typeface="Times New Roman" panose="02020603050405020304" pitchFamily="18" charset="0"/>
                <a:ea typeface="SimSun" panose="02010600030101010101" pitchFamily="2" charset="-122"/>
              </a:rPr>
              <a:t>, characters (@, ?, -, =, …, +, $, \, !, *, and ,) abnormal URL, digits, letters, shortening services, and IP address. </a:t>
            </a:r>
          </a:p>
          <a:p>
            <a:pPr>
              <a:lnSpc>
                <a:spcPct val="100000"/>
              </a:lnSpc>
            </a:pPr>
            <a:r>
              <a:rPr lang="en-US" sz="1800" dirty="0">
                <a:effectLst/>
                <a:latin typeface="Times New Roman" panose="02020603050405020304" pitchFamily="18" charset="0"/>
                <a:ea typeface="SimSun" panose="02010600030101010101" pitchFamily="2" charset="-122"/>
              </a:rPr>
              <a:t>Benign type had the majority URLs with a frequency of 428103. </a:t>
            </a:r>
          </a:p>
          <a:p>
            <a:pPr>
              <a:lnSpc>
                <a:spcPct val="100000"/>
              </a:lnSpc>
            </a:pPr>
            <a:r>
              <a:rPr lang="en-US" sz="1800" dirty="0">
                <a:effectLst/>
                <a:latin typeface="Times New Roman" panose="02020603050405020304" pitchFamily="18" charset="0"/>
                <a:ea typeface="SimSun" panose="02010600030101010101" pitchFamily="2" charset="-122"/>
              </a:rPr>
              <a:t>A majority of the URLs, with a frequency of 463185, led to abnormal websites, while the minority, with a frequency of 188006, led to normal websites. </a:t>
            </a:r>
          </a:p>
          <a:p>
            <a:pPr>
              <a:lnSpc>
                <a:spcPct val="100000"/>
              </a:lnSpc>
            </a:pPr>
            <a:r>
              <a:rPr lang="en-US" sz="1800" dirty="0">
                <a:effectLst/>
                <a:latin typeface="Times New Roman" panose="02020603050405020304" pitchFamily="18" charset="0"/>
                <a:ea typeface="SimSun" panose="02010600030101010101" pitchFamily="2" charset="-122"/>
              </a:rPr>
              <a:t>For the shortening services, </a:t>
            </a:r>
            <a:r>
              <a:rPr lang="en-US" sz="1800" dirty="0">
                <a:latin typeface="Times New Roman" panose="02020603050405020304" pitchFamily="18" charset="0"/>
                <a:ea typeface="SimSun" panose="02010600030101010101" pitchFamily="2" charset="-122"/>
              </a:rPr>
              <a:t>t</a:t>
            </a:r>
            <a:r>
              <a:rPr lang="en-US" sz="1800" dirty="0">
                <a:effectLst/>
                <a:latin typeface="Times New Roman" panose="02020603050405020304" pitchFamily="18" charset="0"/>
                <a:ea typeface="SimSun" panose="02010600030101010101" pitchFamily="2" charset="-122"/>
              </a:rPr>
              <a:t>he frequencies were 611436 and 39755 for those without and with shortening services, respectively. </a:t>
            </a:r>
          </a:p>
          <a:p>
            <a:pPr marL="0" indent="0">
              <a:lnSpc>
                <a:spcPct val="100000"/>
              </a:lnSpc>
              <a:buNone/>
            </a:pPr>
            <a:endParaRPr lang="en-US" sz="1800" dirty="0">
              <a:effectLst/>
              <a:latin typeface="Times New Roman" panose="02020603050405020304" pitchFamily="18" charset="0"/>
              <a:ea typeface="SimSun" panose="02010600030101010101" pitchFamily="2" charset="-122"/>
            </a:endParaRPr>
          </a:p>
          <a:p>
            <a:pPr marL="0" indent="0" algn="ctr">
              <a:lnSpc>
                <a:spcPct val="100000"/>
              </a:lnSpc>
              <a:buNone/>
            </a:pPr>
            <a:endParaRPr lang="en-US" sz="1800" b="1" dirty="0">
              <a:effectLst/>
              <a:latin typeface="Times New Roman" panose="02020603050405020304" pitchFamily="18" charset="0"/>
              <a:ea typeface="Calibri" panose="020F0502020204030204" pitchFamily="34" charset="0"/>
            </a:endParaRPr>
          </a:p>
        </p:txBody>
      </p:sp>
      <p:pic>
        <p:nvPicPr>
          <p:cNvPr id="4" name="Picture 3">
            <a:extLst>
              <a:ext uri="{FF2B5EF4-FFF2-40B4-BE49-F238E27FC236}">
                <a16:creationId xmlns:a16="http://schemas.microsoft.com/office/drawing/2014/main" id="{208E5782-1C84-5063-B592-FC5E38E00321}"/>
              </a:ext>
            </a:extLst>
          </p:cNvPr>
          <p:cNvPicPr>
            <a:picLocks noChangeAspect="1"/>
          </p:cNvPicPr>
          <p:nvPr/>
        </p:nvPicPr>
        <p:blipFill>
          <a:blip r:embed="rId3"/>
          <a:stretch>
            <a:fillRect/>
          </a:stretch>
        </p:blipFill>
        <p:spPr>
          <a:xfrm>
            <a:off x="7425298" y="2222359"/>
            <a:ext cx="4472534" cy="3145532"/>
          </a:xfrm>
          <a:prstGeom prst="rect">
            <a:avLst/>
          </a:prstGeom>
        </p:spPr>
      </p:pic>
    </p:spTree>
    <p:extLst>
      <p:ext uri="{BB962C8B-B14F-4D97-AF65-F5344CB8AC3E}">
        <p14:creationId xmlns:p14="http://schemas.microsoft.com/office/powerpoint/2010/main" val="812143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1970" y="461620"/>
            <a:ext cx="9603275" cy="691772"/>
          </a:xfrm>
        </p:spPr>
        <p:txBody>
          <a:bodyPr>
            <a:noAutofit/>
          </a:bodyPr>
          <a:lstStyle/>
          <a:p>
            <a:pPr algn="ctr"/>
            <a:r>
              <a:rPr lang="en-US" b="1" dirty="0">
                <a:effectLst/>
                <a:latin typeface="Times New Roman" panose="02020603050405020304" pitchFamily="18" charset="0"/>
                <a:ea typeface="Calibri" panose="020F0502020204030204" pitchFamily="34" charset="0"/>
              </a:rPr>
              <a:t>Results and Discussions</a:t>
            </a:r>
            <a:endParaRPr lang="en-US" b="1" dirty="0">
              <a:latin typeface="Gill Sans MT (Body)"/>
            </a:endParaRPr>
          </a:p>
        </p:txBody>
      </p:sp>
      <p:sp>
        <p:nvSpPr>
          <p:cNvPr id="3" name="Content Placeholder 2"/>
          <p:cNvSpPr>
            <a:spLocks noGrp="1"/>
          </p:cNvSpPr>
          <p:nvPr>
            <p:ph idx="1"/>
          </p:nvPr>
        </p:nvSpPr>
        <p:spPr>
          <a:xfrm>
            <a:off x="5320871" y="1919483"/>
            <a:ext cx="6297143" cy="3358934"/>
          </a:xfrm>
        </p:spPr>
        <p:txBody>
          <a:bodyPr>
            <a:noAutofit/>
          </a:bodyPr>
          <a:lstStyle/>
          <a:p>
            <a:pPr marL="0" indent="0" algn="ctr">
              <a:lnSpc>
                <a:spcPct val="100000"/>
              </a:lnSpc>
              <a:buNone/>
            </a:pPr>
            <a:r>
              <a:rPr lang="en-US" sz="1800" b="1" dirty="0">
                <a:effectLst/>
                <a:latin typeface="Times New Roman" panose="02020603050405020304" pitchFamily="18" charset="0"/>
                <a:ea typeface="Calibri" panose="020F0502020204030204" pitchFamily="34" charset="0"/>
              </a:rPr>
              <a:t>Correlation Heat Map</a:t>
            </a:r>
          </a:p>
          <a:p>
            <a:pPr>
              <a:lnSpc>
                <a:spcPct val="100000"/>
              </a:lnSpc>
            </a:pPr>
            <a:r>
              <a:rPr lang="en-US" sz="1800" dirty="0">
                <a:effectLst/>
                <a:latin typeface="Times New Roman" panose="02020603050405020304" pitchFamily="18" charset="0"/>
                <a:ea typeface="SimSun" panose="02010600030101010101" pitchFamily="2" charset="-122"/>
              </a:rPr>
              <a:t>The correlation heatmap was critical for identifying features that could potentially result in multicollinearity. </a:t>
            </a:r>
          </a:p>
          <a:p>
            <a:pPr>
              <a:lnSpc>
                <a:spcPct val="100000"/>
              </a:lnSpc>
            </a:pPr>
            <a:r>
              <a:rPr lang="en-US" sz="1800" dirty="0">
                <a:effectLst/>
                <a:latin typeface="Times New Roman" panose="02020603050405020304" pitchFamily="18" charset="0"/>
                <a:ea typeface="SimSun" panose="02010600030101010101" pitchFamily="2" charset="-122"/>
              </a:rPr>
              <a:t>Multicollinearity would compromise the integrity of the models. From the analysis, only three pairs had high correlation. </a:t>
            </a:r>
          </a:p>
          <a:p>
            <a:pPr>
              <a:lnSpc>
                <a:spcPct val="100000"/>
              </a:lnSpc>
            </a:pPr>
            <a:r>
              <a:rPr lang="en-US" sz="1800" dirty="0">
                <a:effectLst/>
                <a:latin typeface="Times New Roman" panose="02020603050405020304" pitchFamily="18" charset="0"/>
                <a:ea typeface="SimSun" panose="02010600030101010101" pitchFamily="2" charset="-122"/>
              </a:rPr>
              <a:t>The rest of the pairs indicated very weak correlation, implying that the features identified had no significant potential for multicollinearity. </a:t>
            </a:r>
            <a:endParaRPr lang="en-US" sz="1800" b="1" dirty="0">
              <a:effectLst/>
              <a:latin typeface="Times New Roman" panose="02020603050405020304" pitchFamily="18" charset="0"/>
              <a:ea typeface="Calibri" panose="020F0502020204030204" pitchFamily="34" charset="0"/>
            </a:endParaRPr>
          </a:p>
        </p:txBody>
      </p:sp>
      <p:pic>
        <p:nvPicPr>
          <p:cNvPr id="4" name="Picture 3">
            <a:extLst>
              <a:ext uri="{FF2B5EF4-FFF2-40B4-BE49-F238E27FC236}">
                <a16:creationId xmlns:a16="http://schemas.microsoft.com/office/drawing/2014/main" id="{F4FB7D1A-2870-8A81-6D75-FAA856555E38}"/>
              </a:ext>
            </a:extLst>
          </p:cNvPr>
          <p:cNvPicPr>
            <a:picLocks noChangeAspect="1"/>
          </p:cNvPicPr>
          <p:nvPr/>
        </p:nvPicPr>
        <p:blipFill>
          <a:blip r:embed="rId3"/>
          <a:stretch>
            <a:fillRect/>
          </a:stretch>
        </p:blipFill>
        <p:spPr>
          <a:xfrm>
            <a:off x="888357" y="1919483"/>
            <a:ext cx="3864171" cy="3630712"/>
          </a:xfrm>
          <a:prstGeom prst="rect">
            <a:avLst/>
          </a:prstGeom>
        </p:spPr>
      </p:pic>
    </p:spTree>
    <p:extLst>
      <p:ext uri="{BB962C8B-B14F-4D97-AF65-F5344CB8AC3E}">
        <p14:creationId xmlns:p14="http://schemas.microsoft.com/office/powerpoint/2010/main" val="2498951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B34CA-D65A-114A-59EB-925923C2A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6908B-0512-124B-95F6-9DED59369BD3}"/>
              </a:ext>
            </a:extLst>
          </p:cNvPr>
          <p:cNvSpPr>
            <a:spLocks noGrp="1"/>
          </p:cNvSpPr>
          <p:nvPr>
            <p:ph type="title"/>
          </p:nvPr>
        </p:nvSpPr>
        <p:spPr>
          <a:xfrm>
            <a:off x="1461970" y="461620"/>
            <a:ext cx="9603275" cy="691772"/>
          </a:xfrm>
        </p:spPr>
        <p:txBody>
          <a:bodyPr>
            <a:noAutofit/>
          </a:bodyPr>
          <a:lstStyle/>
          <a:p>
            <a:pPr algn="ctr"/>
            <a:r>
              <a:rPr lang="en-US" b="1" dirty="0">
                <a:effectLst/>
                <a:latin typeface="Times New Roman" panose="02020603050405020304" pitchFamily="18" charset="0"/>
                <a:ea typeface="Calibri" panose="020F0502020204030204" pitchFamily="34" charset="0"/>
              </a:rPr>
              <a:t>Results and Discussions</a:t>
            </a:r>
            <a:endParaRPr lang="en-US" b="1" dirty="0">
              <a:latin typeface="Gill Sans MT (Body)"/>
            </a:endParaRPr>
          </a:p>
        </p:txBody>
      </p:sp>
      <p:sp>
        <p:nvSpPr>
          <p:cNvPr id="3" name="Content Placeholder 2">
            <a:extLst>
              <a:ext uri="{FF2B5EF4-FFF2-40B4-BE49-F238E27FC236}">
                <a16:creationId xmlns:a16="http://schemas.microsoft.com/office/drawing/2014/main" id="{6A0DC219-60A5-75FC-F78E-B68476342795}"/>
              </a:ext>
            </a:extLst>
          </p:cNvPr>
          <p:cNvSpPr>
            <a:spLocks noGrp="1"/>
          </p:cNvSpPr>
          <p:nvPr>
            <p:ph idx="1"/>
          </p:nvPr>
        </p:nvSpPr>
        <p:spPr>
          <a:xfrm>
            <a:off x="259773" y="1770627"/>
            <a:ext cx="6374943" cy="3760377"/>
          </a:xfrm>
        </p:spPr>
        <p:txBody>
          <a:bodyPr>
            <a:noAutofit/>
          </a:bodyPr>
          <a:lstStyle/>
          <a:p>
            <a:pPr marL="0" indent="0" algn="ctr">
              <a:lnSpc>
                <a:spcPct val="100000"/>
              </a:lnSpc>
              <a:buNone/>
            </a:pPr>
            <a:r>
              <a:rPr lang="en-US" sz="1800" b="1" dirty="0">
                <a:effectLst/>
                <a:latin typeface="Times New Roman" panose="02020603050405020304" pitchFamily="18" charset="0"/>
                <a:ea typeface="Calibri" panose="020F0502020204030204" pitchFamily="34" charset="0"/>
              </a:rPr>
              <a:t>Feature Selection</a:t>
            </a:r>
          </a:p>
          <a:p>
            <a:pPr>
              <a:lnSpc>
                <a:spcPct val="100000"/>
              </a:lnSpc>
            </a:pPr>
            <a:r>
              <a:rPr lang="en-US" sz="1800" dirty="0">
                <a:effectLst/>
                <a:latin typeface="Times New Roman" panose="02020603050405020304" pitchFamily="18" charset="0"/>
                <a:ea typeface="SimSun" panose="02010600030101010101" pitchFamily="2" charset="-122"/>
              </a:rPr>
              <a:t>The study analyzed feature importance using mutual information. </a:t>
            </a:r>
          </a:p>
          <a:p>
            <a:pPr>
              <a:lnSpc>
                <a:spcPct val="100000"/>
              </a:lnSpc>
            </a:pPr>
            <a:r>
              <a:rPr lang="en-US" sz="1800" dirty="0">
                <a:effectLst/>
                <a:latin typeface="Times New Roman" panose="02020603050405020304" pitchFamily="18" charset="0"/>
                <a:ea typeface="SimSun" panose="02010600030101010101" pitchFamily="2" charset="-122"/>
              </a:rPr>
              <a:t>The study computed the information gain with mutual information and used the results to sort the features in descending order. </a:t>
            </a:r>
          </a:p>
          <a:p>
            <a:pPr>
              <a:lnSpc>
                <a:spcPct val="100000"/>
              </a:lnSpc>
            </a:pPr>
            <a:r>
              <a:rPr lang="en-US" sz="1800" dirty="0">
                <a:effectLst/>
                <a:latin typeface="Times New Roman" panose="02020603050405020304" pitchFamily="18" charset="0"/>
                <a:ea typeface="SimSun" panose="02010600030101010101" pitchFamily="2" charset="-122"/>
              </a:rPr>
              <a:t>From the analysis, the top 10 features in terms of importance included %, -, has IP address, ?, digits, URL length, letters, =, ., and abnormal URL, with estimated mutual information scores of 0.025, 0.004, 0.006, 0.008, 0.008, 0.11, 0.12, 0.125, 0.14, and 0.35, respectively.</a:t>
            </a:r>
            <a:endParaRPr lang="en-US" sz="1800" b="1" dirty="0">
              <a:effectLst/>
              <a:latin typeface="Times New Roman" panose="02020603050405020304" pitchFamily="18" charset="0"/>
              <a:ea typeface="Calibri" panose="020F0502020204030204" pitchFamily="34" charset="0"/>
            </a:endParaRPr>
          </a:p>
        </p:txBody>
      </p:sp>
      <p:pic>
        <p:nvPicPr>
          <p:cNvPr id="5" name="Picture 4">
            <a:extLst>
              <a:ext uri="{FF2B5EF4-FFF2-40B4-BE49-F238E27FC236}">
                <a16:creationId xmlns:a16="http://schemas.microsoft.com/office/drawing/2014/main" id="{44BF212C-7E8F-D33A-12CA-34BDF4A1BC4C}"/>
              </a:ext>
            </a:extLst>
          </p:cNvPr>
          <p:cNvPicPr>
            <a:picLocks noChangeAspect="1"/>
          </p:cNvPicPr>
          <p:nvPr/>
        </p:nvPicPr>
        <p:blipFill>
          <a:blip r:embed="rId3"/>
          <a:stretch>
            <a:fillRect/>
          </a:stretch>
        </p:blipFill>
        <p:spPr>
          <a:xfrm>
            <a:off x="6629905" y="2034368"/>
            <a:ext cx="5233522" cy="3218115"/>
          </a:xfrm>
          <a:prstGeom prst="rect">
            <a:avLst/>
          </a:prstGeom>
        </p:spPr>
      </p:pic>
    </p:spTree>
    <p:extLst>
      <p:ext uri="{BB962C8B-B14F-4D97-AF65-F5344CB8AC3E}">
        <p14:creationId xmlns:p14="http://schemas.microsoft.com/office/powerpoint/2010/main" val="1800289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4120-80EA-9C15-438B-2F49E2592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2E69C-8555-FF29-3995-5C677F0C5DDF}"/>
              </a:ext>
            </a:extLst>
          </p:cNvPr>
          <p:cNvSpPr>
            <a:spLocks noGrp="1"/>
          </p:cNvSpPr>
          <p:nvPr>
            <p:ph type="title"/>
          </p:nvPr>
        </p:nvSpPr>
        <p:spPr>
          <a:xfrm>
            <a:off x="1461970" y="461620"/>
            <a:ext cx="9603275" cy="691772"/>
          </a:xfrm>
        </p:spPr>
        <p:txBody>
          <a:bodyPr>
            <a:noAutofit/>
          </a:bodyPr>
          <a:lstStyle/>
          <a:p>
            <a:pPr algn="ctr"/>
            <a:r>
              <a:rPr lang="en-US" b="1" dirty="0">
                <a:effectLst/>
                <a:latin typeface="Times New Roman" panose="02020603050405020304" pitchFamily="18" charset="0"/>
                <a:ea typeface="Calibri" panose="020F0502020204030204" pitchFamily="34" charset="0"/>
              </a:rPr>
              <a:t>Results and Discussions</a:t>
            </a:r>
            <a:endParaRPr lang="en-US" b="1" dirty="0">
              <a:latin typeface="Gill Sans MT (Body)"/>
            </a:endParaRPr>
          </a:p>
        </p:txBody>
      </p:sp>
      <p:sp>
        <p:nvSpPr>
          <p:cNvPr id="3" name="Content Placeholder 2">
            <a:extLst>
              <a:ext uri="{FF2B5EF4-FFF2-40B4-BE49-F238E27FC236}">
                <a16:creationId xmlns:a16="http://schemas.microsoft.com/office/drawing/2014/main" id="{4D0421FC-3DF5-99C1-D238-EC4B9E8BB4EC}"/>
              </a:ext>
            </a:extLst>
          </p:cNvPr>
          <p:cNvSpPr>
            <a:spLocks noGrp="1"/>
          </p:cNvSpPr>
          <p:nvPr>
            <p:ph idx="1"/>
          </p:nvPr>
        </p:nvSpPr>
        <p:spPr>
          <a:xfrm>
            <a:off x="259774" y="1903228"/>
            <a:ext cx="5605768" cy="3627776"/>
          </a:xfrm>
        </p:spPr>
        <p:txBody>
          <a:bodyPr>
            <a:noAutofit/>
          </a:bodyPr>
          <a:lstStyle/>
          <a:p>
            <a:pPr marL="0" indent="0" algn="ctr">
              <a:lnSpc>
                <a:spcPct val="100000"/>
              </a:lnSpc>
              <a:buNone/>
            </a:pPr>
            <a:r>
              <a:rPr lang="en-US" sz="1800" b="1" dirty="0">
                <a:effectLst/>
                <a:latin typeface="Times New Roman" panose="02020603050405020304" pitchFamily="18" charset="0"/>
                <a:ea typeface="Calibri" panose="020F0502020204030204" pitchFamily="34" charset="0"/>
              </a:rPr>
              <a:t>Prediction Model 1: </a:t>
            </a:r>
            <a:r>
              <a:rPr lang="en-US" sz="1800" b="1" dirty="0" err="1">
                <a:effectLst/>
                <a:latin typeface="Times New Roman" panose="02020603050405020304" pitchFamily="18" charset="0"/>
                <a:ea typeface="Calibri" panose="020F0502020204030204" pitchFamily="34" charset="0"/>
              </a:rPr>
              <a:t>XGBoost</a:t>
            </a:r>
            <a:endParaRPr lang="en-US" sz="1800" b="1" dirty="0">
              <a:effectLst/>
              <a:latin typeface="Times New Roman" panose="02020603050405020304" pitchFamily="18" charset="0"/>
              <a:ea typeface="Calibri" panose="020F0502020204030204" pitchFamily="34" charset="0"/>
            </a:endParaRPr>
          </a:p>
          <a:p>
            <a:pPr marL="0" indent="0" algn="ctr">
              <a:lnSpc>
                <a:spcPct val="100000"/>
              </a:lnSpc>
              <a:buNone/>
            </a:pPr>
            <a:endParaRPr lang="en-US" sz="1800" b="1" dirty="0">
              <a:effectLst/>
              <a:latin typeface="Times New Roman" panose="02020603050405020304" pitchFamily="18" charset="0"/>
              <a:ea typeface="Calibri" panose="020F0502020204030204" pitchFamily="34" charset="0"/>
            </a:endParaRPr>
          </a:p>
        </p:txBody>
      </p:sp>
      <p:graphicFrame>
        <p:nvGraphicFramePr>
          <p:cNvPr id="4" name="Table 3">
            <a:extLst>
              <a:ext uri="{FF2B5EF4-FFF2-40B4-BE49-F238E27FC236}">
                <a16:creationId xmlns:a16="http://schemas.microsoft.com/office/drawing/2014/main" id="{1D51CD0C-96D0-EB1C-2029-A243CD007A95}"/>
              </a:ext>
            </a:extLst>
          </p:cNvPr>
          <p:cNvGraphicFramePr>
            <a:graphicFrameLocks noGrp="1"/>
          </p:cNvGraphicFramePr>
          <p:nvPr>
            <p:extLst>
              <p:ext uri="{D42A27DB-BD31-4B8C-83A1-F6EECF244321}">
                <p14:modId xmlns:p14="http://schemas.microsoft.com/office/powerpoint/2010/main" val="1944192178"/>
              </p:ext>
            </p:extLst>
          </p:nvPr>
        </p:nvGraphicFramePr>
        <p:xfrm>
          <a:off x="922337" y="2419350"/>
          <a:ext cx="4621214" cy="2362200"/>
        </p:xfrm>
        <a:graphic>
          <a:graphicData uri="http://schemas.openxmlformats.org/drawingml/2006/table">
            <a:tbl>
              <a:tblPr firstRow="1" firstCol="1" bandRow="1">
                <a:tableStyleId>{5C22544A-7EE6-4342-B048-85BDC9FD1C3A}</a:tableStyleId>
              </a:tblPr>
              <a:tblGrid>
                <a:gridCol w="2310607">
                  <a:extLst>
                    <a:ext uri="{9D8B030D-6E8A-4147-A177-3AD203B41FA5}">
                      <a16:colId xmlns:a16="http://schemas.microsoft.com/office/drawing/2014/main" val="1113550772"/>
                    </a:ext>
                  </a:extLst>
                </a:gridCol>
                <a:gridCol w="2310607">
                  <a:extLst>
                    <a:ext uri="{9D8B030D-6E8A-4147-A177-3AD203B41FA5}">
                      <a16:colId xmlns:a16="http://schemas.microsoft.com/office/drawing/2014/main" val="388087658"/>
                    </a:ext>
                  </a:extLst>
                </a:gridCol>
              </a:tblGrid>
              <a:tr h="472440">
                <a:tc>
                  <a:txBody>
                    <a:bodyPr/>
                    <a:lstStyle/>
                    <a:p>
                      <a:pPr marL="0" marR="0" algn="just">
                        <a:lnSpc>
                          <a:spcPct val="115000"/>
                        </a:lnSpc>
                        <a:spcBef>
                          <a:spcPts val="0"/>
                        </a:spcBef>
                        <a:spcAft>
                          <a:spcPts val="0"/>
                        </a:spcAft>
                      </a:pPr>
                      <a:r>
                        <a:rPr lang="en-US" sz="1800">
                          <a:effectLst/>
                        </a:rPr>
                        <a:t>Accuracy</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800">
                          <a:effectLst/>
                        </a:rPr>
                        <a:t>0.8975</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35816997"/>
                  </a:ext>
                </a:extLst>
              </a:tr>
              <a:tr h="472440">
                <a:tc>
                  <a:txBody>
                    <a:bodyPr/>
                    <a:lstStyle/>
                    <a:p>
                      <a:pPr marL="0" marR="0" algn="just">
                        <a:lnSpc>
                          <a:spcPct val="115000"/>
                        </a:lnSpc>
                        <a:spcBef>
                          <a:spcPts val="0"/>
                        </a:spcBef>
                        <a:spcAft>
                          <a:spcPts val="0"/>
                        </a:spcAft>
                      </a:pPr>
                      <a:r>
                        <a:rPr lang="en-US" sz="1800">
                          <a:effectLst/>
                        </a:rPr>
                        <a:t>Precision</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800">
                          <a:effectLst/>
                        </a:rPr>
                        <a:t>0.8913</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84665017"/>
                  </a:ext>
                </a:extLst>
              </a:tr>
              <a:tr h="472440">
                <a:tc>
                  <a:txBody>
                    <a:bodyPr/>
                    <a:lstStyle/>
                    <a:p>
                      <a:pPr marL="0" marR="0" algn="just">
                        <a:lnSpc>
                          <a:spcPct val="115000"/>
                        </a:lnSpc>
                        <a:spcBef>
                          <a:spcPts val="0"/>
                        </a:spcBef>
                        <a:spcAft>
                          <a:spcPts val="0"/>
                        </a:spcAft>
                      </a:pPr>
                      <a:r>
                        <a:rPr lang="en-US" sz="1800">
                          <a:effectLst/>
                        </a:rPr>
                        <a:t>Recall</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800">
                          <a:effectLst/>
                        </a:rPr>
                        <a:t>0.8975</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06602512"/>
                  </a:ext>
                </a:extLst>
              </a:tr>
              <a:tr h="472440">
                <a:tc>
                  <a:txBody>
                    <a:bodyPr/>
                    <a:lstStyle/>
                    <a:p>
                      <a:pPr marL="0" marR="0" algn="just">
                        <a:lnSpc>
                          <a:spcPct val="115000"/>
                        </a:lnSpc>
                        <a:spcBef>
                          <a:spcPts val="0"/>
                        </a:spcBef>
                        <a:spcAft>
                          <a:spcPts val="0"/>
                        </a:spcAft>
                      </a:pPr>
                      <a:r>
                        <a:rPr lang="en-US" sz="1800">
                          <a:effectLst/>
                        </a:rPr>
                        <a:t>F1 Score</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800">
                          <a:effectLst/>
                        </a:rPr>
                        <a:t>0.8911</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99784015"/>
                  </a:ext>
                </a:extLst>
              </a:tr>
              <a:tr h="472440">
                <a:tc>
                  <a:txBody>
                    <a:bodyPr/>
                    <a:lstStyle/>
                    <a:p>
                      <a:pPr marL="0" marR="0" algn="just">
                        <a:lnSpc>
                          <a:spcPct val="115000"/>
                        </a:lnSpc>
                        <a:spcBef>
                          <a:spcPts val="0"/>
                        </a:spcBef>
                        <a:spcAft>
                          <a:spcPts val="0"/>
                        </a:spcAft>
                      </a:pPr>
                      <a:r>
                        <a:rPr lang="en-US" sz="1800">
                          <a:effectLst/>
                        </a:rPr>
                        <a:t>ROC-AUC score</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800" dirty="0">
                          <a:effectLst/>
                        </a:rPr>
                        <a:t>0.9711</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14176137"/>
                  </a:ext>
                </a:extLst>
              </a:tr>
            </a:tbl>
          </a:graphicData>
        </a:graphic>
      </p:graphicFrame>
      <p:sp>
        <p:nvSpPr>
          <p:cNvPr id="6" name="Content Placeholder 2">
            <a:extLst>
              <a:ext uri="{FF2B5EF4-FFF2-40B4-BE49-F238E27FC236}">
                <a16:creationId xmlns:a16="http://schemas.microsoft.com/office/drawing/2014/main" id="{0F494616-F2CC-8837-724C-87335C66C2DD}"/>
              </a:ext>
            </a:extLst>
          </p:cNvPr>
          <p:cNvSpPr txBox="1">
            <a:spLocks/>
          </p:cNvSpPr>
          <p:nvPr/>
        </p:nvSpPr>
        <p:spPr>
          <a:xfrm>
            <a:off x="5231824" y="1903228"/>
            <a:ext cx="5605768" cy="3627776"/>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gn="ctr">
              <a:lnSpc>
                <a:spcPct val="100000"/>
              </a:lnSpc>
              <a:buFont typeface="Arial" panose="020B0604020202020204" pitchFamily="34" charset="0"/>
              <a:buNone/>
            </a:pPr>
            <a:r>
              <a:rPr lang="en-US" sz="1800" b="1" dirty="0">
                <a:latin typeface="Times New Roman" panose="02020603050405020304" pitchFamily="18" charset="0"/>
                <a:ea typeface="Calibri" panose="020F0502020204030204" pitchFamily="34" charset="0"/>
              </a:rPr>
              <a:t>Prediction Model 1: Random Forest</a:t>
            </a:r>
          </a:p>
          <a:p>
            <a:pPr marL="0" indent="0" algn="ctr">
              <a:lnSpc>
                <a:spcPct val="100000"/>
              </a:lnSpc>
              <a:buFont typeface="Arial" panose="020B0604020202020204" pitchFamily="34" charset="0"/>
              <a:buNone/>
            </a:pPr>
            <a:endParaRPr lang="en-US" sz="1800" b="1" dirty="0">
              <a:latin typeface="Times New Roman" panose="02020603050405020304" pitchFamily="18" charset="0"/>
              <a:ea typeface="Calibri" panose="020F0502020204030204" pitchFamily="34" charset="0"/>
            </a:endParaRPr>
          </a:p>
        </p:txBody>
      </p:sp>
      <p:graphicFrame>
        <p:nvGraphicFramePr>
          <p:cNvPr id="7" name="Table 6">
            <a:extLst>
              <a:ext uri="{FF2B5EF4-FFF2-40B4-BE49-F238E27FC236}">
                <a16:creationId xmlns:a16="http://schemas.microsoft.com/office/drawing/2014/main" id="{5A7D574F-7C6A-DAD7-57D1-5DCD9F5B4409}"/>
              </a:ext>
            </a:extLst>
          </p:cNvPr>
          <p:cNvGraphicFramePr>
            <a:graphicFrameLocks noGrp="1"/>
          </p:cNvGraphicFramePr>
          <p:nvPr>
            <p:extLst>
              <p:ext uri="{D42A27DB-BD31-4B8C-83A1-F6EECF244321}">
                <p14:modId xmlns:p14="http://schemas.microsoft.com/office/powerpoint/2010/main" val="2648344754"/>
              </p:ext>
            </p:extLst>
          </p:nvPr>
        </p:nvGraphicFramePr>
        <p:xfrm>
          <a:off x="6263607" y="2426897"/>
          <a:ext cx="4738788" cy="2354655"/>
        </p:xfrm>
        <a:graphic>
          <a:graphicData uri="http://schemas.openxmlformats.org/drawingml/2006/table">
            <a:tbl>
              <a:tblPr firstRow="1" firstCol="1" bandRow="1">
                <a:tableStyleId>{5C22544A-7EE6-4342-B048-85BDC9FD1C3A}</a:tableStyleId>
              </a:tblPr>
              <a:tblGrid>
                <a:gridCol w="2369394">
                  <a:extLst>
                    <a:ext uri="{9D8B030D-6E8A-4147-A177-3AD203B41FA5}">
                      <a16:colId xmlns:a16="http://schemas.microsoft.com/office/drawing/2014/main" val="1679045835"/>
                    </a:ext>
                  </a:extLst>
                </a:gridCol>
                <a:gridCol w="2369394">
                  <a:extLst>
                    <a:ext uri="{9D8B030D-6E8A-4147-A177-3AD203B41FA5}">
                      <a16:colId xmlns:a16="http://schemas.microsoft.com/office/drawing/2014/main" val="1657146701"/>
                    </a:ext>
                  </a:extLst>
                </a:gridCol>
              </a:tblGrid>
              <a:tr h="470931">
                <a:tc>
                  <a:txBody>
                    <a:bodyPr/>
                    <a:lstStyle/>
                    <a:p>
                      <a:pPr marL="0" marR="0" algn="just">
                        <a:lnSpc>
                          <a:spcPct val="115000"/>
                        </a:lnSpc>
                        <a:spcBef>
                          <a:spcPts val="0"/>
                        </a:spcBef>
                        <a:spcAft>
                          <a:spcPts val="0"/>
                        </a:spcAft>
                      </a:pPr>
                      <a:r>
                        <a:rPr lang="en-US" sz="1800">
                          <a:effectLst/>
                        </a:rPr>
                        <a:t>Accuracy</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800">
                          <a:effectLst/>
                        </a:rPr>
                        <a:t>0.9189</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12381204"/>
                  </a:ext>
                </a:extLst>
              </a:tr>
              <a:tr h="470931">
                <a:tc>
                  <a:txBody>
                    <a:bodyPr/>
                    <a:lstStyle/>
                    <a:p>
                      <a:pPr marL="0" marR="0" algn="just">
                        <a:lnSpc>
                          <a:spcPct val="115000"/>
                        </a:lnSpc>
                        <a:spcBef>
                          <a:spcPts val="0"/>
                        </a:spcBef>
                        <a:spcAft>
                          <a:spcPts val="0"/>
                        </a:spcAft>
                      </a:pPr>
                      <a:r>
                        <a:rPr lang="en-US" sz="1800">
                          <a:effectLst/>
                        </a:rPr>
                        <a:t>Precision</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800">
                          <a:effectLst/>
                        </a:rPr>
                        <a:t>0.9156</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21982501"/>
                  </a:ext>
                </a:extLst>
              </a:tr>
              <a:tr h="470931">
                <a:tc>
                  <a:txBody>
                    <a:bodyPr/>
                    <a:lstStyle/>
                    <a:p>
                      <a:pPr marL="0" marR="0" algn="just">
                        <a:lnSpc>
                          <a:spcPct val="115000"/>
                        </a:lnSpc>
                        <a:spcBef>
                          <a:spcPts val="0"/>
                        </a:spcBef>
                        <a:spcAft>
                          <a:spcPts val="0"/>
                        </a:spcAft>
                      </a:pPr>
                      <a:r>
                        <a:rPr lang="en-US" sz="1800">
                          <a:effectLst/>
                        </a:rPr>
                        <a:t>Recall</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800">
                          <a:effectLst/>
                        </a:rPr>
                        <a:t>0.9189</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44344812"/>
                  </a:ext>
                </a:extLst>
              </a:tr>
              <a:tr h="470931">
                <a:tc>
                  <a:txBody>
                    <a:bodyPr/>
                    <a:lstStyle/>
                    <a:p>
                      <a:pPr marL="0" marR="0" algn="just">
                        <a:lnSpc>
                          <a:spcPct val="115000"/>
                        </a:lnSpc>
                        <a:spcBef>
                          <a:spcPts val="0"/>
                        </a:spcBef>
                        <a:spcAft>
                          <a:spcPts val="0"/>
                        </a:spcAft>
                      </a:pPr>
                      <a:r>
                        <a:rPr lang="en-US" sz="1800">
                          <a:effectLst/>
                        </a:rPr>
                        <a:t>F1 Score</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800">
                          <a:effectLst/>
                        </a:rPr>
                        <a:t>0.9163</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61287272"/>
                  </a:ext>
                </a:extLst>
              </a:tr>
              <a:tr h="470931">
                <a:tc>
                  <a:txBody>
                    <a:bodyPr/>
                    <a:lstStyle/>
                    <a:p>
                      <a:pPr marL="0" marR="0" algn="just">
                        <a:lnSpc>
                          <a:spcPct val="115000"/>
                        </a:lnSpc>
                        <a:spcBef>
                          <a:spcPts val="0"/>
                        </a:spcBef>
                        <a:spcAft>
                          <a:spcPts val="0"/>
                        </a:spcAft>
                      </a:pPr>
                      <a:r>
                        <a:rPr lang="en-US" sz="1800">
                          <a:effectLst/>
                        </a:rPr>
                        <a:t>ROC-AUC score</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800" dirty="0">
                          <a:effectLst/>
                        </a:rPr>
                        <a:t>0.9759</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83542874"/>
                  </a:ext>
                </a:extLst>
              </a:tr>
            </a:tbl>
          </a:graphicData>
        </a:graphic>
      </p:graphicFrame>
    </p:spTree>
    <p:extLst>
      <p:ext uri="{BB962C8B-B14F-4D97-AF65-F5344CB8AC3E}">
        <p14:creationId xmlns:p14="http://schemas.microsoft.com/office/powerpoint/2010/main" val="1094234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58FBF-95AA-5BE0-617F-53E4BF4B6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6E33F-633C-CC84-4FF3-845F58714D63}"/>
              </a:ext>
            </a:extLst>
          </p:cNvPr>
          <p:cNvSpPr>
            <a:spLocks noGrp="1"/>
          </p:cNvSpPr>
          <p:nvPr>
            <p:ph type="title"/>
          </p:nvPr>
        </p:nvSpPr>
        <p:spPr>
          <a:xfrm>
            <a:off x="1461970" y="461620"/>
            <a:ext cx="9603275" cy="691772"/>
          </a:xfrm>
        </p:spPr>
        <p:txBody>
          <a:bodyPr>
            <a:noAutofit/>
          </a:bodyPr>
          <a:lstStyle/>
          <a:p>
            <a:pPr algn="ctr"/>
            <a:r>
              <a:rPr lang="en-US" b="1" dirty="0">
                <a:effectLst/>
                <a:latin typeface="Times New Roman" panose="02020603050405020304" pitchFamily="18" charset="0"/>
                <a:ea typeface="Calibri" panose="020F0502020204030204" pitchFamily="34" charset="0"/>
              </a:rPr>
              <a:t>Results and Discussions</a:t>
            </a:r>
            <a:endParaRPr lang="en-US" b="1" dirty="0">
              <a:latin typeface="Gill Sans MT (Body)"/>
            </a:endParaRPr>
          </a:p>
        </p:txBody>
      </p:sp>
      <p:sp>
        <p:nvSpPr>
          <p:cNvPr id="3" name="Content Placeholder 2">
            <a:extLst>
              <a:ext uri="{FF2B5EF4-FFF2-40B4-BE49-F238E27FC236}">
                <a16:creationId xmlns:a16="http://schemas.microsoft.com/office/drawing/2014/main" id="{77B14D8B-A1E1-4B9A-CA28-2A1F7348A7B9}"/>
              </a:ext>
            </a:extLst>
          </p:cNvPr>
          <p:cNvSpPr>
            <a:spLocks noGrp="1"/>
          </p:cNvSpPr>
          <p:nvPr>
            <p:ph idx="1"/>
          </p:nvPr>
        </p:nvSpPr>
        <p:spPr>
          <a:xfrm>
            <a:off x="2179674" y="1770627"/>
            <a:ext cx="7825563" cy="3760377"/>
          </a:xfrm>
        </p:spPr>
        <p:txBody>
          <a:bodyPr>
            <a:noAutofit/>
          </a:bodyPr>
          <a:lstStyle/>
          <a:p>
            <a:pPr marL="0" indent="0" algn="ctr">
              <a:lnSpc>
                <a:spcPct val="100000"/>
              </a:lnSpc>
              <a:buNone/>
            </a:pPr>
            <a:r>
              <a:rPr lang="en-US" sz="1800" b="1" dirty="0">
                <a:effectLst/>
                <a:latin typeface="Times New Roman" panose="02020603050405020304" pitchFamily="18" charset="0"/>
                <a:ea typeface="Calibri" panose="020F0502020204030204" pitchFamily="34" charset="0"/>
              </a:rPr>
              <a:t>Comparing the two models</a:t>
            </a:r>
          </a:p>
          <a:p>
            <a:pPr marL="0" indent="0" algn="ctr">
              <a:lnSpc>
                <a:spcPct val="100000"/>
              </a:lnSpc>
              <a:buNone/>
            </a:pPr>
            <a:endParaRPr lang="en-US" sz="1800" b="1" dirty="0">
              <a:effectLst/>
              <a:latin typeface="Times New Roman" panose="02020603050405020304" pitchFamily="18" charset="0"/>
              <a:ea typeface="Calibri" panose="020F0502020204030204" pitchFamily="34" charset="0"/>
            </a:endParaRPr>
          </a:p>
          <a:p>
            <a:pPr algn="just" hangingPunct="0">
              <a:lnSpc>
                <a:spcPct val="100000"/>
              </a:lnSpc>
              <a:spcBef>
                <a:spcPts val="0"/>
              </a:spcBef>
              <a:spcAft>
                <a:spcPts val="600"/>
              </a:spcAft>
            </a:pPr>
            <a:r>
              <a:rPr lang="en-US" sz="1800" dirty="0">
                <a:effectLst/>
                <a:latin typeface="Times New Roman" panose="02020603050405020304" pitchFamily="18" charset="0"/>
                <a:ea typeface="SimSun" panose="02010600030101010101" pitchFamily="2" charset="-122"/>
              </a:rPr>
              <a:t>The two models were compared using the evaluation metrics. </a:t>
            </a:r>
          </a:p>
          <a:p>
            <a:pPr algn="just" hangingPunct="0">
              <a:lnSpc>
                <a:spcPct val="100000"/>
              </a:lnSpc>
              <a:spcBef>
                <a:spcPts val="0"/>
              </a:spcBef>
              <a:spcAft>
                <a:spcPts val="600"/>
              </a:spcAft>
            </a:pPr>
            <a:r>
              <a:rPr lang="en-US" sz="1800" dirty="0">
                <a:effectLst/>
                <a:latin typeface="Times New Roman" panose="02020603050405020304" pitchFamily="18" charset="0"/>
                <a:ea typeface="SimSun" panose="02010600030101010101" pitchFamily="2" charset="-122"/>
              </a:rPr>
              <a:t>The analysis showed that Random Forest model produced better scores for all the evaluation metrics. </a:t>
            </a:r>
          </a:p>
          <a:p>
            <a:pPr algn="just" hangingPunct="0">
              <a:lnSpc>
                <a:spcPct val="100000"/>
              </a:lnSpc>
              <a:spcBef>
                <a:spcPts val="0"/>
              </a:spcBef>
              <a:spcAft>
                <a:spcPts val="600"/>
              </a:spcAft>
            </a:pPr>
            <a:r>
              <a:rPr lang="en-US" sz="1800" dirty="0">
                <a:effectLst/>
                <a:latin typeface="Times New Roman" panose="02020603050405020304" pitchFamily="18" charset="0"/>
                <a:ea typeface="SimSun" panose="02010600030101010101" pitchFamily="2" charset="-122"/>
              </a:rPr>
              <a:t>Therefore, the study concluded that Random Forest model was the most optimal model for predicting a given </a:t>
            </a:r>
            <a:r>
              <a:rPr lang="en-US" sz="1800" dirty="0" err="1">
                <a:effectLst/>
                <a:latin typeface="Times New Roman" panose="02020603050405020304" pitchFamily="18" charset="0"/>
                <a:ea typeface="SimSun" panose="02010600030101010101" pitchFamily="2" charset="-122"/>
              </a:rPr>
              <a:t>url</a:t>
            </a:r>
            <a:r>
              <a:rPr lang="en-US" sz="1800" dirty="0">
                <a:effectLst/>
                <a:latin typeface="Times New Roman" panose="02020603050405020304" pitchFamily="18" charset="0"/>
                <a:ea typeface="SimSun" panose="02010600030101010101" pitchFamily="2" charset="-122"/>
              </a:rPr>
              <a:t> as either benign, or not benign.</a:t>
            </a:r>
            <a:endParaRPr lang="en-US" sz="1800" dirty="0">
              <a:effectLst/>
              <a:latin typeface="Arial" panose="020B060402020202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58959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1970" y="461620"/>
            <a:ext cx="9603275" cy="691772"/>
          </a:xfrm>
        </p:spPr>
        <p:txBody>
          <a:bodyPr/>
          <a:lstStyle/>
          <a:p>
            <a:pPr algn="ctr"/>
            <a:r>
              <a:rPr lang="en-US" dirty="0"/>
              <a:t>Conclusions</a:t>
            </a:r>
          </a:p>
        </p:txBody>
      </p:sp>
      <p:sp>
        <p:nvSpPr>
          <p:cNvPr id="5" name="Content Placeholder 4">
            <a:extLst>
              <a:ext uri="{FF2B5EF4-FFF2-40B4-BE49-F238E27FC236}">
                <a16:creationId xmlns:a16="http://schemas.microsoft.com/office/drawing/2014/main" id="{A0F2F257-6CD7-5BA0-62D0-4EA812A20BFC}"/>
              </a:ext>
            </a:extLst>
          </p:cNvPr>
          <p:cNvSpPr>
            <a:spLocks noGrp="1"/>
          </p:cNvSpPr>
          <p:nvPr>
            <p:ph idx="1"/>
          </p:nvPr>
        </p:nvSpPr>
        <p:spPr>
          <a:xfrm>
            <a:off x="1137684" y="1806498"/>
            <a:ext cx="10239153" cy="4105204"/>
          </a:xfrm>
        </p:spPr>
        <p:txBody>
          <a:bodyPr>
            <a:normAutofit/>
          </a:bodyPr>
          <a:lstStyle/>
          <a:p>
            <a:pPr algn="just">
              <a:lnSpc>
                <a:spcPct val="200000"/>
              </a:lnSpc>
              <a:spcBef>
                <a:spcPts val="0"/>
              </a:spcBef>
              <a:spcAft>
                <a:spcPts val="800"/>
              </a:spcAft>
            </a:pPr>
            <a:r>
              <a:rPr lang="en-US" sz="1800" dirty="0">
                <a:effectLst/>
                <a:latin typeface="Times New Roman" panose="02020603050405020304" pitchFamily="18" charset="0"/>
                <a:ea typeface="SimSun" panose="02010600030101010101" pitchFamily="2" charset="-122"/>
              </a:rPr>
              <a:t>The study concluded that Random Forest model produced better scores for all the evaluation metrics. </a:t>
            </a:r>
          </a:p>
          <a:p>
            <a:pPr algn="just">
              <a:lnSpc>
                <a:spcPct val="200000"/>
              </a:lnSpc>
              <a:spcBef>
                <a:spcPts val="0"/>
              </a:spcBef>
              <a:spcAft>
                <a:spcPts val="800"/>
              </a:spcAft>
            </a:pPr>
            <a:r>
              <a:rPr lang="en-US" sz="1800" dirty="0">
                <a:effectLst/>
                <a:latin typeface="Times New Roman" panose="02020603050405020304" pitchFamily="18" charset="0"/>
                <a:ea typeface="SimSun" panose="02010600030101010101" pitchFamily="2" charset="-122"/>
              </a:rPr>
              <a:t>Therefore, the study concluded that Random Forest model was the most optimal model for predicting a given </a:t>
            </a:r>
            <a:r>
              <a:rPr lang="en-US" sz="1800" dirty="0" err="1">
                <a:effectLst/>
                <a:latin typeface="Times New Roman" panose="02020603050405020304" pitchFamily="18" charset="0"/>
                <a:ea typeface="SimSun" panose="02010600030101010101" pitchFamily="2" charset="-122"/>
              </a:rPr>
              <a:t>url</a:t>
            </a:r>
            <a:r>
              <a:rPr lang="en-US" sz="1800" dirty="0">
                <a:effectLst/>
                <a:latin typeface="Times New Roman" panose="02020603050405020304" pitchFamily="18" charset="0"/>
                <a:ea typeface="SimSun" panose="02010600030101010101" pitchFamily="2" charset="-122"/>
              </a:rPr>
              <a:t> as either benign, or not benign. </a:t>
            </a:r>
          </a:p>
          <a:p>
            <a:pPr algn="just">
              <a:lnSpc>
                <a:spcPct val="200000"/>
              </a:lnSpc>
              <a:spcBef>
                <a:spcPts val="0"/>
              </a:spcBef>
              <a:spcAft>
                <a:spcPts val="800"/>
              </a:spcAft>
            </a:pPr>
            <a:r>
              <a:rPr lang="en-US" sz="1800" dirty="0">
                <a:effectLst/>
                <a:latin typeface="Times New Roman" panose="02020603050405020304" pitchFamily="18" charset="0"/>
                <a:ea typeface="SimSun" panose="02010600030101010101" pitchFamily="2" charset="-122"/>
              </a:rPr>
              <a:t>According to the analysis, the prediction would achieve accuracy, precision, recall F1, and ROC-AUC scores equal to 0.9189, 0.9156, 0.9189, 0.9163, and 0.9759, respectively.</a:t>
            </a:r>
            <a:endParaRPr lang="en-US" dirty="0"/>
          </a:p>
        </p:txBody>
      </p:sp>
    </p:spTree>
    <p:extLst>
      <p:ext uri="{BB962C8B-B14F-4D97-AF65-F5344CB8AC3E}">
        <p14:creationId xmlns:p14="http://schemas.microsoft.com/office/powerpoint/2010/main" val="954844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References</a:t>
            </a:r>
          </a:p>
        </p:txBody>
      </p:sp>
      <p:sp>
        <p:nvSpPr>
          <p:cNvPr id="3" name="Content Placeholder 2"/>
          <p:cNvSpPr>
            <a:spLocks noGrp="1"/>
          </p:cNvSpPr>
          <p:nvPr>
            <p:ph idx="1"/>
          </p:nvPr>
        </p:nvSpPr>
        <p:spPr>
          <a:xfrm>
            <a:off x="1860699" y="2052084"/>
            <a:ext cx="8623004" cy="3735399"/>
          </a:xfrm>
        </p:spPr>
        <p:txBody>
          <a:bodyPr>
            <a:normAutofit/>
          </a:bodyPr>
          <a:lstStyle/>
          <a:p>
            <a:pPr marL="342900" marR="0" lvl="0" indent="-342900" algn="just">
              <a:lnSpc>
                <a:spcPct val="100000"/>
              </a:lnSpc>
              <a:spcBef>
                <a:spcPts val="0"/>
              </a:spcBef>
              <a:spcAft>
                <a:spcPts val="250"/>
              </a:spcAft>
              <a:buSzPts val="800"/>
              <a:buFont typeface="Times New Roman" panose="02020603050405020304" pitchFamily="18" charset="0"/>
              <a:buAutoNum type="arabicPeriod"/>
              <a:tabLst>
                <a:tab pos="228600" algn="l"/>
              </a:tabLst>
            </a:pPr>
            <a:r>
              <a:rPr lang="en-US" sz="1800" dirty="0" err="1">
                <a:solidFill>
                  <a:srgbClr val="222222"/>
                </a:solidFill>
                <a:effectLst/>
                <a:latin typeface="Times New Roman" panose="02020603050405020304" pitchFamily="18" charset="0"/>
                <a:ea typeface="MS Mincho" panose="02020609040205080304" pitchFamily="49" charset="-128"/>
              </a:rPr>
              <a:t>Bouyeddou</a:t>
            </a:r>
            <a:r>
              <a:rPr lang="en-US" sz="1800" dirty="0">
                <a:solidFill>
                  <a:srgbClr val="222222"/>
                </a:solidFill>
                <a:effectLst/>
                <a:latin typeface="Times New Roman" panose="02020603050405020304" pitchFamily="18" charset="0"/>
                <a:ea typeface="MS Mincho" panose="02020609040205080304" pitchFamily="49" charset="-128"/>
              </a:rPr>
              <a:t>, </a:t>
            </a:r>
            <a:r>
              <a:rPr lang="en-US" sz="1800" dirty="0" err="1">
                <a:solidFill>
                  <a:srgbClr val="222222"/>
                </a:solidFill>
                <a:effectLst/>
                <a:latin typeface="Times New Roman" panose="02020603050405020304" pitchFamily="18" charset="0"/>
                <a:ea typeface="MS Mincho" panose="02020609040205080304" pitchFamily="49" charset="-128"/>
              </a:rPr>
              <a:t>Benamar</a:t>
            </a:r>
            <a:r>
              <a:rPr lang="en-US" sz="1800" dirty="0">
                <a:solidFill>
                  <a:srgbClr val="222222"/>
                </a:solidFill>
                <a:effectLst/>
                <a:latin typeface="Times New Roman" panose="02020603050405020304" pitchFamily="18" charset="0"/>
                <a:ea typeface="MS Mincho" panose="02020609040205080304" pitchFamily="49" charset="-128"/>
              </a:rPr>
              <a:t>, </a:t>
            </a:r>
            <a:r>
              <a:rPr lang="en-US" sz="1800" dirty="0" err="1">
                <a:solidFill>
                  <a:srgbClr val="222222"/>
                </a:solidFill>
                <a:effectLst/>
                <a:latin typeface="Times New Roman" panose="02020603050405020304" pitchFamily="18" charset="0"/>
                <a:ea typeface="MS Mincho" panose="02020609040205080304" pitchFamily="49" charset="-128"/>
              </a:rPr>
              <a:t>Fouzi</a:t>
            </a:r>
            <a:r>
              <a:rPr lang="en-US" sz="1800" dirty="0">
                <a:solidFill>
                  <a:srgbClr val="222222"/>
                </a:solidFill>
                <a:effectLst/>
                <a:latin typeface="Times New Roman" panose="02020603050405020304" pitchFamily="18" charset="0"/>
                <a:ea typeface="MS Mincho" panose="02020609040205080304" pitchFamily="49" charset="-128"/>
              </a:rPr>
              <a:t> </a:t>
            </a:r>
            <a:r>
              <a:rPr lang="en-US" sz="1800" dirty="0" err="1">
                <a:solidFill>
                  <a:srgbClr val="222222"/>
                </a:solidFill>
                <a:effectLst/>
                <a:latin typeface="Times New Roman" panose="02020603050405020304" pitchFamily="18" charset="0"/>
                <a:ea typeface="MS Mincho" panose="02020609040205080304" pitchFamily="49" charset="-128"/>
              </a:rPr>
              <a:t>Harrou</a:t>
            </a:r>
            <a:r>
              <a:rPr lang="en-US" sz="1800" dirty="0">
                <a:solidFill>
                  <a:srgbClr val="222222"/>
                </a:solidFill>
                <a:effectLst/>
                <a:latin typeface="Times New Roman" panose="02020603050405020304" pitchFamily="18" charset="0"/>
                <a:ea typeface="MS Mincho" panose="02020609040205080304" pitchFamily="49" charset="-128"/>
              </a:rPr>
              <a:t>, </a:t>
            </a:r>
            <a:r>
              <a:rPr lang="en-US" sz="1800" dirty="0" err="1">
                <a:solidFill>
                  <a:srgbClr val="222222"/>
                </a:solidFill>
                <a:effectLst/>
                <a:latin typeface="Times New Roman" panose="02020603050405020304" pitchFamily="18" charset="0"/>
                <a:ea typeface="MS Mincho" panose="02020609040205080304" pitchFamily="49" charset="-128"/>
              </a:rPr>
              <a:t>Benamar</a:t>
            </a:r>
            <a:r>
              <a:rPr lang="en-US" sz="1800" dirty="0">
                <a:solidFill>
                  <a:srgbClr val="222222"/>
                </a:solidFill>
                <a:effectLst/>
                <a:latin typeface="Times New Roman" panose="02020603050405020304" pitchFamily="18" charset="0"/>
                <a:ea typeface="MS Mincho" panose="02020609040205080304" pitchFamily="49" charset="-128"/>
              </a:rPr>
              <a:t> Kadri, and Ying Sun. "Detecting network cyber-attacks using an integrated statistical approach." </a:t>
            </a:r>
            <a:r>
              <a:rPr lang="en-US" sz="1800" i="1" dirty="0">
                <a:effectLst/>
                <a:latin typeface="Times New Roman" panose="02020603050405020304" pitchFamily="18" charset="0"/>
                <a:ea typeface="MS Mincho" panose="02020609040205080304" pitchFamily="49" charset="-128"/>
              </a:rPr>
              <a:t>Cluster Computing</a:t>
            </a:r>
            <a:r>
              <a:rPr lang="en-US" sz="1800" dirty="0">
                <a:effectLst/>
                <a:latin typeface="Times New Roman" panose="02020603050405020304" pitchFamily="18" charset="0"/>
                <a:ea typeface="MS Mincho" panose="02020609040205080304" pitchFamily="49" charset="-128"/>
              </a:rPr>
              <a:t> 24 (2021): 1435-1453.</a:t>
            </a:r>
            <a:endParaRPr lang="en-US" sz="1800" dirty="0">
              <a:solidFill>
                <a:srgbClr val="222222"/>
              </a:solidFill>
              <a:effectLst/>
              <a:latin typeface="Times New Roman" panose="02020603050405020304" pitchFamily="18" charset="0"/>
              <a:ea typeface="MS Mincho" panose="02020609040205080304" pitchFamily="49" charset="-128"/>
            </a:endParaRPr>
          </a:p>
          <a:p>
            <a:pPr marL="342900" marR="0" lvl="0" indent="-342900" algn="just">
              <a:lnSpc>
                <a:spcPct val="100000"/>
              </a:lnSpc>
              <a:spcBef>
                <a:spcPts val="0"/>
              </a:spcBef>
              <a:spcAft>
                <a:spcPts val="250"/>
              </a:spcAft>
              <a:buSzPts val="800"/>
              <a:buFont typeface="Times New Roman" panose="02020603050405020304" pitchFamily="18" charset="0"/>
              <a:buAutoNum type="arabicPeriod"/>
              <a:tabLst>
                <a:tab pos="228600" algn="l"/>
              </a:tabLst>
            </a:pPr>
            <a:r>
              <a:rPr lang="en-US" sz="1800" dirty="0" err="1">
                <a:solidFill>
                  <a:srgbClr val="222222"/>
                </a:solidFill>
                <a:effectLst/>
                <a:latin typeface="Times New Roman" panose="02020603050405020304" pitchFamily="18" charset="0"/>
                <a:ea typeface="MS Mincho" panose="02020609040205080304" pitchFamily="49" charset="-128"/>
              </a:rPr>
              <a:t>Kotenko</a:t>
            </a:r>
            <a:r>
              <a:rPr lang="en-US" sz="1800" dirty="0">
                <a:solidFill>
                  <a:srgbClr val="222222"/>
                </a:solidFill>
                <a:effectLst/>
                <a:latin typeface="Times New Roman" panose="02020603050405020304" pitchFamily="18" charset="0"/>
                <a:ea typeface="MS Mincho" panose="02020609040205080304" pitchFamily="49" charset="-128"/>
              </a:rPr>
              <a:t>, Igor, Igor </a:t>
            </a:r>
            <a:r>
              <a:rPr lang="en-US" sz="1800" dirty="0" err="1">
                <a:solidFill>
                  <a:srgbClr val="222222"/>
                </a:solidFill>
                <a:effectLst/>
                <a:latin typeface="Times New Roman" panose="02020603050405020304" pitchFamily="18" charset="0"/>
                <a:ea typeface="MS Mincho" panose="02020609040205080304" pitchFamily="49" charset="-128"/>
              </a:rPr>
              <a:t>Saenko</a:t>
            </a:r>
            <a:r>
              <a:rPr lang="en-US" sz="1800" dirty="0">
                <a:solidFill>
                  <a:srgbClr val="222222"/>
                </a:solidFill>
                <a:effectLst/>
                <a:latin typeface="Times New Roman" panose="02020603050405020304" pitchFamily="18" charset="0"/>
                <a:ea typeface="MS Mincho" panose="02020609040205080304" pitchFamily="49" charset="-128"/>
              </a:rPr>
              <a:t>, Oleg </a:t>
            </a:r>
            <a:r>
              <a:rPr lang="en-US" sz="1800" dirty="0" err="1">
                <a:solidFill>
                  <a:srgbClr val="222222"/>
                </a:solidFill>
                <a:effectLst/>
                <a:latin typeface="Times New Roman" panose="02020603050405020304" pitchFamily="18" charset="0"/>
                <a:ea typeface="MS Mincho" panose="02020609040205080304" pitchFamily="49" charset="-128"/>
              </a:rPr>
              <a:t>Lauta</a:t>
            </a:r>
            <a:r>
              <a:rPr lang="en-US" sz="1800" dirty="0">
                <a:solidFill>
                  <a:srgbClr val="222222"/>
                </a:solidFill>
                <a:effectLst/>
                <a:latin typeface="Times New Roman" panose="02020603050405020304" pitchFamily="18" charset="0"/>
                <a:ea typeface="MS Mincho" panose="02020609040205080304" pitchFamily="49" charset="-128"/>
              </a:rPr>
              <a:t>, and Aleksander </a:t>
            </a:r>
            <a:r>
              <a:rPr lang="en-US" sz="1800" dirty="0" err="1">
                <a:solidFill>
                  <a:srgbClr val="222222"/>
                </a:solidFill>
                <a:effectLst/>
                <a:latin typeface="Times New Roman" panose="02020603050405020304" pitchFamily="18" charset="0"/>
                <a:ea typeface="MS Mincho" panose="02020609040205080304" pitchFamily="49" charset="-128"/>
              </a:rPr>
              <a:t>Kribel</a:t>
            </a:r>
            <a:r>
              <a:rPr lang="en-US" sz="1800" dirty="0">
                <a:solidFill>
                  <a:srgbClr val="222222"/>
                </a:solidFill>
                <a:effectLst/>
                <a:latin typeface="Times New Roman" panose="02020603050405020304" pitchFamily="18" charset="0"/>
                <a:ea typeface="MS Mincho" panose="02020609040205080304" pitchFamily="49" charset="-128"/>
              </a:rPr>
              <a:t>. "An approach to detecting cyber attacks against smart power grids based on the analysis of network traffic self-similarity." </a:t>
            </a:r>
            <a:r>
              <a:rPr lang="en-US" sz="1800" i="1" dirty="0">
                <a:effectLst/>
                <a:latin typeface="Times New Roman" panose="02020603050405020304" pitchFamily="18" charset="0"/>
                <a:ea typeface="MS Mincho" panose="02020609040205080304" pitchFamily="49" charset="-128"/>
              </a:rPr>
              <a:t>Energies</a:t>
            </a:r>
            <a:r>
              <a:rPr lang="en-US" sz="1800" dirty="0">
                <a:effectLst/>
                <a:latin typeface="Times New Roman" panose="02020603050405020304" pitchFamily="18" charset="0"/>
                <a:ea typeface="MS Mincho" panose="02020609040205080304" pitchFamily="49" charset="-128"/>
              </a:rPr>
              <a:t> 13, no. 19 (2020): 5031.</a:t>
            </a:r>
          </a:p>
          <a:p>
            <a:pPr marL="457200" marR="0" indent="-457200">
              <a:lnSpc>
                <a:spcPct val="200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62920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ank You Emoji Stock Illustrations – 345 Thank You Emoji Stock  Illustrations, Vectors &amp; Clipart - Dreamstim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77146" y="1909113"/>
            <a:ext cx="3119437" cy="3710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524356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1672</TotalTime>
  <Words>3934</Words>
  <Application>Microsoft Office PowerPoint</Application>
  <PresentationFormat>Widescreen</PresentationFormat>
  <Paragraphs>282</Paragraphs>
  <Slides>30</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Courier New</vt:lpstr>
      <vt:lpstr>Gill Sans MT</vt:lpstr>
      <vt:lpstr>Gill Sans MT (Body)</vt:lpstr>
      <vt:lpstr>Söhne</vt:lpstr>
      <vt:lpstr>Söhne Mono</vt:lpstr>
      <vt:lpstr>Times New Roman</vt:lpstr>
      <vt:lpstr>Gallery</vt:lpstr>
      <vt:lpstr>Detecting Cyber-Attacks through URL Analysis: A Machine Learning Approach</vt:lpstr>
      <vt:lpstr>Introduction</vt:lpstr>
      <vt:lpstr>PowerPoint Presentation</vt:lpstr>
      <vt:lpstr>Importing Libraries</vt:lpstr>
      <vt:lpstr>loading a dataset from a CSV</vt:lpstr>
      <vt:lpstr> Data Exploration</vt:lpstr>
      <vt:lpstr>Feature selection </vt:lpstr>
      <vt:lpstr>URL Preprocessing</vt:lpstr>
      <vt:lpstr>PowerPoint Presentation</vt:lpstr>
      <vt:lpstr>PowerPoint Presentation</vt:lpstr>
      <vt:lpstr>Data visualization </vt:lpstr>
      <vt:lpstr>Creating New Features Based on URL Characteristics</vt:lpstr>
      <vt:lpstr>Checking if a url is normal or abnormal</vt:lpstr>
      <vt:lpstr>visualize the distribution of abnormal and normal websites</vt:lpstr>
      <vt:lpstr>Counting Digits and Letters in URL</vt:lpstr>
      <vt:lpstr>Checking whether URL uses url shortening services</vt:lpstr>
      <vt:lpstr>Countplot for urls with shortening services </vt:lpstr>
      <vt:lpstr>Check whether URL contains IP Address</vt:lpstr>
      <vt:lpstr>Visualization for urls with ip addresses </vt:lpstr>
      <vt:lpstr>Research aim and objectives</vt:lpstr>
      <vt:lpstr>Research methodology</vt:lpstr>
      <vt:lpstr>Research methodology continues</vt:lpstr>
      <vt:lpstr>Results and Discussions</vt:lpstr>
      <vt:lpstr>Results and Discussions</vt:lpstr>
      <vt:lpstr>Results and Discussions</vt:lpstr>
      <vt:lpstr>Results and Discussions</vt:lpstr>
      <vt:lpstr>Results and Discussions</vt:lpstr>
      <vt:lpstr>Conclusions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Author</cp:lastModifiedBy>
  <cp:revision>39</cp:revision>
  <dcterms:created xsi:type="dcterms:W3CDTF">2024-02-21T13:07:27Z</dcterms:created>
  <dcterms:modified xsi:type="dcterms:W3CDTF">2024-04-24T14:49:25Z</dcterms:modified>
</cp:coreProperties>
</file>